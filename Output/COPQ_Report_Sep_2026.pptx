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39.xml" ContentType="application/vnd.ms-office.chartcolorstyle+xml"/>
  <Override PartName="/ppt/charts/colors4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colors46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39.xml" ContentType="application/vnd.ms-office.chartstyle+xml"/>
  <Override PartName="/ppt/charts/style4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charts/style46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93" r:id="rId3"/>
    <p:sldId id="594" r:id="rId4"/>
    <p:sldId id="595" r:id="rId6"/>
    <p:sldId id="5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33CCFF"/>
    <a:srgbClr val="B34B9F"/>
    <a:srgbClr val="FAB8A0"/>
    <a:srgbClr val="543C90"/>
    <a:srgbClr val="998AF2"/>
    <a:srgbClr val="F6FF9F"/>
    <a:srgbClr val="2C8869"/>
    <a:srgbClr val="EBBAFE"/>
    <a:srgbClr val="C7B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3" autoAdjust="0"/>
    <p:restoredTop sz="93655" autoAdjust="0"/>
  </p:normalViewPr>
  <p:slideViewPr>
    <p:cSldViewPr snapToGrid="0">
      <p:cViewPr>
        <p:scale>
          <a:sx n="62" d="100"/>
          <a:sy n="62" d="100"/>
        </p:scale>
        <p:origin x="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charts/_rels/chart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1.xml" /><ns0:Relationship Id="rId3" Type="http://schemas.microsoft.com/office/2011/relationships/chartStyle" Target="style1.xml" /><ns0:Relationship Id="rId4" Type="http://schemas.microsoft.com/office/2011/relationships/chartColorStyle" Target="colors1.xml" /></ns0:Relationships>
</file>

<file path=ppt/charts/_rels/chart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2.xml" /><ns0:Relationship Id="rId3" Type="http://schemas.microsoft.com/office/2011/relationships/chartStyle" Target="style2.xml" /><ns0:Relationship Id="rId4" Type="http://schemas.microsoft.com/office/2011/relationships/chartColorStyle" Target="colors2.xml" /></ns0:Relationships>
</file>

<file path=ppt/charts/_rels/chart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3.xml" /><ns0:Relationship Id="rId3" Type="http://schemas.microsoft.com/office/2011/relationships/chartStyle" Target="style3.xml" /><ns0:Relationship Id="rId4" Type="http://schemas.microsoft.com/office/2011/relationships/chartColorStyle" Target="colors3.xml" /></ns0:Relationships>
</file>

<file path=ppt/charts/_rels/chart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4.xml" /><ns0:Relationship Id="rId3" Type="http://schemas.microsoft.com/office/2011/relationships/chartStyle" Target="style4.xml" /><ns0:Relationship Id="rId4" Type="http://schemas.microsoft.com/office/2011/relationships/chartColorStyle" Target="colors4.xml" /></ns0:Relationships>
</file>

<file path=ppt/charts/_rels/chart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5.xml" /><ns0:Relationship Id="rId3" Type="http://schemas.microsoft.com/office/2011/relationships/chartStyle" Target="style5.xml" /><ns0:Relationship Id="rId4" Type="http://schemas.microsoft.com/office/2011/relationships/chartColorStyle" Target="colors5.xml" /></ns0:Relationships>
</file>

<file path=ppt/charts/_rels/chart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6.xml" /><ns0:Relationship Id="rId3" Type="http://schemas.microsoft.com/office/2011/relationships/chartStyle" Target="style6.xml" /><ns0:Relationship Id="rId4" Type="http://schemas.microsoft.com/office/2011/relationships/chartColorStyle" Target="colors6.xml" /></ns0:Relationships>
</file>

<file path=ppt/charts/_rels/chart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7.xml" /><ns0:Relationship Id="rId3" Type="http://schemas.microsoft.com/office/2011/relationships/chartStyle" Target="style7.xml" /><ns0:Relationship Id="rId4" Type="http://schemas.microsoft.com/office/2011/relationships/chartColorStyle" Target="colors7.xml" /></ns0:Relationships>
</file>

<file path=ppt/charts/_rels/chart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8.xml" /><ns0:Relationship Id="rId3" Type="http://schemas.microsoft.com/office/2011/relationships/chartStyle" Target="style8.xml" /><ns0:Relationship Id="rId4" Type="http://schemas.microsoft.com/office/2011/relationships/chartColorStyle" Target="colors8.xml" /></ns0:Relationships>
</file>

<file path=ppt/charts/_rels/chart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9.xml" /><ns0:Relationship Id="rId3" Type="http://schemas.microsoft.com/office/2011/relationships/chartStyle" Target="style9.xml" /><ns0:Relationship Id="rId4" Type="http://schemas.microsoft.com/office/2011/relationships/chartColorStyle" Target="colors9.xml" /></ns0:Relationships>
</file>

<file path=ppt/charts/_rels/chart1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10.xml" /><ns0:Relationship Id="rId3" Type="http://schemas.microsoft.com/office/2011/relationships/chartStyle" Target="style10.xml" /><ns0:Relationship Id="rId4" Type="http://schemas.microsoft.com/office/2011/relationships/chartColorStyle" Target="colors10.xml" /></ns0:Relationships>
</file>

<file path=ppt/charts/_rels/chart1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11.xml" /><ns0:Relationship Id="rId3" Type="http://schemas.microsoft.com/office/2011/relationships/chartStyle" Target="style11.xml" /><ns0:Relationship Id="rId4" Type="http://schemas.microsoft.com/office/2011/relationships/chartColorStyle" Target="colors11.xml" /></ns0:Relationships>
</file>

<file path=ppt/charts/_rels/chart1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12.xml" /><ns0:Relationship Id="rId3" Type="http://schemas.microsoft.com/office/2011/relationships/chartStyle" Target="style12.xml" /><ns0:Relationship Id="rId4" Type="http://schemas.microsoft.com/office/2011/relationships/chartColorStyle" Target="colors12.xml" /></ns0:Relationships>
</file>

<file path=ppt/charts/_rels/chart1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13.xml" /><ns0:Relationship Id="rId3" Type="http://schemas.microsoft.com/office/2011/relationships/chartStyle" Target="style13.xml" /><ns0:Relationship Id="rId4" Type="http://schemas.microsoft.com/office/2011/relationships/chartColorStyle" Target="colors13.xml" /></ns0:Relationships>
</file>

<file path=ppt/charts/_rels/chart1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14.xml" /><ns0:Relationship Id="rId3" Type="http://schemas.microsoft.com/office/2011/relationships/chartStyle" Target="style14.xml" /><ns0:Relationship Id="rId4" Type="http://schemas.microsoft.com/office/2011/relationships/chartColorStyle" Target="colors14.xml" /></ns0:Relationships>
</file>

<file path=ppt/charts/_rels/chart1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 database 25.xlsx" TargetMode="External" /><ns0:Relationship Id="rId2" Type="http://schemas.openxmlformats.org/officeDocument/2006/relationships/themeOverride" Target="../theme/themeOverride15.xml" /><ns0:Relationship Id="rId3" Type="http://schemas.microsoft.com/office/2011/relationships/chartStyle" Target="style15.xml" /><ns0:Relationship Id="rId4" Type="http://schemas.microsoft.com/office/2011/relationships/chartColorStyle" Target="colors15.xml" /></ns0:Relationships>
</file>

<file path=ppt/charts/_rels/chart1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16.xml" /><ns0:Relationship Id="rId3" Type="http://schemas.microsoft.com/office/2011/relationships/chartStyle" Target="style16.xml" /><ns0:Relationship Id="rId4" Type="http://schemas.microsoft.com/office/2011/relationships/chartColorStyle" Target="colors16.xml" /></ns0:Relationships>
</file>

<file path=ppt/charts/_rels/chart1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17.xml" /><ns0:Relationship Id="rId3" Type="http://schemas.microsoft.com/office/2011/relationships/chartStyle" Target="style17.xml" /><ns0:Relationship Id="rId4" Type="http://schemas.microsoft.com/office/2011/relationships/chartColorStyle" Target="colors17.xml" /></ns0:Relationships>
</file>

<file path=ppt/charts/_rels/chart1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18.xml" /><ns0:Relationship Id="rId3" Type="http://schemas.microsoft.com/office/2011/relationships/chartStyle" Target="style18.xml" /><ns0:Relationship Id="rId4" Type="http://schemas.microsoft.com/office/2011/relationships/chartColorStyle" Target="colors18.xml" /></ns0:Relationships>
</file>

<file path=ppt/charts/_rels/chart1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19.xml" /><ns0:Relationship Id="rId3" Type="http://schemas.microsoft.com/office/2011/relationships/chartStyle" Target="style19.xml" /><ns0:Relationship Id="rId4" Type="http://schemas.microsoft.com/office/2011/relationships/chartColorStyle" Target="colors19.xml" /></ns0:Relationships>
</file>

<file path=ppt/charts/_rels/chart2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0.xml" /></ns0:Relationships>
</file>

<file path=ppt/charts/_rels/chart2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1.xml" /><ns0:Relationship Id="rId3" Type="http://schemas.microsoft.com/office/2011/relationships/chartStyle" Target="style20.xml" /><ns0:Relationship Id="rId4" Type="http://schemas.microsoft.com/office/2011/relationships/chartColorStyle" Target="colors20.xml" /></ns0:Relationships>
</file>

<file path=ppt/charts/_rels/chart2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2.xml" /><ns0:Relationship Id="rId3" Type="http://schemas.microsoft.com/office/2011/relationships/chartStyle" Target="style21.xml" /><ns0:Relationship Id="rId4" Type="http://schemas.microsoft.com/office/2011/relationships/chartColorStyle" Target="colors21.xml" /></ns0:Relationships>
</file>

<file path=ppt/charts/_rels/chart2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3.xml" /><ns0:Relationship Id="rId3" Type="http://schemas.microsoft.com/office/2011/relationships/chartStyle" Target="style22.xml" /><ns0:Relationship Id="rId4" Type="http://schemas.microsoft.com/office/2011/relationships/chartColorStyle" Target="colors22.xml" /></ns0:Relationships>
</file>

<file path=ppt/charts/_rels/chart2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4.xml" /><ns0:Relationship Id="rId3" Type="http://schemas.microsoft.com/office/2011/relationships/chartStyle" Target="style23.xml" /><ns0:Relationship Id="rId4" Type="http://schemas.microsoft.com/office/2011/relationships/chartColorStyle" Target="colors23.xml" /></ns0:Relationships>
</file>

<file path=ppt/charts/_rels/chart2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5.xml" /><ns0:Relationship Id="rId3" Type="http://schemas.microsoft.com/office/2011/relationships/chartStyle" Target="style24.xml" /><ns0:Relationship Id="rId4" Type="http://schemas.microsoft.com/office/2011/relationships/chartColorStyle" Target="colors24.xml" /></ns0:Relationships>
</file>

<file path=ppt/charts/_rels/chart2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6.xml" /><ns0:Relationship Id="rId3" Type="http://schemas.microsoft.com/office/2011/relationships/chartStyle" Target="style25.xml" /><ns0:Relationship Id="rId4" Type="http://schemas.microsoft.com/office/2011/relationships/chartColorStyle" Target="colors25.xml" /></ns0:Relationships>
</file>

<file path=ppt/charts/_rels/chart2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7.xml" /><ns0:Relationship Id="rId3" Type="http://schemas.microsoft.com/office/2011/relationships/chartStyle" Target="style26.xml" /><ns0:Relationship Id="rId4" Type="http://schemas.microsoft.com/office/2011/relationships/chartColorStyle" Target="colors26.xml" /></ns0:Relationships>
</file>

<file path=ppt/charts/_rels/chart2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Output\FTT_Combined_Report.xlsx" TargetMode="External" /></ns0:Relationships>
</file>

<file path=ppt/charts/_rels/chart2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Output\FTT_Combined_Report.xlsx" TargetMode="External" /></ns0:Relationships>
</file>

<file path=ppt/charts/_rels/chart3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Output\FTT_Combined_Report.xlsx" TargetMode="External" /></ns0:Relationships>
</file>

<file path=ppt/charts/_rels/chart3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Output\FTT_Combined_Report.xlsx" TargetMode="External" /></ns0:Relationships>
</file>

<file path=ppt/charts/_rels/chart3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8.xml" /><ns0:Relationship Id="rId3" Type="http://schemas.microsoft.com/office/2011/relationships/chartStyle" Target="style27.xml" /><ns0:Relationship Id="rId4" Type="http://schemas.microsoft.com/office/2011/relationships/chartColorStyle" Target="colors27.xml" /></ns0:Relationships>
</file>

<file path=ppt/charts/_rels/chart3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29.xml" /><ns0:Relationship Id="rId3" Type="http://schemas.microsoft.com/office/2011/relationships/chartStyle" Target="style28.xml" /><ns0:Relationship Id="rId4" Type="http://schemas.microsoft.com/office/2011/relationships/chartColorStyle" Target="colors28.xml" /></ns0:Relationships>
</file>

<file path=ppt/charts/_rels/chart3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0.xml" /><ns0:Relationship Id="rId3" Type="http://schemas.microsoft.com/office/2011/relationships/chartStyle" Target="style29.xml" /><ns0:Relationship Id="rId4" Type="http://schemas.microsoft.com/office/2011/relationships/chartColorStyle" Target="colors29.xml" /></ns0:Relationships>
</file>

<file path=ppt/charts/_rels/chart3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1.xml" /><ns0:Relationship Id="rId3" Type="http://schemas.microsoft.com/office/2011/relationships/chartStyle" Target="style30.xml" /><ns0:Relationship Id="rId4" Type="http://schemas.microsoft.com/office/2011/relationships/chartColorStyle" Target="colors30.xml" /></ns0:Relationships>
</file>

<file path=ppt/charts/_rels/chart3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2.xml" /><ns0:Relationship Id="rId3" Type="http://schemas.microsoft.com/office/2011/relationships/chartStyle" Target="style31.xml" /><ns0:Relationship Id="rId4" Type="http://schemas.microsoft.com/office/2011/relationships/chartColorStyle" Target="colors31.xml" /></ns0:Relationships>
</file>

<file path=ppt/charts/_rels/chart3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microsoft.com/office/2011/relationships/chartStyle" Target="style32.xml" /><ns0:Relationship Id="rId3" Type="http://schemas.microsoft.com/office/2011/relationships/chartColorStyle" Target="colors32.xml" /></ns0:Relationships>
</file>

<file path=ppt/charts/_rels/chart3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3.xml" /><ns0:Relationship Id="rId3" Type="http://schemas.microsoft.com/office/2011/relationships/chartStyle" Target="style33.xml" /><ns0:Relationship Id="rId4" Type="http://schemas.microsoft.com/office/2011/relationships/chartColorStyle" Target="colors33.xml" /></ns0:Relationships>
</file>

<file path=ppt/charts/_rels/chart3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4.xml" /><ns0:Relationship Id="rId3" Type="http://schemas.microsoft.com/office/2011/relationships/chartStyle" Target="style34.xml" /><ns0:Relationship Id="rId4" Type="http://schemas.microsoft.com/office/2011/relationships/chartColorStyle" Target="colors34.xml" /></ns0:Relationships>
</file>

<file path=ppt/charts/_rels/chart4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5.xml" /><ns0:Relationship Id="rId3" Type="http://schemas.microsoft.com/office/2011/relationships/chartStyle" Target="style35.xml" /><ns0:Relationship Id="rId4" Type="http://schemas.microsoft.com/office/2011/relationships/chartColorStyle" Target="colors35.xml" /></ns0:Relationships>
</file>

<file path=ppt/charts/_rels/chart4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6.xml" /><ns0:Relationship Id="rId3" Type="http://schemas.microsoft.com/office/2011/relationships/chartStyle" Target="style36.xml" /><ns0:Relationship Id="rId4" Type="http://schemas.microsoft.com/office/2011/relationships/chartColorStyle" Target="colors36.xml" /></ns0:Relationships>
</file>

<file path=ppt/charts/_rels/chart4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7.xml" /><ns0:Relationship Id="rId3" Type="http://schemas.microsoft.com/office/2011/relationships/chartStyle" Target="style37.xml" /><ns0:Relationship Id="rId4" Type="http://schemas.microsoft.com/office/2011/relationships/chartColorStyle" Target="colors37.xml" /></ns0:Relationships>
</file>

<file path=ppt/charts/_rels/chart4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8.xml" /><ns0:Relationship Id="rId3" Type="http://schemas.microsoft.com/office/2011/relationships/chartStyle" Target="style38.xml" /><ns0:Relationship Id="rId4" Type="http://schemas.microsoft.com/office/2011/relationships/chartColorStyle" Target="colors38.xml" /></ns0:Relationships>
</file>

<file path=ppt/charts/_rels/chart4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39.xml" /><ns0:Relationship Id="rId3" Type="http://schemas.microsoft.com/office/2011/relationships/chartStyle" Target="style39.xml" /><ns0:Relationship Id="rId4" Type="http://schemas.microsoft.com/office/2011/relationships/chartColorStyle" Target="colors39.xml" /></ns0:Relationships>
</file>

<file path=ppt/charts/_rels/chart4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40.xml" /><ns0:Relationship Id="rId3" Type="http://schemas.microsoft.com/office/2011/relationships/chartStyle" Target="style40.xml" /><ns0:Relationship Id="rId4" Type="http://schemas.microsoft.com/office/2011/relationships/chartColorStyle" Target="colors40.xml" /></ns0:Relationships>
</file>

<file path=ppt/charts/_rels/chart4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41.xml" /><ns0:Relationship Id="rId3" Type="http://schemas.microsoft.com/office/2011/relationships/chartStyle" Target="style41.xml" /><ns0:Relationship Id="rId4" Type="http://schemas.microsoft.com/office/2011/relationships/chartColorStyle" Target="colors41.xml" /></ns0:Relationships>
</file>

<file path=ppt/charts/_rels/chart4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42.xml" /><ns0:Relationship Id="rId3" Type="http://schemas.microsoft.com/office/2011/relationships/chartStyle" Target="style42.xml" /><ns0:Relationship Id="rId4" Type="http://schemas.microsoft.com/office/2011/relationships/chartColorStyle" Target="colors42.xml" /></ns0:Relationships>
</file>

<file path=ppt/charts/_rels/chart4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43.xml" /><ns0:Relationship Id="rId3" Type="http://schemas.microsoft.com/office/2011/relationships/chartStyle" Target="style43.xml" /><ns0:Relationship Id="rId4" Type="http://schemas.microsoft.com/office/2011/relationships/chartColorStyle" Target="colors43.xml" /></ns0:Relationships>
</file>

<file path=ppt/charts/_rels/chart4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44.xml" /><ns0:Relationship Id="rId3" Type="http://schemas.microsoft.com/office/2011/relationships/chartStyle" Target="style44.xml" /><ns0:Relationship Id="rId4" Type="http://schemas.microsoft.com/office/2011/relationships/chartColorStyle" Target="colors44.xml" /></ns0:Relationships>
</file>

<file path=ppt/charts/_rels/chart5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45.xml" /><ns0:Relationship Id="rId3" Type="http://schemas.microsoft.com/office/2011/relationships/chartStyle" Target="style45.xml" /><ns0:Relationship Id="rId4" Type="http://schemas.microsoft.com/office/2011/relationships/chartColorStyle" Target="colors45.xml" /></ns0:Relationships>
</file>

<file path=ppt/charts/_rels/chart5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User\Desktop\combine_COPQ\Database\CoPQ_type_analysis.xlsx" TargetMode="External" /><ns0:Relationship Id="rId2" Type="http://schemas.openxmlformats.org/officeDocument/2006/relationships/themeOverride" Target="../theme/themeOverride46.xml" /><ns0:Relationship Id="rId3" Type="http://schemas.microsoft.com/office/2011/relationships/chartStyle" Target="style46.xml" /><ns0:Relationship Id="rId4" Type="http://schemas.microsoft.com/office/2011/relationships/chartColorStyle" Target="colors46.xml" /></ns0: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ID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607771872304785"/>
          <c:y val="0.0092502372205942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57214692484689"/>
          <c:y val="0.0995123811078283"/>
          <c:w val="0.427890127066267"/>
          <c:h val="0.876195935064057"/>
        </c:manualLayout>
      </c:layout>
      <c:doughnutChart>
        <c:varyColors val="1"/>
        <c:ser>
          <c:idx val="0"/>
          <c:order val="0"/>
          <c:tx>
            <c:strRef>
              <c:f>Current!$M$2</c:f>
              <c:strCache>
                <c:ptCount val="1"/>
                <c:pt idx="0">
                  <c:v>Total cost ($)</c:v>
                </c:pt>
              </c:strCache>
            </c:strRef>
          </c:tx>
          <c:spPr>
            <a:solidFill>
              <a:srgbClr val="3C3E52"/>
            </a:solidFill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3C3E52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numRef>
              <c:f>'[1]Current month'!$M$2</c:f>
              <c:numCache>
                <c:formatCode>General</c:formatCode>
                <c:ptCount val="1"/>
                <c:pt idx="0">
                  <c:v>0</c:v>
                </c:pt>
              </c:numCache>
            </c:numRef>
          </c:cat>
          <c:val>
            <c:numRef>
              <c:f>Current!$M$3</c:f>
              <c:numCache>
                <c:formatCode>"$"#,##0.00</c:formatCode>
                <c:ptCount val="1"/>
                <c:pt idx="0">
                  <c:v>11564.39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VN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251889764147344"/>
          <c:y val="0.024394788351200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70494319639235"/>
          <c:y val="0.111214462079548"/>
          <c:w val="0.429010713918754"/>
          <c:h val="0.882055490721139"/>
        </c:manualLayout>
      </c:layout>
      <c:doughnutChart>
        <c:varyColors val="1"/>
        <c:ser>
          <c:idx val="0"/>
          <c:order val="0"/>
          <c:tx>
            <c:strRef>
              <c:f>Current!$J$2</c:f>
              <c:strCache>
                <c:ptCount val="1"/>
                <c:pt idx="0">
                  <c:v>Total cost ($)</c:v>
                </c:pt>
              </c:strCache>
            </c:strRef>
          </c:tx>
          <c:spPr>
            <a:solidFill>
              <a:srgbClr val="0070C0"/>
            </a:solidFill>
            <a:ln w="19050">
              <a:noFill/>
            </a:ln>
          </c:spPr>
          <c:explosion val="1"/>
          <c:dPt>
            <c:idx val="0"/>
            <c:bubble3D val="0"/>
            <c:spPr>
              <a:solidFill>
                <a:srgbClr val="0070C0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numRef>
              <c:f>'[1]Current month'!$J$2</c:f>
              <c:numCache>
                <c:formatCode>General</c:formatCode>
                <c:ptCount val="1"/>
                <c:pt idx="0">
                  <c:v>0</c:v>
                </c:pt>
              </c:numCache>
            </c:numRef>
          </c:cat>
          <c:val>
            <c:numRef>
              <c:f>Current!$J$3</c:f>
              <c:numCache>
                <c:formatCode>"$"#,##0.00</c:formatCode>
                <c:ptCount val="1"/>
                <c:pt idx="0">
                  <c:v>12340.695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CLG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266721885388022"/>
          <c:y val="0.0068859320949499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2497336006345"/>
          <c:y val="0.152159601040782"/>
          <c:w val="0.702916437593709"/>
          <c:h val="0.789307742782152"/>
        </c:manualLayout>
      </c:layout>
      <c:doughnutChart>
        <c:varyColors val="1"/>
        <c:ser>
          <c:idx val="0"/>
          <c:order val="0"/>
          <c:tx>
            <c:strRef>
              <c:f>Current!$K$5</c:f>
              <c:strCache>
                <c:ptCount val="1"/>
                <c:pt idx="0">
                  <c:v>Total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3C3E5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Current!$J$6:$J$7</c:f>
              <c:strCache>
                <c:ptCount val="2"/>
                <c:pt idx="0">
                  <c:v>VN</c:v>
                </c:pt>
                <c:pt idx="1">
                  <c:v>Indo</c:v>
                </c:pt>
              </c:strCache>
            </c:strRef>
          </c:cat>
          <c:val>
            <c:numRef>
              <c:f>Current!$K$6:$K$7</c:f>
              <c:numCache>
                <c:formatCode>"$"#,##0.00</c:formatCode>
                <c:ptCount val="2"/>
                <c:pt idx="0">
                  <c:v>12340.695</c:v>
                </c:pt>
                <c:pt idx="1">
                  <c:v>11564.39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70"/>
        <c:holeSize val="70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563467324013616"/>
          <c:y val="0.0188322686079334"/>
          <c:w val="0.993114141982252"/>
          <c:h val="0.96113197962335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17509530058743"/>
                      <c:h val="0.215686460113095"/>
                    </c:manualLayout>
                  </c15:layout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7350799900012"/>
                      <c:h val="0.215686460113095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75821836396691"/>
                      <c:h val="0.15557618976873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25.xlsx]Current'!$B$3:$D$3</c:f>
              <c:numCache>
                <c:formatCode>"$"#,##0.00</c:formatCode>
                <c:ptCount val="3"/>
                <c:pt idx="0" c:formatCode="&quot;$&quot;#,##0.00">
                  <c:v>3095.89</c:v>
                </c:pt>
                <c:pt idx="1" c:formatCode="&quot;$&quot;#,##0.00">
                  <c:v>1229.97</c:v>
                </c:pt>
                <c:pt idx="2" c:formatCode="&quot;$&quot;#,##0.00">
                  <c:v>1574.5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5424"/>
        <c:axId val="-553780112"/>
      </c:barChart>
      <c:catAx>
        <c:axId val="-55376542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0112"/>
        <c:crosses val="autoZero"/>
        <c:auto val="1"/>
        <c:lblAlgn val="ctr"/>
        <c:lblOffset val="100"/>
        <c:noMultiLvlLbl val="0"/>
      </c:catAx>
      <c:valAx>
        <c:axId val="-553780112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5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43061516452074"/>
          <c:y val="0.0099272005294507"/>
          <c:w val="0.947561845852362"/>
          <c:h val="0.98116760828625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91269841269841"/>
                      <c:h val="0.237797879431738"/>
                    </c:manualLayout>
                  </c15:layout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62301587301587"/>
                      <c:h val="0.237797879431738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73255686789151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25.xlsx]Current'!$B$4:$D$4</c:f>
              <c:numCache>
                <c:formatCode>"$"#,##0.00</c:formatCode>
                <c:ptCount val="3"/>
                <c:pt idx="0" c:formatCode="&quot;$&quot;#,##0.00">
                  <c:v>2325.06</c:v>
                </c:pt>
                <c:pt idx="1" c:formatCode="&quot;$&quot;#,##0.00">
                  <c:v>544.84</c:v>
                </c:pt>
                <c:pt idx="2" c:formatCode="&quot;$&quot;#,##0.00">
                  <c:v>125.76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79568"/>
        <c:axId val="-553764880"/>
      </c:barChart>
      <c:catAx>
        <c:axId val="-55377956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4880"/>
        <c:crosses val="autoZero"/>
        <c:auto val="1"/>
        <c:lblAlgn val="ctr"/>
        <c:lblOffset val="100"/>
        <c:noMultiLvlLbl val="0"/>
      </c:catAx>
      <c:valAx>
        <c:axId val="-553764880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79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4278914802475"/>
          <c:y val="0.00997008973080758"/>
          <c:w val="0.965814886335621"/>
          <c:h val="0.99722850231865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12698412698413"/>
                      <c:h val="0.166820975152476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25.xlsx]Current'!$B$5:$D$5</c:f>
              <c:numCache>
                <c:formatCode>"$"#,##0.00</c:formatCode>
                <c:ptCount val="3"/>
                <c:pt idx="1" c:formatCode="&quot;$&quot;#,##0.00">
                  <c:v>97.8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90448"/>
        <c:axId val="-553788272"/>
      </c:barChart>
      <c:catAx>
        <c:axId val="-55379044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8272"/>
        <c:crosses val="autoZero"/>
        <c:auto val="1"/>
        <c:lblAlgn val="ctr"/>
        <c:lblOffset val="100"/>
        <c:noMultiLvlLbl val="0"/>
      </c:catAx>
      <c:valAx>
        <c:axId val="-553788272"/>
        <c:scaling>
          <c:orientation val="minMax"/>
          <c:max val="1800"/>
          <c:min val="-1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51517535794332"/>
          <c:y val="0.00280225388493105"/>
          <c:w val="0.98156871016123"/>
          <c:h val="0.98116745823438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11904761904762"/>
                      <c:h val="0.237797879431738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25.xlsx]Current'!$B$6:$D$6</c:f>
              <c:numCache>
                <c:formatCode>"$"#,##0.00</c:formatCode>
                <c:ptCount val="3"/>
                <c:pt idx="0" c:formatCode="&quot;$&quot;#,##0.00">
                  <c:v>3333.75</c:v>
                </c:pt>
                <c:pt idx="1" c:formatCode="&quot;$&quot;#,##0.00">
                  <c:v>13.125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3792"/>
        <c:axId val="-553791536"/>
      </c:barChart>
      <c:catAx>
        <c:axId val="-55376379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1536"/>
        <c:crosses val="autoZero"/>
        <c:auto val="1"/>
        <c:lblAlgn val="ctr"/>
        <c:lblOffset val="100"/>
        <c:noMultiLvlLbl val="0"/>
      </c:catAx>
      <c:valAx>
        <c:axId val="-553791536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3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8220248724806"/>
          <c:y val="0.00280225388493105"/>
          <c:w val="0.57637610598862"/>
          <c:h val="0.98116760828625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91269841269841"/>
                      <c:h val="0.237797879431738"/>
                    </c:manualLayout>
                  </c15:layout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21825396825397"/>
                      <c:h val="0.237797879431738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12938226471691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25.xlsx]Current'!$B$7:$D$7</c:f>
              <c:numCache>
                <c:formatCode>"$"#,##0.00</c:formatCode>
                <c:ptCount val="3"/>
                <c:pt idx="0" c:formatCode="&quot;$&quot;#,##0.00">
                  <c:v>1308.72</c:v>
                </c:pt>
                <c:pt idx="1" c:formatCode="&quot;$&quot;#,##0.00">
                  <c:v>580.45</c:v>
                </c:pt>
                <c:pt idx="2" c:formatCode="&quot;$&quot;#,##0.00">
                  <c:v>6554.62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81200"/>
        <c:axId val="-553781744"/>
      </c:barChart>
      <c:catAx>
        <c:axId val="-55378120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1744"/>
        <c:crosses val="autoZero"/>
        <c:auto val="1"/>
        <c:lblAlgn val="ctr"/>
        <c:lblOffset val="100"/>
        <c:noMultiLvlLbl val="0"/>
      </c:catAx>
      <c:valAx>
        <c:axId val="-553781744"/>
        <c:scaling>
          <c:orientation val="minMax"/>
          <c:max val="11000"/>
          <c:min val="-500"/>
        </c:scaling>
        <c:delete val="0"/>
        <c:axPos val="b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1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94364766904137"/>
          <c:h val="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2539682539683"/>
                      <c:h val="0.237797879431738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23652512185977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25.xlsx]Current'!$B$8:$D$8</c:f>
              <c:numCache>
                <c:formatCode>"$"#,##0.00</c:formatCode>
                <c:ptCount val="3"/>
                <c:pt idx="1" c:formatCode="&quot;$&quot;#,##0.00">
                  <c:v>1837.15</c:v>
                </c:pt>
                <c:pt idx="2" c:formatCode="&quot;$&quot;#,##0.00">
                  <c:v>770.07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80656"/>
        <c:axId val="-553778480"/>
      </c:barChart>
      <c:catAx>
        <c:axId val="-55378065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78480"/>
        <c:crosses val="autoZero"/>
        <c:auto val="1"/>
        <c:lblAlgn val="ctr"/>
        <c:lblOffset val="100"/>
        <c:noMultiLvlLbl val="0"/>
      </c:catAx>
      <c:valAx>
        <c:axId val="-553778480"/>
        <c:scaling>
          <c:orientation val="minMax"/>
          <c:max val="9000"/>
          <c:min val="-5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0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563472215091932"/>
          <c:y val="0.00231110196094008"/>
          <c:w val="0.994365277849081"/>
          <c:h val="0.99768889803906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851289682539683"/>
                      <c:h val="0.292167684672537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25.xlsx]Current'!$B$9:$D$9</c:f>
              <c:numCache>
                <c:formatCode>"$"#,##0.00</c:formatCode>
                <c:ptCount val="3"/>
                <c:pt idx="1" c:formatCode="&quot;$&quot;#,##0.00">
                  <c:v>513.38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8144"/>
        <c:axId val="-553767600"/>
      </c:barChart>
      <c:catAx>
        <c:axId val="-55376814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7600"/>
        <c:crosses val="autoZero"/>
        <c:auto val="1"/>
        <c:lblAlgn val="ctr"/>
        <c:lblOffset val="100"/>
        <c:noMultiLvlLbl val="0"/>
      </c:catAx>
      <c:valAx>
        <c:axId val="-553767600"/>
        <c:scaling>
          <c:orientation val="minMax"/>
          <c:max val="9000"/>
          <c:min val="-5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8728702457128"/>
          <c:y val="0.129901959164913"/>
          <c:w val="0.456764781349657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25.xlsx]Current'!$E$15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25.xlsx]Current'!$D$16:$D$19</c:f>
              <c:strCache>
                <c:ptCount val="4"/>
                <c:pt idx="0">
                  <c:v>JV2</c:v>
                </c:pt>
                <c:pt idx="1">
                  <c:v>JV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25.xlsx]Current'!$E$16:$E$19</c:f>
              <c:numCache>
                <c:formatCode>General</c:formatCode>
                <c:ptCount val="4"/>
                <c:pt idx="0">
                  <c:v>48</c:v>
                </c:pt>
                <c:pt idx="1">
                  <c:v>394</c:v>
                </c:pt>
                <c:pt idx="2">
                  <c:v>6.5</c:v>
                </c:pt>
                <c:pt idx="3">
                  <c:v>75.5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65968"/>
        <c:axId val="-553782832"/>
      </c:barChart>
      <c:catAx>
        <c:axId val="-55376596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82832"/>
        <c:crosses val="autoZero"/>
        <c:auto val="1"/>
        <c:lblAlgn val="ctr"/>
        <c:lblOffset val="100"/>
        <c:noMultiLvlLbl val="0"/>
      </c:catAx>
      <c:valAx>
        <c:axId val="-553782832"/>
        <c:scaling>
          <c:orientation val="minMax"/>
          <c:max val="800"/>
          <c:min val="0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5968"/>
        <c:crosses val="autoZero"/>
        <c:crossBetween val="between"/>
        <c:majorUnit val="2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00B0F0">
                <a:alpha val="6000"/>
              </a:srgbClr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83241501763866"/>
          <c:y val="0.0122549018080107"/>
          <c:w val="0.535285728451325"/>
          <c:h val="0.12293374408037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25.xlsx]Current'!$B$22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767171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8311945347433"/>
                      <c:h val="0.276961858463791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8311945347433"/>
                      <c:h val="0.276961858463791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14707738702545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773251834704"/>
                      <c:h val="0.276961858463791"/>
                    </c:manualLayout>
                  </c15:layout>
                </c:ext>
              </c:extLst>
            </c:dLbl>
            <c:dLbl>
              <c:idx val="4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8896467942341"/>
                      <c:h val="0.276961858463791"/>
                    </c:manualLayout>
                  </c15:layout>
                </c:ext>
              </c:extLst>
            </c:dLbl>
            <c:dLbl>
              <c:idx val="5"/>
              <c:layout>
                <c:manualLayout>
                  <c:x val="-0.0294154774050917"/>
                  <c:y val="-0.051455925838640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419382483431"/>
                      <c:h val="0.24265790790469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25.xlsx]Current'!$A$23:$A$28</c:f>
              <c:strCache>
                <c:ptCount val="6"/>
                <c:pt idx="0">
                  <c:v>JVB</c:v>
                </c:pt>
                <c:pt idx="1">
                  <c:v>JV2</c:v>
                </c:pt>
                <c:pt idx="2">
                  <c:v>JV</c:v>
                </c:pt>
                <c:pt idx="3">
                  <c:v>VH3</c:v>
                </c:pt>
                <c:pt idx="4">
                  <c:v>VH2</c:v>
                </c:pt>
                <c:pt idx="5">
                  <c:v>VH</c:v>
                </c:pt>
              </c:strCache>
            </c:strRef>
          </c:cat>
          <c:val>
            <c:numRef>
              <c:f>'[CoPQ database 25.xlsx]Current'!$B$23:$B$28</c:f>
              <c:numCache>
                <c:formatCode>_(* #,##0_);_(* \(#,##0\);_(* "-"??_);_(@_)</c:formatCode>
                <c:ptCount val="6"/>
                <c:pt idx="0">
                  <c:v>38959</c:v>
                </c:pt>
                <c:pt idx="1">
                  <c:v>45571</c:v>
                </c:pt>
                <c:pt idx="2">
                  <c:v>13814</c:v>
                </c:pt>
                <c:pt idx="3">
                  <c:v>12610</c:v>
                </c:pt>
                <c:pt idx="4">
                  <c:v>7801</c:v>
                </c:pt>
                <c:pt idx="5">
                  <c:v>39210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93168"/>
        <c:axId val="-553789360"/>
      </c:barChart>
      <c:catAx>
        <c:axId val="-55379316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89360"/>
        <c:crosses val="autoZero"/>
        <c:auto val="1"/>
        <c:lblAlgn val="ctr"/>
        <c:lblOffset val="100"/>
        <c:noMultiLvlLbl val="0"/>
      </c:catAx>
      <c:valAx>
        <c:axId val="-553789360"/>
        <c:scaling>
          <c:orientation val="minMax"/>
          <c:max val="1750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3168"/>
        <c:crosses val="autoZero"/>
        <c:crossBetween val="between"/>
        <c:majorUnit val="500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AE9E9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58388680368411"/>
          <c:y val="0.012254883754851"/>
          <c:w val="0.493618925964486"/>
          <c:h val="0.097205781161053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25.xlsx]Current'!$E$22</c:f>
              <c:strCache>
                <c:ptCount val="1"/>
                <c:pt idx="0">
                  <c:v>Work time (hrs)</c:v>
                </c:pt>
              </c:strCache>
            </c:strRef>
          </c:tx>
          <c:spPr>
            <a:solidFill>
              <a:srgbClr val="76717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25.xlsx]Current'!$D$23:$D$28</c:f>
              <c:strCache>
                <c:ptCount val="6"/>
                <c:pt idx="0">
                  <c:v>JVB</c:v>
                </c:pt>
                <c:pt idx="1">
                  <c:v>JV2</c:v>
                </c:pt>
                <c:pt idx="2">
                  <c:v>JV</c:v>
                </c:pt>
                <c:pt idx="3">
                  <c:v>VH3</c:v>
                </c:pt>
                <c:pt idx="4">
                  <c:v>VH2</c:v>
                </c:pt>
                <c:pt idx="5">
                  <c:v>VH</c:v>
                </c:pt>
              </c:strCache>
            </c:strRef>
          </c:cat>
          <c:val>
            <c:numRef>
              <c:f>'[CoPQ database 25.xlsx]Current'!$E$23:$E$28</c:f>
              <c:numCache>
                <c:formatCode>_(* #,##0_);_(* \(#,##0\);_(* "-"??_);_(@_)</c:formatCode>
                <c:ptCount val="6"/>
                <c:pt idx="0">
                  <c:v>56.5</c:v>
                </c:pt>
                <c:pt idx="1">
                  <c:v>524</c:v>
                </c:pt>
                <c:pt idx="2">
                  <c:v>95.8</c:v>
                </c:pt>
                <c:pt idx="3">
                  <c:v>38.1</c:v>
                </c:pt>
                <c:pt idx="4">
                  <c:v>91.2</c:v>
                </c:pt>
                <c:pt idx="5">
                  <c:v>123.2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86640"/>
        <c:axId val="-553784464"/>
      </c:barChart>
      <c:catAx>
        <c:axId val="-553786640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4464"/>
        <c:crosses val="autoZero"/>
        <c:auto val="1"/>
        <c:lblAlgn val="ctr"/>
        <c:lblOffset val="100"/>
        <c:noMultiLvlLbl val="0"/>
      </c:catAx>
      <c:valAx>
        <c:axId val="-553784464"/>
        <c:scaling>
          <c:orientation val="minMax"/>
          <c:max val="8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6640"/>
        <c:crosses val="autoZero"/>
        <c:crossBetween val="between"/>
        <c:majorUnit val="2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AE9E9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517311074219231"/>
          <c:y val="0.0036788961150776"/>
          <c:w val="0.807393205755498"/>
          <c:h val="0.13521241830065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25.xlsx]Current'!$B$31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385723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2587311855121"/>
                      <c:h val="0.276961858463791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99300305829126"/>
                      <c:h val="0.276961858463791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-7.42661579893456e-17"/>
                  <c:y val="-0.068607901118187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448545557312"/>
                      <c:h val="0.21692994498537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25.xlsx]Current'!$A$33:$A$36</c:f>
              <c:strCache>
                <c:ptCount val="4"/>
                <c:pt idx="0">
                  <c:v>JV</c:v>
                </c:pt>
                <c:pt idx="1">
                  <c:v>VH4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25.xlsx]Current'!$B$33:$B$36</c:f>
              <c:numCache>
                <c:formatCode>_(* #,##0_);_(* \(#,##0\);_(* "-"??_);_(@_)</c:formatCode>
                <c:ptCount val="4"/>
                <c:pt idx="0">
                  <c:v>9740</c:v>
                </c:pt>
                <c:pt idx="1">
                  <c:v>25794</c:v>
                </c:pt>
                <c:pt idx="2">
                  <c:v>16934</c:v>
                </c:pt>
                <c:pt idx="3">
                  <c:v>69184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800784"/>
        <c:axId val="-553820368"/>
      </c:barChart>
      <c:catAx>
        <c:axId val="-55380078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0368"/>
        <c:crosses val="autoZero"/>
        <c:auto val="1"/>
        <c:lblAlgn val="ctr"/>
        <c:lblOffset val="100"/>
        <c:noMultiLvlLbl val="0"/>
      </c:catAx>
      <c:valAx>
        <c:axId val="-553820368"/>
        <c:scaling>
          <c:orientation val="minMax"/>
          <c:max val="1750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0784"/>
        <c:crosses val="autoZero"/>
        <c:crossBetween val="between"/>
        <c:majorUnit val="500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9E8E8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83241501763866"/>
          <c:y val="0.0122549018080107"/>
          <c:w val="0.57623400202355"/>
          <c:h val="0.071477818241733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25.xlsx]Current'!$E$31</c:f>
              <c:strCache>
                <c:ptCount val="1"/>
                <c:pt idx="0">
                  <c:v>Work time (hrs)</c:v>
                </c:pt>
              </c:strCache>
            </c:strRef>
          </c:tx>
          <c:spPr>
            <a:solidFill>
              <a:srgbClr val="38572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25.xlsx]Current'!$D$33:$D$36</c:f>
              <c:strCache>
                <c:ptCount val="4"/>
                <c:pt idx="0">
                  <c:v>JV</c:v>
                </c:pt>
                <c:pt idx="1">
                  <c:v>VH4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25.xlsx]Current'!$E$33:$E$36</c:f>
              <c:numCache>
                <c:formatCode>General</c:formatCode>
                <c:ptCount val="4"/>
                <c:pt idx="0">
                  <c:v>129</c:v>
                </c:pt>
                <c:pt idx="1">
                  <c:v>533.4</c:v>
                </c:pt>
                <c:pt idx="2">
                  <c:v>191.5</c:v>
                </c:pt>
                <c:pt idx="3">
                  <c:v>368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801872"/>
        <c:axId val="-553806224"/>
      </c:barChart>
      <c:catAx>
        <c:axId val="-55380187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6224"/>
        <c:crosses val="autoZero"/>
        <c:auto val="1"/>
        <c:lblAlgn val="ctr"/>
        <c:lblOffset val="100"/>
        <c:noMultiLvlLbl val="0"/>
      </c:catAx>
      <c:valAx>
        <c:axId val="-553806224"/>
        <c:scaling>
          <c:orientation val="minMax"/>
          <c:max val="8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1872"/>
        <c:crosses val="autoZero"/>
        <c:crossBetween val="between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9E8E8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08939157967158"/>
          <c:y val="0.0128639814596601"/>
          <c:w val="0.546568079338421"/>
          <c:h val="0.12459150326797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VH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63393325465513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month'!$R$3:$X$3</c:f>
              <c:numCache>
                <c:formatCode>#,##0.0</c:formatCode>
                <c:ptCount val="9"/>
                <c:pt idx="0">
                  <c:v>113.5</c:v>
                </c:pt>
                <c:pt idx="1">
                  <c:v>73.5</c:v>
                </c:pt>
                <c:pt idx="2">
                  <c:v>102</c:v>
                </c:pt>
                <c:pt idx="3">
                  <c:v>95.5</c:v>
                </c:pt>
                <c:pt idx="4">
                  <c:v>85.5</c:v>
                </c:pt>
                <c:pt idx="5">
                  <c:v>97.5</c:v>
                </c:pt>
                <c:pt idx="6">
                  <c:v>103</c:v>
                </c:pt>
                <c:pt idx="7">
                  <c:v>84.5</c:v>
                </c:pt>
                <c:pt idx="8">
                  <c:v>75.5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12208"/>
        <c:axId val="-553824176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5"/>
              <c:layout>
                <c:manualLayout>
                  <c:x val="-0.00592617676938706"/>
                  <c:y val="0.0329411764705882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month'!$R$2:$W$2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month'!$R$10:$X$10</c:f>
              <c:numCache>
                <c:formatCode>"$"#,##0.00</c:formatCode>
                <c:ptCount val="9"/>
                <c:pt idx="0">
                  <c:v>2132.94</c:v>
                </c:pt>
                <c:pt idx="1">
                  <c:v>1264.52</c:v>
                </c:pt>
                <c:pt idx="2">
                  <c:v>1749.35</c:v>
                </c:pt>
                <c:pt idx="3">
                  <c:v>1760.93</c:v>
                </c:pt>
                <c:pt idx="4">
                  <c:v>1601</c:v>
                </c:pt>
                <c:pt idx="5">
                  <c:v>2020.65</c:v>
                </c:pt>
                <c:pt idx="6">
                  <c:v>2072.29</c:v>
                </c:pt>
                <c:pt idx="7">
                  <c:v>1750.99</c:v>
                </c:pt>
                <c:pt idx="8">
                  <c:v>1574.5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03504"/>
        <c:axId val="-553827984"/>
      </c:lineChart>
      <c:catAx>
        <c:axId val="-553812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4176"/>
        <c:crosses val="autoZero"/>
        <c:auto val="1"/>
        <c:lblAlgn val="ctr"/>
        <c:lblOffset val="100"/>
        <c:noMultiLvlLbl val="0"/>
      </c:catAx>
      <c:valAx>
        <c:axId val="-553824176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2208"/>
        <c:crosses val="autoZero"/>
        <c:crossBetween val="between"/>
      </c:valAx>
      <c:catAx>
        <c:axId val="-55380350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7984"/>
        <c:crosses val="max"/>
        <c:auto val="1"/>
        <c:lblAlgn val="ctr"/>
        <c:lblOffset val="100"/>
        <c:noMultiLvlLbl val="0"/>
      </c:catAx>
      <c:valAx>
        <c:axId val="-553827984"/>
        <c:scaling>
          <c:orientation val="minMax"/>
          <c:max val="3500"/>
          <c:min val="-1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3504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49001015916018"/>
          <c:y val="0.0225882352941176"/>
          <c:w val="0.284043785367666"/>
          <c:h val="0.2113731694753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VH2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53400100533264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07872016251905"/>
          <c:y val="0.197699167812357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0"/>
                  <c:y val="0.0083333333333333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month'!$R$4:$X$4</c:f>
              <c:numCache>
                <c:formatCode>#,##0.0</c:formatCode>
                <c:ptCount val="9"/>
                <c:pt idx="0">
                  <c:v>13</c:v>
                </c:pt>
                <c:pt idx="1">
                  <c:v>12</c:v>
                </c:pt>
                <c:pt idx="2">
                  <c:v>16</c:v>
                </c:pt>
                <c:pt idx="3">
                  <c:v>13.5</c:v>
                </c:pt>
                <c:pt idx="4">
                  <c:v>66</c:v>
                </c:pt>
                <c:pt idx="5">
                  <c:v>39</c:v>
                </c:pt>
                <c:pt idx="6">
                  <c:v>11</c:v>
                </c:pt>
                <c:pt idx="7">
                  <c:v>11</c:v>
                </c:pt>
                <c:pt idx="8">
                  <c:v>6.5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00240"/>
        <c:axId val="-553810032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month'!$R$11:$X$11</c:f>
              <c:numCache>
                <c:formatCode>"$"#,##0.00</c:formatCode>
                <c:ptCount val="9"/>
                <c:pt idx="0">
                  <c:v>225.65</c:v>
                </c:pt>
                <c:pt idx="1">
                  <c:v>232.75</c:v>
                </c:pt>
                <c:pt idx="2">
                  <c:v>302.43</c:v>
                </c:pt>
                <c:pt idx="3">
                  <c:v>244.6</c:v>
                </c:pt>
                <c:pt idx="4">
                  <c:v>1272.26</c:v>
                </c:pt>
                <c:pt idx="5">
                  <c:v>711.01</c:v>
                </c:pt>
                <c:pt idx="6">
                  <c:v>256.91</c:v>
                </c:pt>
                <c:pt idx="7">
                  <c:v>237.83</c:v>
                </c:pt>
                <c:pt idx="8">
                  <c:v>125.76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19280"/>
        <c:axId val="-553822000"/>
      </c:lineChart>
      <c:catAx>
        <c:axId val="-553800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10032"/>
        <c:crosses val="autoZero"/>
        <c:auto val="1"/>
        <c:lblAlgn val="ctr"/>
        <c:lblOffset val="100"/>
        <c:noMultiLvlLbl val="0"/>
      </c:catAx>
      <c:valAx>
        <c:axId val="-553810032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0240"/>
        <c:crosses val="autoZero"/>
        <c:crossBetween val="between"/>
      </c:valAx>
      <c:catAx>
        <c:axId val="-55381928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2000"/>
        <c:crosses val="max"/>
        <c:auto val="1"/>
        <c:lblAlgn val="ctr"/>
        <c:lblOffset val="100"/>
        <c:noMultiLvlLbl val="0"/>
      </c:catAx>
      <c:valAx>
        <c:axId val="-553822000"/>
        <c:scaling>
          <c:orientation val="minMax"/>
          <c:max val="2000"/>
          <c:min val="-1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9280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53518225504767"/>
          <c:h val="0.1837685914260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JV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70845899991259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04629629629629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month'!$R$5:$X$5</c:f>
              <c:numCache>
                <c:formatCode>#,##0.0</c:formatCode>
                <c:ptCount val="9"/>
                <c:pt idx="0">
                  <c:v>737</c:v>
                </c:pt>
                <c:pt idx="1">
                  <c:v>346.5</c:v>
                </c:pt>
                <c:pt idx="2">
                  <c:v>233.5</c:v>
                </c:pt>
                <c:pt idx="3">
                  <c:v>346</c:v>
                </c:pt>
                <c:pt idx="4">
                  <c:v>261.5</c:v>
                </c:pt>
                <c:pt idx="5">
                  <c:v>327</c:v>
                </c:pt>
                <c:pt idx="6">
                  <c:v>289.5</c:v>
                </c:pt>
                <c:pt idx="7">
                  <c:v>279</c:v>
                </c:pt>
                <c:pt idx="8">
                  <c:v>394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23632"/>
        <c:axId val="-553826352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month'!$R$12:$X$12</c:f>
              <c:numCache>
                <c:formatCode>"$"#,##0.00</c:formatCode>
                <c:ptCount val="9"/>
                <c:pt idx="0">
                  <c:v>14030.11</c:v>
                </c:pt>
                <c:pt idx="1">
                  <c:v>5764.71</c:v>
                </c:pt>
                <c:pt idx="2">
                  <c:v>3774.81</c:v>
                </c:pt>
                <c:pt idx="3">
                  <c:v>5567.96</c:v>
                </c:pt>
                <c:pt idx="4">
                  <c:v>4234.01</c:v>
                </c:pt>
                <c:pt idx="5">
                  <c:v>5279.19</c:v>
                </c:pt>
                <c:pt idx="6">
                  <c:v>4649.39</c:v>
                </c:pt>
                <c:pt idx="7">
                  <c:v>4566.61</c:v>
                </c:pt>
                <c:pt idx="8">
                  <c:v>6554.62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16560"/>
        <c:axId val="-553808944"/>
      </c:lineChart>
      <c:catAx>
        <c:axId val="-553823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6352"/>
        <c:crosses val="autoZero"/>
        <c:auto val="1"/>
        <c:lblAlgn val="ctr"/>
        <c:lblOffset val="100"/>
        <c:noMultiLvlLbl val="0"/>
      </c:catAx>
      <c:valAx>
        <c:axId val="-553826352"/>
        <c:scaling>
          <c:orientation val="minMax"/>
          <c:max val="20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3632"/>
        <c:crosses val="autoZero"/>
        <c:crossBetween val="between"/>
      </c:valAx>
      <c:catAx>
        <c:axId val="-55381656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8944"/>
        <c:crosses val="max"/>
        <c:auto val="1"/>
        <c:lblAlgn val="ctr"/>
        <c:lblOffset val="100"/>
        <c:noMultiLvlLbl val="0"/>
      </c:catAx>
      <c:valAx>
        <c:axId val="-553808944"/>
        <c:scaling>
          <c:orientation val="minMax"/>
          <c:max val="50000"/>
          <c:min val="-40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6560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33186134688095"/>
          <c:h val="0.2300647965879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JV2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40866225194511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month'!$R$6:$X$6</c:f>
              <c:numCache>
                <c:formatCode>#,##0.0</c:formatCode>
                <c:ptCount val="9"/>
                <c:pt idx="0">
                  <c:v>24.5</c:v>
                </c:pt>
                <c:pt idx="1">
                  <c:v>45</c:v>
                </c:pt>
                <c:pt idx="2">
                  <c:v>41</c:v>
                </c:pt>
                <c:pt idx="3">
                  <c:v>60.5</c:v>
                </c:pt>
                <c:pt idx="4">
                  <c:v>47.5</c:v>
                </c:pt>
                <c:pt idx="5">
                  <c:v>38</c:v>
                </c:pt>
                <c:pt idx="6">
                  <c:v>37</c:v>
                </c:pt>
                <c:pt idx="7">
                  <c:v>31.5</c:v>
                </c:pt>
                <c:pt idx="8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08400"/>
        <c:axId val="-553799696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month'!$R$13:$X$13</c:f>
              <c:numCache>
                <c:formatCode>"$"#,##0.00</c:formatCode>
                <c:ptCount val="9"/>
                <c:pt idx="0">
                  <c:v>458.32</c:v>
                </c:pt>
                <c:pt idx="1">
                  <c:v>753.49</c:v>
                </c:pt>
                <c:pt idx="2">
                  <c:v>654.52</c:v>
                </c:pt>
                <c:pt idx="3">
                  <c:v>996.17</c:v>
                </c:pt>
                <c:pt idx="4">
                  <c:v>810.59</c:v>
                </c:pt>
                <c:pt idx="5">
                  <c:v>628.78</c:v>
                </c:pt>
                <c:pt idx="6">
                  <c:v>664.06</c:v>
                </c:pt>
                <c:pt idx="7">
                  <c:v>522.27</c:v>
                </c:pt>
                <c:pt idx="8">
                  <c:v>770.07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21456"/>
        <c:axId val="-553807856"/>
      </c:lineChart>
      <c:catAx>
        <c:axId val="-553808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99696"/>
        <c:crosses val="autoZero"/>
        <c:auto val="1"/>
        <c:lblAlgn val="ctr"/>
        <c:lblOffset val="100"/>
        <c:noMultiLvlLbl val="0"/>
      </c:catAx>
      <c:valAx>
        <c:axId val="-553799696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8400"/>
        <c:crosses val="autoZero"/>
        <c:crossBetween val="between"/>
      </c:valAx>
      <c:catAx>
        <c:axId val="-5538214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7856"/>
        <c:crosses val="max"/>
        <c:auto val="1"/>
        <c:lblAlgn val="ctr"/>
        <c:lblOffset val="100"/>
        <c:noMultiLvlLbl val="0"/>
      </c:catAx>
      <c:valAx>
        <c:axId val="-553807856"/>
        <c:scaling>
          <c:orientation val="minMax"/>
          <c:max val="2500"/>
          <c:min val="-1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1456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56906907307546"/>
          <c:h val="0.2300647965879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64950700160464"/>
          <c:y val="0.0746527777777777"/>
          <c:w val="0.730953177502015"/>
          <c:h val="0.904513888888889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month'!$E$61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720107809827228"/>
                  <c:y val="-1.5914168010025e-1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738234901415746"/>
                  <c:y val="7.95708400501249e-1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819296435576794"/>
                  <c:y val="0.0086805555555555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781661575273641"/>
                  <c:y val="-3.97854200250625e-1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103168089904255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 algn="l">
                  <a:defRPr lang="en-US" sz="7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'[CoPQ type analysis (1).xlsx]Current month'!$C$62:$C$66</c:f>
              <c:strCache>
                <c:ptCount val="5"/>
                <c:pt idx="0">
                  <c:v>NIKE SB FORCE 58</c:v>
                </c:pt>
                <c:pt idx="1">
                  <c:v>W NIKE COURT VISION LO NN</c:v>
                </c:pt>
                <c:pt idx="2">
                  <c:v>JORDAN TRUE FLIGHT</c:v>
                </c:pt>
                <c:pt idx="3">
                  <c:v>NIKE MANOA LEATHER</c:v>
                </c:pt>
                <c:pt idx="4">
                  <c:v>WMNS JORDAN SPIZIKE LOW</c:v>
                </c:pt>
              </c:strCache>
            </c:strRef>
          </c:cat>
          <c:val>
            <c:numRef>
              <c:f>'[CoPQ type analysis (1).xlsx]Current month'!$E$62:$E$66</c:f>
              <c:numCache>
                <c:formatCode>"$"#,##0.00</c:formatCode>
                <c:ptCount val="5"/>
                <c:pt idx="0">
                  <c:v>81.29</c:v>
                </c:pt>
                <c:pt idx="1">
                  <c:v>90.69</c:v>
                </c:pt>
                <c:pt idx="2">
                  <c:v>106.17</c:v>
                </c:pt>
                <c:pt idx="3">
                  <c:v>111</c:v>
                </c:pt>
                <c:pt idx="4">
                  <c:v>119.28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6768"/>
        <c:axId val="-55382744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126178424125555"/>
                        <c:y val="-1.69751125440267e-16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151081561233417"/>
                        <c:y val="-8.48755627201333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231457709984955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prstDash val="solid"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month'!$C$62:$C$66</c15:sqref>
                        </c15:formulaRef>
                      </c:ext>
                    </c:extLst>
                    <c:strCache>
                      <c:ptCount val="5"/>
                      <c:pt idx="0">
                        <c:v>JORDAN TRUE FLIGHT (PS)</c:v>
                      </c:pt>
                      <c:pt idx="1">
                        <c:v>AIR JORDAN 1 LOW SE V4</c:v>
                      </c:pt>
                      <c:pt idx="2">
                        <c:v>JORDAN SPIZIKE LOW (GS)</c:v>
                      </c:pt>
                      <c:pt idx="3">
                        <c:v>AIR JORDAN 1 LOW SE (GS)</c:v>
                      </c:pt>
                      <c:pt idx="4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{4,3.5,3.5,4.5,6.5}</c15:sqref>
                        </c15:formulaRef>
                      </c:ext>
                    </c:extLst>
                    <c:numCache>
                      <c:formatCode>0.0</c:formatCode>
                      <c:ptCount val="5"/>
                      <c:pt idx="0">
                        <c:v>4</c:v>
                      </c:pt>
                      <c:pt idx="1">
                        <c:v>3.5</c:v>
                      </c:pt>
                      <c:pt idx="2">
                        <c:v>3.5</c:v>
                      </c:pt>
                      <c:pt idx="3">
                        <c:v>4.5</c:v>
                      </c:pt>
                      <c:pt idx="4">
                        <c:v>6.5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6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7440"/>
        <c:crosses val="autoZero"/>
        <c:auto val="1"/>
        <c:lblAlgn val="ctr"/>
        <c:lblOffset val="100"/>
        <c:noMultiLvlLbl val="0"/>
      </c:catAx>
      <c:valAx>
        <c:axId val="-553827440"/>
        <c:scaling>
          <c:orientation val="minMax"/>
          <c:max val="2000"/>
          <c:min val="0"/>
        </c:scaling>
        <c:delete val="1"/>
        <c:axPos val="b"/>
        <c:majorGridlines>
          <c:spPr>
            <a:ln w="9525" cap="flat" cmpd="sng" algn="ctr">
              <a:noFill/>
              <a:prstDash val="solid"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0676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0409612233752048"/>
          <c:y val="0.0138888888888889"/>
          <c:w val="0.368179459814024"/>
          <c:h val="0.107807715441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6350" cap="flat" cmpd="sng" algn="ctr">
      <a:solidFill>
        <a:schemeClr val="bg1">
          <a:lumMod val="85000"/>
        </a:schemeClr>
      </a:solidFill>
      <a:prstDash val="solid"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92052662451284"/>
          <c:y val="0.148285035799097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month'!$E$54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0.0136832106859184"/>
                  <c:y val="-0.078988772987263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1954517638846"/>
                      <c:h val="0.30612244897959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764710432537396"/>
                  <c:y val="-0.18645833333333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month'!$C$55:$C$58</c:f>
              <c:strCache>
                <c:ptCount val="4"/>
                <c:pt idx="0">
                  <c:v>Factory 3</c:v>
                </c:pt>
                <c:pt idx="1">
                  <c:v>Factory 4</c:v>
                </c:pt>
                <c:pt idx="2">
                  <c:v>Factory 1</c:v>
                </c:pt>
                <c:pt idx="3">
                  <c:v>Factory 2</c:v>
                </c:pt>
              </c:strCache>
            </c:strRef>
          </c:cat>
          <c:val>
            <c:numRef>
              <c:f>'[CoPQ type analysis (1).xlsx]Current month'!$E$55:$E$58</c:f>
              <c:numCache>
                <c:formatCode>"$"#,##0.00</c:formatCode>
                <c:ptCount val="4"/>
                <c:pt idx="0">
                  <c:v>529.52</c:v>
                </c:pt>
                <c:pt idx="1">
                  <c:v>452.92</c:v>
                </c:pt>
                <c:pt idx="2">
                  <c:v>448.62</c:v>
                </c:pt>
                <c:pt idx="3">
                  <c:v>143.44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99CCF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89993749005806"/>
          <c:y val="0.106275406050434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month'!$K$54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0.0514997172609521"/>
                  <c:y val="-0.293099983595801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891601583338668"/>
                  <c:y val="0.032442722003499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month'!$I$55:$I$57</c:f>
              <c:strCache>
                <c:ptCount val="3"/>
                <c:pt idx="0">
                  <c:v>Factory 5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month'!$K$55:$K$57</c:f>
              <c:numCache>
                <c:formatCode>"$"#,##0.00</c:formatCode>
                <c:ptCount val="3"/>
                <c:pt idx="0">
                  <c:v>89.31</c:v>
                </c:pt>
                <c:pt idx="1">
                  <c:v>18.37</c:v>
                </c:pt>
                <c:pt idx="2">
                  <c:v>18.08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80899049550624"/>
          <c:y val="0.132378567190777"/>
          <c:w val="0.323484599936372"/>
          <c:h val="0.746955884811097"/>
        </c:manualLayout>
      </c:layout>
      <c:pieChart>
        <c:varyColors val="1"/>
        <c:ser>
          <c:idx val="0"/>
          <c:order val="0"/>
          <c:tx>
            <c:strRef>
              <c:f>'[CoPQ type analysis (1).xlsx]Current month'!$Q$54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0.0265604249667993"/>
                  <c:y val="-0.06017054864846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472505105191285"/>
                  <c:y val="-0.013763440860215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2729083665339"/>
                      <c:h val="0.35038693035253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month'!$O$55:$O$56</c:f>
              <c:strCache>
                <c:ptCount val="2"/>
                <c:pt idx="0">
                  <c:v>Factory 2</c:v>
                </c:pt>
                <c:pt idx="1">
                  <c:v>Factory 1</c:v>
                </c:pt>
              </c:strCache>
            </c:strRef>
          </c:cat>
          <c:val>
            <c:numRef>
              <c:f>'[CoPQ type analysis (1).xlsx]Current month'!$Q$55:$Q$56</c:f>
              <c:numCache>
                <c:formatCode>"$"#,##0.00</c:formatCode>
                <c:ptCount val="2"/>
                <c:pt idx="0">
                  <c:v>4435.41</c:v>
                </c:pt>
                <c:pt idx="1">
                  <c:v>2119.21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94199810606061"/>
          <c:y val="0.122091881371971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month'!$W$54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month'!$U$55:$U$57</c:f>
              <c:strCache>
                <c:ptCount val="3"/>
                <c:pt idx="0">
                  <c:v>Factory 2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month'!$W$55:$W$57</c:f>
              <c:numCache>
                <c:formatCode>"$"#,##0.00</c:formatCode>
                <c:ptCount val="3"/>
                <c:pt idx="0">
                  <c:v>430.36</c:v>
                </c:pt>
                <c:pt idx="1">
                  <c:v>219.94</c:v>
                </c:pt>
                <c:pt idx="2">
                  <c:v>119.77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0123246918827"/>
          <c:y val="0.0567537456255473"/>
          <c:w val="0.273868568819001"/>
          <c:h val="0.915468476596675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month'!$K$61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8222024011562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718373611754798"/>
                  <c:y val="0.0038843331894691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682809015070299"/>
                  <c:y val="-7.95708400501249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894622588244638"/>
                  <c:y val="0.0038843331894691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955893389336318"/>
                  <c:y val="0.009014740085359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month'!$I$62:$I$66</c:f>
              <c:strCache>
                <c:ptCount val="5"/>
                <c:pt idx="0">
                  <c:v>W NIKE AIR WINFLO 12</c:v>
                </c:pt>
                <c:pt idx="1">
                  <c:v>W NIKE DUNK LOW</c:v>
                </c:pt>
                <c:pt idx="2">
                  <c:v>NIKE AIR WINFLO 12 (PS)</c:v>
                </c:pt>
                <c:pt idx="3">
                  <c:v>W NIKE DUNK LOW LACE</c:v>
                </c:pt>
                <c:pt idx="4">
                  <c:v>NIKE AIR WINFLO 12 GTX</c:v>
                </c:pt>
              </c:strCache>
            </c:strRef>
          </c:cat>
          <c:val>
            <c:numRef>
              <c:f>'[CoPQ type analysis (1).xlsx]Current month'!$K$62:$K$66</c:f>
              <c:numCache>
                <c:formatCode>"$"#,##0.00</c:formatCode>
                <c:ptCount val="5"/>
                <c:pt idx="0">
                  <c:v>9.47</c:v>
                </c:pt>
                <c:pt idx="1">
                  <c:v>10.42</c:v>
                </c:pt>
                <c:pt idx="2">
                  <c:v>15.64</c:v>
                </c:pt>
                <c:pt idx="3">
                  <c:v>20.3</c:v>
                </c:pt>
                <c:pt idx="4">
                  <c:v>37.95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1328"/>
        <c:axId val="-5538127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243402700302612"/>
                        <c:y val="0"/>
                      </c:manualLayout>
                    </c:layout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7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0498604774949393"/>
                            <c:h val="0.112717355643045"/>
                          </c:manualLayout>
                        </c15:layout>
                      </c:ext>
                    </c:extLst>
                  </c:dLbl>
                  <c:dLbl>
                    <c:idx val="1"/>
                    <c:layout>
                      <c:manualLayout>
                        <c:x val="0.0213266914527455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.0141808458321711"/>
                        <c:y val="-7.95708400501249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3"/>
                    <c:layout>
                      <c:manualLayout>
                        <c:x val="0.0154460603138893"/>
                        <c:y val="0.027777777777777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174339814666024"/>
                        <c:y val="0.008680373286672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month'!$I$62:$I$66</c15:sqref>
                        </c15:formulaRef>
                      </c:ext>
                    </c:extLst>
                    <c:strCache>
                      <c:ptCount val="5"/>
                      <c:pt idx="0">
                        <c:v>NIKE DUNK LOW RETRO SE</c:v>
                      </c:pt>
                      <c:pt idx="1">
                        <c:v>W NIKE AIR WINFLO 12 GTX</c:v>
                      </c:pt>
                      <c:pt idx="2">
                        <c:v>AIR WINFLO 11 GTX</c:v>
                      </c:pt>
                      <c:pt idx="3">
                        <c:v>NIKE DUNK LOW RETRO</c:v>
                      </c:pt>
                      <c:pt idx="4">
                        <c:v>NIKE AIR WINFLO 12 GTX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{1,1,1,1.5,3}</c15:sqref>
                        </c15:formulaRef>
                      </c:ext>
                    </c:extLst>
                    <c:numCache>
                      <c:formatCode>0.0</c:formatCode>
                      <c:ptCount val="5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1.5</c:v>
                      </c:pt>
                      <c:pt idx="4">
                        <c:v>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1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12752"/>
        <c:crosses val="autoZero"/>
        <c:auto val="1"/>
        <c:lblAlgn val="ctr"/>
        <c:lblOffset val="100"/>
        <c:noMultiLvlLbl val="0"/>
      </c:catAx>
      <c:valAx>
        <c:axId val="-553812752"/>
        <c:scaling>
          <c:orientation val="minMax"/>
          <c:max val="2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358816955401804"/>
          <c:h val="0.09912715988626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3639062794634"/>
          <c:y val="0.0714997083697871"/>
          <c:w val="0.471988566691719"/>
          <c:h val="0.915468476596675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month'!$Q$61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7059657078078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879990716761935"/>
                  <c:y val="-0.0014435695538057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88665858102582"/>
                  <c:y val="-0.01330781568970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952172355811341"/>
                  <c:y val="-0.01591353164187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109507173867685"/>
                  <c:y val="0.006081948089822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month'!$O$62:$O$66</c:f>
              <c:strCache>
                <c:ptCount val="5"/>
                <c:pt idx="0">
                  <c:v>NIKE STAR RUNNER 5 (PS)</c:v>
                </c:pt>
                <c:pt idx="1">
                  <c:v>NIKE EBERNON LOW PREM</c:v>
                </c:pt>
                <c:pt idx="2">
                  <c:v>NIKE INITIATOR</c:v>
                </c:pt>
                <c:pt idx="3">
                  <c:v>WMNS NIKE INITIATOR</c:v>
                </c:pt>
                <c:pt idx="4">
                  <c:v>NIKE DUNK LOW RETRO</c:v>
                </c:pt>
              </c:strCache>
            </c:strRef>
          </c:cat>
          <c:val>
            <c:numRef>
              <c:f>'[CoPQ type analysis (1).xlsx]Current month'!$Q$62:$Q$66</c:f>
              <c:numCache>
                <c:formatCode>"$"#,##0.00</c:formatCode>
                <c:ptCount val="5"/>
                <c:pt idx="0">
                  <c:v>592.2</c:v>
                </c:pt>
                <c:pt idx="1">
                  <c:v>649.76</c:v>
                </c:pt>
                <c:pt idx="2">
                  <c:v>856.76</c:v>
                </c:pt>
                <c:pt idx="3">
                  <c:v>1095.73</c:v>
                </c:pt>
                <c:pt idx="4">
                  <c:v>1593.65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5136"/>
        <c:axId val="-55382907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22196749899821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210642473715159"/>
                        <c:y val="-0.0092592592592593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.024529889467701"/>
                        <c:y val="-0.0138888888888889"/>
                      </c:manualLayout>
                    </c:layout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7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0505633243272527"/>
                            <c:h val="0.116157771945174"/>
                          </c:manualLayout>
                        </c15:layout>
                      </c:ext>
                    </c:extLst>
                  </c:dLbl>
                  <c:dLbl>
                    <c:idx val="3"/>
                    <c:layout>
                      <c:manualLayout>
                        <c:x val="0.0214848940963292"/>
                        <c:y val="-0.00983814523184602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263215503900187"/>
                        <c:y val="-2.12188906800333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month'!$O$62:$O$66</c15:sqref>
                        </c15:formulaRef>
                      </c:ext>
                    </c:extLst>
                    <c:strCache>
                      <c:ptCount val="5"/>
                      <c:pt idx="0">
                        <c:v>NIKE EBERNON LOW</c:v>
                      </c:pt>
                      <c:pt idx="1">
                        <c:v>WMNS NIKE INITIATOR</c:v>
                      </c:pt>
                      <c:pt idx="2">
                        <c:v>NIKE INITIATOR</c:v>
                      </c:pt>
                      <c:pt idx="3">
                        <c:v>NIKE AIR MAX SC</c:v>
                      </c:pt>
                      <c:pt idx="4">
                        <c:v>NIKE EBERNON LOW PREM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{25.5,33,43.5,49.5,57}</c15:sqref>
                        </c15:formulaRef>
                      </c:ext>
                    </c:extLst>
                    <c:numCache>
                      <c:formatCode>#,##0.0</c:formatCode>
                      <c:ptCount val="5"/>
                      <c:pt idx="0">
                        <c:v>25.5</c:v>
                      </c:pt>
                      <c:pt idx="1">
                        <c:v>33</c:v>
                      </c:pt>
                      <c:pt idx="2">
                        <c:v>43.5</c:v>
                      </c:pt>
                      <c:pt idx="3">
                        <c:v>49.5</c:v>
                      </c:pt>
                      <c:pt idx="4">
                        <c:v>57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5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9072"/>
        <c:crosses val="autoZero"/>
        <c:auto val="1"/>
        <c:lblAlgn val="ctr"/>
        <c:lblOffset val="100"/>
        <c:noMultiLvlLbl val="0"/>
      </c:catAx>
      <c:valAx>
        <c:axId val="-553829072"/>
        <c:scaling>
          <c:orientation val="minMax"/>
          <c:max val="4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513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365119956198715"/>
          <c:h val="0.1255160487751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4245853196922"/>
          <c:y val="0.0890556640394681"/>
          <c:w val="0.617176218853015"/>
          <c:h val="0.898107365485564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month'!$W$61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963718820861678"/>
                  <c:y val="-0.0092592592592592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9353741496598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9353741496598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850340136054421"/>
                  <c:y val="0.0092592592592592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99206349206349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month'!$U$62:$U$66</c:f>
              <c:strCache>
                <c:ptCount val="5"/>
                <c:pt idx="0">
                  <c:v>NIKE DUNK LOW NN</c:v>
                </c:pt>
                <c:pt idx="1">
                  <c:v>NIKE DUNK LOW RETRO</c:v>
                </c:pt>
                <c:pt idx="2">
                  <c:v>AIR JORDAN 1 LOW SE (GS)</c:v>
                </c:pt>
                <c:pt idx="3">
                  <c:v>JORDAN COURT CONNECT LOW..</c:v>
                </c:pt>
                <c:pt idx="4">
                  <c:v>WMNS NIKE INITIATOR</c:v>
                </c:pt>
              </c:strCache>
            </c:strRef>
          </c:cat>
          <c:val>
            <c:numRef>
              <c:f>'[CoPQ type analysis (1).xlsx]Current month'!$W$62:$W$66</c:f>
              <c:numCache>
                <c:formatCode>"$"#,##0.00</c:formatCode>
                <c:ptCount val="5"/>
                <c:pt idx="0">
                  <c:v>58.38</c:v>
                </c:pt>
                <c:pt idx="1">
                  <c:v>60.6</c:v>
                </c:pt>
                <c:pt idx="2">
                  <c:v>64.8</c:v>
                </c:pt>
                <c:pt idx="3">
                  <c:v>70.03</c:v>
                </c:pt>
                <c:pt idx="4">
                  <c:v>88.79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-553826896"/>
        <c:axId val="-55382852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month'!$V$61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month'!$U$62:$U$66</c15:sqref>
                        </c15:formulaRef>
                      </c:ext>
                    </c:extLst>
                    <c:strCache>
                      <c:ptCount val="5"/>
                      <c:pt idx="0">
                        <c:v>AIR JORDAN 1 MID SE  (GS)</c:v>
                      </c:pt>
                      <c:pt idx="1">
                        <c:v>JORDAN 1 MID SE UNI (PS)</c:v>
                      </c:pt>
                      <c:pt idx="2">
                        <c:v>AIR JORDAN 1 MID SE (GS)</c:v>
                      </c:pt>
                      <c:pt idx="3">
                        <c:v>AIR JORDAN 1 LOW</c:v>
                      </c:pt>
                      <c:pt idx="4">
                        <c:v>AIR JORDAN 1 LOW SE (GS)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{2,3,3,5.5,5.5}</c15:sqref>
                        </c15:formulaRef>
                      </c:ext>
                    </c:extLst>
                    <c:numCache>
                      <c:formatCode>#,##0.0</c:formatCode>
                      <c:ptCount val="5"/>
                      <c:pt idx="0">
                        <c:v>2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5.5</c:v>
                      </c:pt>
                      <c:pt idx="4">
                        <c:v>5.5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26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8528"/>
        <c:crosses val="autoZero"/>
        <c:auto val="1"/>
        <c:lblAlgn val="ctr"/>
        <c:lblOffset val="100"/>
        <c:noMultiLvlLbl val="0"/>
      </c:catAx>
      <c:valAx>
        <c:axId val="-553828528"/>
        <c:scaling>
          <c:orientation val="minMax"/>
          <c:max val="2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262385951756031"/>
          <c:h val="0.1338837853601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699394754539341"/>
          <c:y val="0.13706140350877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461990760184796"/>
          <c:y val="0.269179004037685"/>
          <c:w val="0.858672826543469"/>
          <c:h val="0.571377299237326"/>
        </c:manualLayout>
      </c:layout>
      <c:barChart>
        <c:barDir val="col"/>
        <c:grouping val="stack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  <c:ser>
          <c:idx val="0"/>
          <c:order val="0"/>
          <c:tx>
            <c:strRef>
              <c:f>'[FTT_Combined_Report.xlsx]Top Defects Summary'!$A$2</c:f>
              <c:strCache>
                <c:ptCount val="1"/>
                <c:pt idx="0">
                  <c:v>C/Off-center</c:v>
                </c:pt>
              </c:strCache>
            </c:strRef>
          </c:tx>
          <c:spPr>
            <a:solidFill>
              <a:srgbClr val="F6FF9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JORDAN SPIZIKE LOW</c:v>
                </c:pt>
                <c:pt idx="1">
                  <c:v>NIKE MANOA LEATHER</c:v>
                </c:pt>
                <c:pt idx="2">
                  <c:v>JORDAN TRUE FLIGHT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0.4</c:v>
                </c:pt>
                <c:pt idx="1">
                  <c:v>0.2222222222222222</c:v>
                </c:pt>
                <c:pt idx="2">
                  <c:v>0.2857142857142857</c:v>
                </c:pt>
              </c:numCache>
            </c:numRef>
          </c:val>
        </c:ser>
        <c:ser>
          <c:idx val="1"/>
          <c:order val="1"/>
          <c:tx>
            <c:strRef>
              <c:f>'[FTT_Combined_Report.xlsx]Top Defects Summary'!$A$3</c:f>
              <c:strCache>
                <c:ptCount val="1"/>
                <c:pt idx="0">
                  <c:v>C/Jump / Broken / Loose Stitch</c:v>
                </c:pt>
              </c:strCache>
            </c:strRef>
          </c:tx>
          <c:spPr>
            <a:solidFill>
              <a:srgbClr val="543C9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JORDAN SPIZIKE LOW</c:v>
                </c:pt>
                <c:pt idx="1">
                  <c:v>NIKE MANOA LEATHER</c:v>
                </c:pt>
                <c:pt idx="2">
                  <c:v>JORDAN TRUE FLIGHT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0.3333333333333333</c:v>
                </c:pt>
              </c:numCache>
            </c:numRef>
          </c:val>
        </c:ser>
        <c:ser>
          <c:idx val="2"/>
          <c:order val="2"/>
          <c:tx>
            <c:strRef>
              <c:f>'[FTT_Combined_Report.xlsx]Top Defects Summary'!$A$4</c:f>
              <c:strCache>
                <c:ptCount val="1"/>
                <c:pt idx="0">
                  <c:v>C/Wrinkle or Deformed Upper</c:v>
                </c:pt>
              </c:strCache>
            </c:strRef>
          </c:tx>
          <c:spPr>
            <a:solidFill>
              <a:srgbClr val="E5C07B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JORDAN SPIZIKE LOW</c:v>
                </c:pt>
                <c:pt idx="1">
                  <c:v>NIKE MANOA LEATHER</c:v>
                </c:pt>
                <c:pt idx="2">
                  <c:v>JORDAN TRUE FLIGHT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0.3333333333333333</c:v>
                </c:pt>
              </c:numCache>
            </c:numRef>
          </c:val>
        </c:ser>
        <c:ser>
          <c:idx val="3"/>
          <c:order val="3"/>
          <c:tx>
            <c:strRef>
              <c:f>'[FTT_Combined_Report.xlsx]Top Defects Summary'!$A$5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JORDAN SPIZIKE LOW</c:v>
                </c:pt>
                <c:pt idx="1">
                  <c:v>NIKE MANOA LEATHER</c:v>
                </c:pt>
                <c:pt idx="2">
                  <c:v>JORDAN TRUE FLIGHT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0.4</c:v>
                </c:pt>
              </c:numCache>
            </c:numRef>
          </c:val>
        </c:ser>
        <c:ser>
          <c:idx val="4"/>
          <c:order val="4"/>
          <c:tx>
            <c:strRef>
              <c:f>'[FTT_Combined_Report.xlsx]Top Defects Summary'!$A$6</c:f>
              <c:strCache>
                <c:ptCount val="1"/>
                <c:pt idx="0">
                  <c:v>C/Holes quality</c:v>
                </c:pt>
              </c:strCache>
            </c:strRef>
          </c:tx>
          <c:spPr>
            <a:solidFill>
              <a:srgbClr val="5F9EA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JORDAN SPIZIKE LOW</c:v>
                </c:pt>
                <c:pt idx="1">
                  <c:v>NIKE MANOA LEATHER</c:v>
                </c:pt>
                <c:pt idx="2">
                  <c:v>JORDAN TRUE FLIGHT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0.2</c:v>
                </c:pt>
              </c:numCache>
            </c:numRef>
          </c:val>
        </c:ser>
        <c:ser>
          <c:idx val="5"/>
          <c:order val="5"/>
          <c:tx>
            <c:strRef>
              <c:f>'[FTT_Combined_Report.xlsx]Top Defects Summary'!$A$7</c:f>
              <c:strCache>
                <c:ptCount val="1"/>
                <c:pt idx="0">
                  <c:v>C/Alignment L+R Symmetry</c:v>
                </c:pt>
              </c:strCache>
            </c:strRef>
          </c:tx>
          <c:spPr>
            <a:solidFill>
              <a:srgbClr val="B5C99A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JORDAN SPIZIKE LOW</c:v>
                </c:pt>
                <c:pt idx="1">
                  <c:v>NIKE MANOA LEATHER</c:v>
                </c:pt>
                <c:pt idx="2">
                  <c:v>JORDAN TRUE FLIGHT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2">
                  <c:v>0.14285714285714285</c:v>
                </c:pt>
              </c:numCache>
            </c:numRef>
          </c:val>
        </c:ser>
        <c:ser>
          <c:idx val="6"/>
          <c:order val="6"/>
          <c:tx>
            <c:strRef>
              <c:f>'[FTT_Combined_Report.xlsx]Top Defects Summary'!$A$8</c:f>
              <c:strCache>
                <c:ptCount val="1"/>
                <c:pt idx="0">
                  <c:v>C/Color / Paint migration, bleeding</c:v>
                </c:pt>
              </c:strCache>
            </c:strRef>
          </c:tx>
          <c:spPr>
            <a:solidFill>
              <a:srgbClr val="D2711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JORDAN SPIZIKE LOW</c:v>
                </c:pt>
                <c:pt idx="1">
                  <c:v>NIKE MANOA LEATHER</c:v>
                </c:pt>
                <c:pt idx="2">
                  <c:v>JORDAN TRUE FLIGHT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2">
                  <c:v>0.14285714285714285</c:v>
                </c:pt>
              </c:numCache>
            </c:numRef>
          </c:val>
        </c:ser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809762316823383"/>
          <c:y val="0.0755685979790678"/>
        </c:manualLayout>
      </c:layout>
      <c:overlay val="0"/>
    </c:title>
    <c:autoTitleDeleted val="0"/>
    <c:plotArea>
      <c:layout/>
      <c:barChart>
        <c:barDir val="col"/>
        <c:grouping val="stack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  <c:ser>
          <c:idx val="0"/>
          <c:order val="0"/>
          <c:tx>
            <c:strRef>
              <c:f>'[FTT_Combined_Report.xlsx]Top Defects Summary'!$A$2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AIR WINFLO 12 GTX</c:v>
                </c:pt>
                <c:pt idx="1">
                  <c:v>W NIKE DUNK LOW LACE</c:v>
                </c:pt>
                <c:pt idx="2">
                  <c:v>NIKE AIR WINFLO 12 (PS)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1.0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'[FTT_Combined_Report.xlsx]Top Defects Summary'!$A$3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AIR WINFLO 12 GTX</c:v>
                </c:pt>
                <c:pt idx="1">
                  <c:v>W NIKE DUNK LOW LACE</c:v>
                </c:pt>
                <c:pt idx="2">
                  <c:v>NIKE AIR WINFLO 12 (PS)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0.5</c:v>
                </c:pt>
                <c:pt idx="2">
                  <c:v>0.5</c:v>
                </c:pt>
              </c:numCache>
            </c:numRef>
          </c:val>
        </c:ser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116002795248078"/>
          <c:y val="0.05504587155963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44114921223355"/>
          <c:y val="0.171641791044776"/>
          <c:w val="0.918443002780352"/>
          <c:h val="0.726349024110218"/>
        </c:manualLayout>
      </c:layout>
      <c:barChart>
        <c:barDir val="col"/>
        <c:grouping val="stack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  <c:ser>
          <c:idx val="0"/>
          <c:order val="0"/>
          <c:tx>
            <c:strRef>
              <c:f>'[FTT_Combined_Report.xlsx]Top Defects Summary'!$A$2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DUNK LOW RETRO</c:v>
                </c:pt>
                <c:pt idx="1">
                  <c:v>WMNS NIKE INITIATOR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0.8205128205128205</c:v>
                </c:pt>
                <c:pt idx="2">
                  <c:v>0.39361702127659576</c:v>
                </c:pt>
              </c:numCache>
            </c:numRef>
          </c:val>
        </c:ser>
        <c:ser>
          <c:idx val="1"/>
          <c:order val="1"/>
          <c:tx>
            <c:strRef>
              <c:f>'[FTT_Combined_Report.xlsx]Top Defects Summary'!$A$3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DUNK LOW RETRO</c:v>
                </c:pt>
                <c:pt idx="1">
                  <c:v>WMNS NIKE INITIATOR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0.1346153846153846</c:v>
                </c:pt>
                <c:pt idx="1">
                  <c:v>0.3709677419354839</c:v>
                </c:pt>
                <c:pt idx="2">
                  <c:v>0.20212765957446807</c:v>
                </c:pt>
              </c:numCache>
            </c:numRef>
          </c:val>
        </c:ser>
        <c:ser>
          <c:idx val="2"/>
          <c:order val="2"/>
          <c:tx>
            <c:strRef>
              <c:f>'[FTT_Combined_Report.xlsx]Top Defects Summary'!$A$4</c:f>
              <c:strCache>
                <c:ptCount val="1"/>
                <c:pt idx="0">
                  <c:v>C/Jump / Broken / Loose Stitch</c:v>
                </c:pt>
              </c:strCache>
            </c:strRef>
          </c:tx>
          <c:spPr>
            <a:solidFill>
              <a:srgbClr val="543C9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DUNK LOW RETRO</c:v>
                </c:pt>
                <c:pt idx="1">
                  <c:v>WMNS NIKE INITIATOR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0.18548387096774194</c:v>
                </c:pt>
                <c:pt idx="2">
                  <c:v>0.11702127659574468</c:v>
                </c:pt>
              </c:numCache>
            </c:numRef>
          </c:val>
        </c:ser>
        <c:ser>
          <c:idx val="3"/>
          <c:order val="3"/>
          <c:tx>
            <c:strRef>
              <c:f>'[FTT_Combined_Report.xlsx]Top Defects Summary'!$A$5</c:f>
              <c:strCache>
                <c:ptCount val="1"/>
                <c:pt idx="0">
                  <c:v>C/Contamination</c:v>
                </c:pt>
              </c:strCache>
            </c:strRef>
          </c:tx>
          <c:spPr>
            <a:solidFill>
              <a:srgbClr val="245152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DUNK LOW RETRO</c:v>
                </c:pt>
                <c:pt idx="1">
                  <c:v>WMNS NIKE INITIATOR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0.03205128205128205</c:v>
                </c:pt>
                <c:pt idx="1">
                  <c:v>0.1774193548387097</c:v>
                </c:pt>
              </c:numCache>
            </c:numRef>
          </c:val>
        </c:ser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908066132264529"/>
          <c:y val="0.083191126279863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809619238476954"/>
          <c:y val="0.33703071672355"/>
          <c:w val="0.871442885771543"/>
          <c:h val="0.317662116040956"/>
        </c:manualLayout>
      </c:layout>
      <c:barChart>
        <c:barDir val="col"/>
        <c:grouping val="stack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  <c:ser>
          <c:idx val="0"/>
          <c:order val="0"/>
          <c:tx>
            <c:strRef>
              <c:f>'[FTT_Combined_Report.xlsx]Top Defects Summary'!$A$2</c:f>
              <c:strCache>
                <c:ptCount val="1"/>
                <c:pt idx="0">
                  <c:v>B/Jump / Broken / Loose Stitch</c:v>
                </c:pt>
              </c:strCache>
            </c:strRef>
          </c:tx>
          <c:spPr>
            <a:solidFill>
              <a:srgbClr val="B34B9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0.375</c:v>
                </c:pt>
              </c:numCache>
            </c:numRef>
          </c:val>
        </c:ser>
        <c:ser>
          <c:idx val="1"/>
          <c:order val="1"/>
          <c:tx>
            <c:strRef>
              <c:f>'[FTT_Combined_Report.xlsx]Top Defects Summary'!$A$3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0.375</c:v>
                </c:pt>
              </c:numCache>
            </c:numRef>
          </c:val>
        </c:ser>
        <c:ser>
          <c:idx val="2"/>
          <c:order val="2"/>
          <c:tx>
            <c:strRef>
              <c:f>'[FTT_Combined_Report.xlsx]Top Defects Summary'!$A$4</c:f>
              <c:strCache>
                <c:ptCount val="1"/>
                <c:pt idx="0">
                  <c:v>B/Holes quality</c:v>
                </c:pt>
              </c:strCache>
            </c:strRef>
          </c:tx>
          <c:spPr>
            <a:solidFill>
              <a:srgbClr val="B0936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2">
                  <c:v>0.5</c:v>
                </c:pt>
              </c:numCache>
            </c:numRef>
          </c:val>
        </c:ser>
        <c:ser>
          <c:idx val="3"/>
          <c:order val="3"/>
          <c:tx>
            <c:strRef>
              <c:f>'[FTT_Combined_Report.xlsx]Top Defects Summary'!$A$5</c:f>
              <c:strCache>
                <c:ptCount val="1"/>
                <c:pt idx="0">
                  <c:v>B/Wrinkle or Deformed Upper</c:v>
                </c:pt>
              </c:strCache>
            </c:strRef>
          </c:tx>
          <c:spPr>
            <a:solidFill>
              <a:srgbClr val="6D597A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0.3333333333333333</c:v>
                </c:pt>
              </c:numCache>
            </c:numRef>
          </c:val>
        </c:ser>
        <c:ser>
          <c:idx val="4"/>
          <c:order val="4"/>
          <c:tx>
            <c:strRef>
              <c:f>'[FTT_Combined_Report.xlsx]Top Defects Summary'!$A$6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2">
                  <c:v>0.25</c:v>
                </c:pt>
              </c:numCache>
            </c:numRef>
          </c:val>
        </c:ser>
        <c:ser>
          <c:idx val="5"/>
          <c:order val="5"/>
          <c:tx>
            <c:strRef>
              <c:f>'[FTT_Combined_Report.xlsx]Top Defects Summary'!$A$7</c:f>
              <c:strCache>
                <c:ptCount val="1"/>
                <c:pt idx="0">
                  <c:v>B/Other defects</c:v>
                </c:pt>
              </c:strCache>
            </c:strRef>
          </c:tx>
          <c:spPr>
            <a:solidFill>
              <a:srgbClr val="6F692B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0.125</c:v>
                </c:pt>
              </c:numCache>
            </c:numRef>
          </c:val>
        </c:ser>
        <c:ser>
          <c:idx val="6"/>
          <c:order val="6"/>
          <c:tx>
            <c:strRef>
              <c:f>'[FTT_Combined_Report.xlsx]Top Defects Summary'!$A$8</c:f>
              <c:strCache>
                <c:ptCount val="1"/>
                <c:pt idx="0">
                  <c:v>B/Off-center</c:v>
                </c:pt>
              </c:strCache>
            </c:strRef>
          </c:tx>
          <c:spPr>
            <a:solidFill>
              <a:srgbClr val="998AF2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0.16666666666666666</c:v>
                </c:pt>
              </c:numCache>
            </c:numRef>
          </c:val>
        </c:ser>
        <c:ser>
          <c:idx val="7"/>
          <c:order val="7"/>
          <c:tx>
            <c:strRef>
              <c:f>'[FTT_Combined_Report.xlsx]Top Defects Summary'!$A$9</c:f>
              <c:strCache>
                <c:ptCount val="1"/>
                <c:pt idx="0">
                  <c:v>B/Material damaged</c:v>
                </c:pt>
              </c:strCache>
            </c:strRef>
          </c:tx>
          <c:spPr>
            <a:solidFill>
              <a:srgbClr val="FAB8A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0.16666666666666666</c:v>
                </c:pt>
              </c:numCache>
            </c:numRef>
          </c:val>
        </c:ser>
        <c:ser>
          <c:idx val="8"/>
          <c:order val="8"/>
          <c:tx>
            <c:strRef>
              <c:f>'[FTT_Combined_Report.xlsx]Top Defects Summary'!$A$10</c:f>
              <c:strCache>
                <c:ptCount val="1"/>
                <c:pt idx="0">
                  <c:v>C/Wrinkle or Deformed Upper</c:v>
                </c:pt>
              </c:strCache>
            </c:strRef>
          </c:tx>
          <c:spPr>
            <a:solidFill>
              <a:srgbClr val="E5C07B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WMNS NIKE INITIATOR</c:v>
                </c:pt>
                <c:pt idx="1">
                  <c:v>JORDAN COURT CONNECT LOW (TD)</c:v>
                </c:pt>
                <c:pt idx="2">
                  <c:v>AIR JORDAN 1 LOW SE (GS)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2">
                  <c:v>0.25</c:v>
                </c:pt>
              </c:numCache>
            </c:numRef>
          </c:val>
        </c:ser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month'!$F$69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2.08255682473091e-7"/>
                  <c:y val="0.14234221337095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8110444527767"/>
                      <c:h val="0.25728445876083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85978835978836"/>
                  <c:y val="-0.15322615923009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7142857142857"/>
                      <c:h val="0.1767676767676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-0.036973077228982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18253968254"/>
                      <c:h val="0.227272727272727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2.60384118651835e-7"/>
                  <c:y val="0.088049540682414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6620839061784"/>
                      <c:h val="0.255864252763859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0.132422770070408"/>
                  <c:y val="0.037879036427264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3436237137025"/>
                      <c:h val="0.170956613377873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month'!$C$70:$C$74</c:f>
              <c:strCache>
                <c:ptCount val="5"/>
                <c:pt idx="0">
                  <c:v>Factory 4</c:v>
                </c:pt>
                <c:pt idx="1">
                  <c:v>Factory 3</c:v>
                </c:pt>
                <c:pt idx="2">
                  <c:v>Factory 1</c:v>
                </c:pt>
                <c:pt idx="3">
                  <c:v>Factory Sandals</c:v>
                </c:pt>
                <c:pt idx="4">
                  <c:v>OS</c:v>
                </c:pt>
              </c:strCache>
            </c:strRef>
          </c:cat>
          <c:val>
            <c:numRef>
              <c:f>'[CoPQ type analysis (1).xlsx]Current month'!$F$70:$F$74</c:f>
              <c:numCache>
                <c:formatCode>"$"#,##0.00</c:formatCode>
                <c:ptCount val="5"/>
                <c:pt idx="0">
                  <c:v>409.93</c:v>
                </c:pt>
                <c:pt idx="1">
                  <c:v>313.36</c:v>
                </c:pt>
                <c:pt idx="2">
                  <c:v>243.31</c:v>
                </c:pt>
                <c:pt idx="3">
                  <c:v>126.34</c:v>
                </c:pt>
                <c:pt idx="4">
                  <c:v>69.79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99CCF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7F7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179188538932633"/>
          <c:w val="0.972430340671284"/>
          <c:h val="0.613989501312336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month'!$F$78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875661375661"/>
                      <c:h val="0.125166666666667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1567199933342"/>
                      <c:h val="0.13872222222222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8150231221097"/>
                      <c:h val="0.13872222222222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month'!$C$79:$C$81</c:f>
              <c:strCache>
                <c:ptCount val="3"/>
                <c:pt idx="0">
                  <c:v>NIKE SB FORCE 58</c:v>
                </c:pt>
                <c:pt idx="1">
                  <c:v>JORDAN COURT CON..</c:v>
                </c:pt>
                <c:pt idx="2">
                  <c:v>JORDAN SPIZIKE L..</c:v>
                </c:pt>
              </c:strCache>
            </c:strRef>
          </c:cat>
          <c:val>
            <c:numRef>
              <c:f>'[CoPQ type analysis (1).xlsx]Current month'!$F$79:$F$81</c:f>
              <c:numCache>
                <c:formatCode>"$"#,##0.00</c:formatCode>
                <c:ptCount val="3"/>
                <c:pt idx="0">
                  <c:v>78.64</c:v>
                </c:pt>
                <c:pt idx="1">
                  <c:v>59.57</c:v>
                </c:pt>
                <c:pt idx="2">
                  <c:v>58.16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43120"/>
        <c:axId val="-103406651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month'!$C$79:$C$81</c15:sqref>
                        </c15:formulaRef>
                      </c:ext>
                    </c:extLst>
                    <c:strCache>
                      <c:ptCount val="3"/>
                      <c:pt idx="0">
                        <c:v>JORDAN TRUE FLIGHT MS</c:v>
                      </c:pt>
                      <c:pt idx="1">
                        <c:v>NIKE SB FORCE 58</c:v>
                      </c:pt>
                      <c:pt idx="2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{11189,1843,3307}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11189</c:v>
                      </c:pt>
                      <c:pt idx="1">
                        <c:v>1843</c:v>
                      </c:pt>
                      <c:pt idx="2">
                        <c:v>3307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month'!$E$78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2"/>
                    <c:layout>
                      <c:manualLayout>
                        <c:x val="0.0529100529100528"/>
                        <c:y val="-0.0498307086614173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month'!$C$79:$C$81</c15:sqref>
                        </c15:formulaRef>
                      </c:ext>
                    </c:extLst>
                    <c:strCache>
                      <c:ptCount val="3"/>
                      <c:pt idx="0">
                        <c:v>JORDAN TRUE FLIGHT MS</c:v>
                      </c:pt>
                      <c:pt idx="1">
                        <c:v>NIKE SB FORCE 58</c:v>
                      </c:pt>
                      <c:pt idx="2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{41.5,8.8,6}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41.5</c:v>
                      </c:pt>
                      <c:pt idx="1">
                        <c:v>8.8</c:v>
                      </c:pt>
                      <c:pt idx="2">
                        <c:v>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4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66512"/>
        <c:crosses val="autoZero"/>
        <c:auto val="1"/>
        <c:lblAlgn val="ctr"/>
        <c:lblOffset val="100"/>
        <c:noMultiLvlLbl val="0"/>
      </c:catAx>
      <c:valAx>
        <c:axId val="-1034066512"/>
        <c:scaling>
          <c:orientation val="minMax"/>
          <c:max val="1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4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173568241469816"/>
          <c:w val="0.972430340671284"/>
          <c:h val="0.627143919510061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month'!$L$78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&quot;$&quot;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noAutofit/>
                </a:bodyPr>
                <a:lstStyle/>
                <a:p>
                  <a:pPr>
                    <a:defRPr lang="en-US" sz="700" b="1" i="0" u="none" strike="noStrike" kern="1200" baseline="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56322725284339"/>
                      <c:h val="0.119791077868188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181524827472"/>
                      <c:h val="0.125349042395016"/>
                    </c:manualLayout>
                  </c15:layout>
                </c:ext>
              </c:extLst>
            </c:dLbl>
            <c:dLbl>
              <c:idx val="2"/>
              <c:layout/>
              <c:numFmt formatCode="&quot;$&quot;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noAutofit/>
                </a:bodyPr>
                <a:lstStyle/>
                <a:p>
                  <a:pPr>
                    <a:defRPr lang="en-US" sz="700" b="1" i="0" u="none" strike="noStrike" kern="1200" baseline="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027777777778"/>
                      <c:h val="0.096271563717306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month'!$I$79:$I$81</c:f>
              <c:strCache>
                <c:ptCount val="3"/>
                <c:pt idx="0">
                  <c:v>W NIKE AIR WINFL..</c:v>
                </c:pt>
                <c:pt idx="1">
                  <c:v>NIKE AIR WINFLO..</c:v>
                </c:pt>
                <c:pt idx="2">
                  <c:v>NIKE AIR WINFLO..</c:v>
                </c:pt>
              </c:strCache>
            </c:strRef>
          </c:cat>
          <c:val>
            <c:numRef>
              <c:f>'[CoPQ type analysis (1).xlsx]Current month'!$L$79:$L$81</c:f>
              <c:numCache>
                <c:formatCode>"$"#,##0.00</c:formatCode>
                <c:ptCount val="3"/>
                <c:pt idx="0">
                  <c:v>314.82</c:v>
                </c:pt>
                <c:pt idx="1">
                  <c:v>56.86</c:v>
                </c:pt>
                <c:pt idx="2">
                  <c:v>28.17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68688"/>
        <c:axId val="-10340583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month'!$I$79:$I$81</c15:sqref>
                        </c15:formulaRef>
                      </c:ext>
                    </c:extLst>
                    <c:strCache>
                      <c:ptCount val="3"/>
                      <c:pt idx="0">
                        <c:v>W NIKE AIR WINFLO 12 GTX</c:v>
                      </c:pt>
                      <c:pt idx="1">
                        <c:v>W AIR WINFLO 11 GTX</c:v>
                      </c:pt>
                      <c:pt idx="2">
                        <c:v>NIKE AIR MAX EXCEE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{4766,1072,1632}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4766</c:v>
                      </c:pt>
                      <c:pt idx="1">
                        <c:v>1072</c:v>
                      </c:pt>
                      <c:pt idx="2">
                        <c:v>1632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month'!$K$78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-0.027432860541848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/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9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135978835978836"/>
                            <c:h val="0.0388057742782152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month'!$I$79:$I$81</c15:sqref>
                        </c15:formulaRef>
                      </c:ext>
                    </c:extLst>
                    <c:strCache>
                      <c:ptCount val="3"/>
                      <c:pt idx="0">
                        <c:v>W NIKE AIR WINFLO 12 GTX</c:v>
                      </c:pt>
                      <c:pt idx="1">
                        <c:v>W AIR WINFLO 11 GTX</c:v>
                      </c:pt>
                      <c:pt idx="2">
                        <c:v>NIKE AIR MAX EXCEE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{40,13.5,7}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40</c:v>
                      </c:pt>
                      <c:pt idx="1">
                        <c:v>13.5</c:v>
                      </c:pt>
                      <c:pt idx="2">
                        <c:v>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58352"/>
        <c:crosses val="autoZero"/>
        <c:auto val="1"/>
        <c:lblAlgn val="ctr"/>
        <c:lblOffset val="100"/>
        <c:noMultiLvlLbl val="0"/>
      </c:catAx>
      <c:valAx>
        <c:axId val="-1034058352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6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354166666666667"/>
          <c:y val="0.00834724540901502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month'!$L$69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0.0595437603048545"/>
                  <c:y val="-0.17143500021133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306243805748"/>
                      <c:h val="0.294248490625993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"/>
                  <c:y val="0.011266281957887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299040688058"/>
                      <c:h val="0.227344490053679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260718163539088"/>
                  <c:y val="0.057320381068128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3609961424356"/>
                      <c:h val="0.23192668488273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144309376147697"/>
                  <c:y val="0.0015787811809283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4257360238174"/>
                      <c:h val="0.29643195453110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month'!$I$70:$I$73</c:f>
              <c:strCache>
                <c:ptCount val="3"/>
                <c:pt idx="0">
                  <c:v>Factory 1</c:v>
                </c:pt>
                <c:pt idx="1">
                  <c:v>Factory 5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month'!$L$70:$L$73</c:f>
              <c:numCache>
                <c:formatCode>"$"#,##0.00</c:formatCode>
                <c:ptCount val="3"/>
                <c:pt idx="0">
                  <c:v>364.9</c:v>
                </c:pt>
                <c:pt idx="1">
                  <c:v>112.2</c:v>
                </c:pt>
                <c:pt idx="2">
                  <c:v>67.74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0550652464123"/>
          <c:y val="0.182224441063554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month'!$AP$69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0.0108661417322835"/>
                  <c:y val="-0.40182836946870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9858772406301"/>
                      <c:h val="0.26051513903040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month'!$AM$70</c:f>
              <c:strCache>
                <c:ptCount val="1"/>
                <c:pt idx="0">
                  <c:v>Factory 1</c:v>
                </c:pt>
              </c:strCache>
            </c:strRef>
          </c:cat>
          <c:val>
            <c:numRef>
              <c:f>'[CoPQ type analysis (1).xlsx]Current month'!$AP$70</c:f>
              <c:numCache>
                <c:formatCode>"$"#,##0.00</c:formatCode>
                <c:ptCount val="1"/>
                <c:pt idx="0">
                  <c:v>97.8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46571261925593"/>
          <c:y val="0.229188538932633"/>
          <c:w val="0.943136274632338"/>
          <c:h val="0.5261841644794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month'!$AP$78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1514224257449"/>
                      <c:h val="0.12537562604340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23515109413"/>
                      <c:h val="0.1240957150806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month'!$AM$79:$AM$81</c:f>
              <c:strCache>
                <c:ptCount val="3"/>
                <c:pt idx="0">
                  <c:v>JORDAN COURT CON..</c:v>
                </c:pt>
                <c:pt idx="1">
                  <c:v>W NIKE DUNK LOW</c:v>
                </c:pt>
                <c:pt idx="2">
                  <c:v>WMNS AIR JORDAN..</c:v>
                </c:pt>
              </c:strCache>
            </c:strRef>
          </c:cat>
          <c:val>
            <c:numRef>
              <c:f>'[CoPQ type analysis (1).xlsx]Current month'!$AP$79:$AP$81</c:f>
              <c:numCache>
                <c:formatCode>"$"#,##0.00</c:formatCode>
                <c:ptCount val="3"/>
                <c:pt idx="0">
                  <c:v>34.66</c:v>
                </c:pt>
                <c:pt idx="1">
                  <c:v>22.59</c:v>
                </c:pt>
                <c:pt idx="2">
                  <c:v>8.98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2765264"/>
        <c:axId val="6027522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month'!$AN$78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46990228394262"/>
                            <c:h val="0.138953811908737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month'!$AM$79:$AM$81</c15:sqref>
                        </c15:formulaRef>
                      </c:ext>
                    </c:extLst>
                    <c:strCache>
                      <c:ptCount val="3"/>
                      <c:pt idx="0">
                        <c:v>BENASSI JDI</c:v>
                      </c:pt>
                      <c:pt idx="1">
                        <c:v>NIKE AIR MAX EXCEE</c:v>
                      </c:pt>
                      <c:pt idx="2">
                        <c:v>NIKE DUNK LOW RETRO SE - FQ8249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{3075,1160,512}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3075</c:v>
                      </c:pt>
                      <c:pt idx="1">
                        <c:v>1160</c:v>
                      </c:pt>
                      <c:pt idx="2">
                        <c:v>512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month'!$AO$78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1.51563504857381e-17"/>
                        <c:y val="-0.044368766404199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330687830687831"/>
                        <c:y val="-0.049939195100612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-0.0388328958880141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month'!$AM$79:$AM$81</c15:sqref>
                        </c15:formulaRef>
                      </c:ext>
                    </c:extLst>
                    <c:strCache>
                      <c:ptCount val="3"/>
                      <c:pt idx="0">
                        <c:v>BENASSI JDI</c:v>
                      </c:pt>
                      <c:pt idx="1">
                        <c:v>NIKE AIR MAX EXCEE</c:v>
                      </c:pt>
                      <c:pt idx="2">
                        <c:v>NIKE DUNK LOW RETRO SE - FQ8249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{24,6,3}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24</c:v>
                      </c:pt>
                      <c:pt idx="1">
                        <c:v>6</c:v>
                      </c:pt>
                      <c:pt idx="2">
                        <c:v>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60276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602752208"/>
        <c:crosses val="autoZero"/>
        <c:auto val="1"/>
        <c:lblAlgn val="ctr"/>
        <c:lblOffset val="100"/>
        <c:noMultiLvlLbl val="0"/>
      </c:catAx>
      <c:valAx>
        <c:axId val="602752208"/>
        <c:scaling>
          <c:orientation val="minMax"/>
          <c:max val="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602765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271238642246032"/>
          <c:y val="0.306783817902173"/>
          <c:w val="0.949330045339972"/>
          <c:h val="0.604848240871808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month'!$R$78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640237859267"/>
                      <c:h val="0.12520144484579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175421209118"/>
                      <c:h val="0.12520144484579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851054420972"/>
                      <c:h val="0.1252014448457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month'!$O$79:$O$81</c:f>
              <c:strCache>
                <c:ptCount val="3"/>
                <c:pt idx="0">
                  <c:v>NIKE STAR RUNNER..</c:v>
                </c:pt>
                <c:pt idx="1">
                  <c:v>COURT BOROUGH LO..</c:v>
                </c:pt>
                <c:pt idx="2">
                  <c:v>NIKE EBERNON LOW..</c:v>
                </c:pt>
              </c:strCache>
            </c:strRef>
          </c:cat>
          <c:val>
            <c:numRef>
              <c:f>'[CoPQ type analysis (1).xlsx]Current month'!$R$79:$R$81</c:f>
              <c:numCache>
                <c:formatCode>"$"#,##0.00</c:formatCode>
                <c:ptCount val="3"/>
                <c:pt idx="0">
                  <c:v>74.06</c:v>
                </c:pt>
                <c:pt idx="1">
                  <c:v>72.05</c:v>
                </c:pt>
                <c:pt idx="2">
                  <c:v>63.94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67600"/>
        <c:axId val="-103404584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61380905186653"/>
                            <c:h val="0.138760766879689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month'!$O$79:$O$81</c15:sqref>
                        </c15:formulaRef>
                      </c:ext>
                    </c:extLst>
                    <c:strCache>
                      <c:ptCount val="3"/>
                      <c:pt idx="0">
                        <c:v>NIKE EBERNON LOW                        </c:v>
                      </c:pt>
                      <c:pt idx="1">
                        <c:v>NIKE EBERNON LOW PREM</c:v>
                      </c:pt>
                      <c:pt idx="2">
                        <c:v>NIKE INITIATOR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{8338,8002,7577}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8338</c:v>
                      </c:pt>
                      <c:pt idx="1">
                        <c:v>8002</c:v>
                      </c:pt>
                      <c:pt idx="2">
                        <c:v>7577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month'!$Q$78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month'!$O$79:$O$81</c15:sqref>
                        </c15:formulaRef>
                      </c:ext>
                    </c:extLst>
                    <c:strCache>
                      <c:ptCount val="3"/>
                      <c:pt idx="0">
                        <c:v>NIKE EBERNON LOW                        </c:v>
                      </c:pt>
                      <c:pt idx="1">
                        <c:v>NIKE EBERNON LOW PREM</c:v>
                      </c:pt>
                      <c:pt idx="2">
                        <c:v>NIKE INITIATOR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{32.7,34.5,29}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32.7</c:v>
                      </c:pt>
                      <c:pt idx="1">
                        <c:v>34.5</c:v>
                      </c:pt>
                      <c:pt idx="2">
                        <c:v>29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45840"/>
        <c:crosses val="autoZero"/>
        <c:auto val="1"/>
        <c:lblAlgn val="ctr"/>
        <c:lblOffset val="100"/>
        <c:noMultiLvlLbl val="0"/>
      </c:catAx>
      <c:valAx>
        <c:axId val="-1034045840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6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00233879051119"/>
          <c:y val="0.00834724540901502"/>
          <c:w val="0.324286669319952"/>
          <c:h val="0.08035259138037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7826334208224"/>
          <c:y val="0.207340467899896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month'!$R$69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7.89491928622334e-17"/>
                  <c:y val="-0.24965801811193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19269418794134"/>
                      <c:h val="0.19848772497554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14997083697871"/>
                  <c:y val="0.094697218245446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3129825026624"/>
                      <c:h val="0.2588059391764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month'!$O$70:$O$71</c:f>
              <c:strCache>
                <c:ptCount val="2"/>
                <c:pt idx="0">
                  <c:v>Factory 3</c:v>
                </c:pt>
                <c:pt idx="1">
                  <c:v>Factory 1</c:v>
                </c:pt>
              </c:strCache>
            </c:strRef>
          </c:cat>
          <c:val>
            <c:numRef>
              <c:f>'[CoPQ type analysis (1).xlsx]Current month'!$R$70:$R$71</c:f>
              <c:numCache>
                <c:formatCode>"$"#,##0.00</c:formatCode>
                <c:ptCount val="2"/>
                <c:pt idx="0">
                  <c:v>393.72</c:v>
                </c:pt>
                <c:pt idx="1">
                  <c:v>186.73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374144510429754"/>
          <c:y val="0.445711297757689"/>
          <c:w val="0.960166896878227"/>
          <c:h val="0.463753054763681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month'!$X$78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650020464055"/>
                      <c:h val="0.13892434925004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5913445655765"/>
                      <c:h val="0.13885839736553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5157181169995"/>
                      <c:h val="0.13876076687968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month'!$U$79:$U$81</c:f>
              <c:strCache>
                <c:ptCount val="3"/>
                <c:pt idx="0">
                  <c:v>WMNS NIKE INITIA..</c:v>
                </c:pt>
                <c:pt idx="1">
                  <c:v>NIKE DUNK LOW (GS)</c:v>
                </c:pt>
                <c:pt idx="2">
                  <c:v>AIR JORDAN 1 LOW..</c:v>
                </c:pt>
              </c:strCache>
            </c:strRef>
          </c:cat>
          <c:val>
            <c:numRef>
              <c:f>'[CoPQ type analysis (1).xlsx]Current month'!$X$79:$X$81</c:f>
              <c:numCache>
                <c:formatCode>"$"#,##0.00</c:formatCode>
                <c:ptCount val="3"/>
                <c:pt idx="0">
                  <c:v>176.61</c:v>
                </c:pt>
                <c:pt idx="1">
                  <c:v>146.16</c:v>
                </c:pt>
                <c:pt idx="2">
                  <c:v>111.65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56176"/>
        <c:axId val="-103405563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month'!$V$78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month'!$U$79:$U$81</c15:sqref>
                        </c15:formulaRef>
                      </c:ext>
                    </c:extLst>
                    <c:strCache>
                      <c:ptCount val="3"/>
                      <c:pt idx="0">
                        <c:v>JORDAN 1 LOW ALT (PS)</c:v>
                      </c:pt>
                      <c:pt idx="1">
                        <c:v>AIR JORDAN 1 LOW</c:v>
                      </c:pt>
                      <c:pt idx="2">
                        <c:v>W NIKE COURT VISION LO NN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{1780,7083,5707}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1780</c:v>
                      </c:pt>
                      <c:pt idx="1">
                        <c:v>7083</c:v>
                      </c:pt>
                      <c:pt idx="2">
                        <c:v>5707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month'!$W$78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0.00668106690851781"/>
                        <c:y val="-0.03876769087482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-1.22484811701163e-16"/>
                        <c:y val="-0.027737644534436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-0.034197389565821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month'!$U$79:$U$81</c15:sqref>
                        </c15:formulaRef>
                      </c:ext>
                    </c:extLst>
                    <c:strCache>
                      <c:ptCount val="3"/>
                      <c:pt idx="0">
                        <c:v>JORDAN 1 LOW ALT (PS)</c:v>
                      </c:pt>
                      <c:pt idx="1">
                        <c:v>AIR JORDAN 1 LOW</c:v>
                      </c:pt>
                      <c:pt idx="2">
                        <c:v>W NIKE COURT VISION LO NN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{109,68,81}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109</c:v>
                      </c:pt>
                      <c:pt idx="1">
                        <c:v>68</c:v>
                      </c:pt>
                      <c:pt idx="2">
                        <c:v>81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5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55632"/>
        <c:crosses val="autoZero"/>
        <c:auto val="1"/>
        <c:lblAlgn val="ctr"/>
        <c:lblOffset val="100"/>
        <c:noMultiLvlLbl val="0"/>
      </c:catAx>
      <c:valAx>
        <c:axId val="-1034055632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56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00233879051119"/>
          <c:y val="0.00834724540901502"/>
          <c:w val="0.324286669319952"/>
          <c:h val="0.08035259138037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7826334208224"/>
          <c:y val="0.207340467899896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month'!$X$69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2.60384118651835e-7"/>
                  <c:y val="-0.00968327411867959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19269418794134"/>
                      <c:h val="0.19848772497554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21610840311628"/>
                  <c:y val="-0.16710416723643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3129825026624"/>
                      <c:h val="0.2588059391764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103467847769029"/>
                  <c:y val="0.067810159682346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29657794676806"/>
                      <c:h val="0.19848772497554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month'!$U$70:$U$72</c:f>
              <c:strCache>
                <c:ptCount val="3"/>
                <c:pt idx="0">
                  <c:v>Factory 2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month'!$X$70:$X$72</c:f>
              <c:numCache>
                <c:formatCode>"$"#,##0.00</c:formatCode>
                <c:ptCount val="3"/>
                <c:pt idx="0">
                  <c:v>783.58</c:v>
                </c:pt>
                <c:pt idx="1">
                  <c:v>627.27</c:v>
                </c:pt>
                <c:pt idx="2">
                  <c:v>426.3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9615440612922"/>
          <c:y val="0.213354605384973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month'!$AD$69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0.0682029943146584"/>
                  <c:y val="-0.155728207740849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2626565292839"/>
                      <c:h val="0.21175049307177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17342115822551"/>
                  <c:y val="0.036864366169475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6039542045993"/>
                      <c:h val="0.21175049307177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month'!$AA$70:$AA$71</c:f>
              <c:strCache>
                <c:ptCount val="2"/>
                <c:pt idx="0">
                  <c:v>OS</c:v>
                </c:pt>
                <c:pt idx="1">
                  <c:v>IP</c:v>
                </c:pt>
              </c:strCache>
            </c:strRef>
          </c:cat>
          <c:val>
            <c:numRef>
              <c:f>'[CoPQ type analysis (1).xlsx]Current month'!$AD$70:$AD$71</c:f>
              <c:numCache>
                <c:formatCode>"$"#,##0.00</c:formatCode>
                <c:ptCount val="2"/>
                <c:pt idx="0">
                  <c:v>314.52</c:v>
                </c:pt>
                <c:pt idx="1">
                  <c:v>198.86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b="1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363267091613548"/>
          <c:y val="0.2458552055993"/>
          <c:w val="0.972430340671284"/>
          <c:h val="0.575100612423447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month'!$AD$78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193121693122"/>
                      <c:h val="0.125166666666667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7579365079365"/>
                      <c:h val="0.12516666666666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month'!$AA$79:$AA$81</c:f>
              <c:strCache>
                <c:ptCount val="3"/>
                <c:pt idx="0">
                  <c:v>NIKE DUNK LOW RE..</c:v>
                </c:pt>
                <c:pt idx="1">
                  <c:v>JORDAN 1 LOW ALT..</c:v>
                </c:pt>
                <c:pt idx="2">
                  <c:v>JORDAN COURT CON..</c:v>
                </c:pt>
              </c:strCache>
            </c:strRef>
          </c:cat>
          <c:val>
            <c:numRef>
              <c:f>'[CoPQ type analysis (1).xlsx]Current month'!$AD$79:$AD$81</c:f>
              <c:numCache>
                <c:formatCode>"$"#,##0.00</c:formatCode>
                <c:ptCount val="3"/>
                <c:pt idx="0">
                  <c:v>131.89</c:v>
                </c:pt>
                <c:pt idx="1">
                  <c:v>91.32</c:v>
                </c:pt>
                <c:pt idx="2">
                  <c:v>87.25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69776"/>
        <c:axId val="-10340719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month'!$AB$78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41798941798942"/>
                            <c:h val="0.138722222222222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month'!$AA$79:$AA$81</c15:sqref>
                        </c15:formulaRef>
                      </c:ext>
                    </c:extLst>
                    <c:strCache>
                      <c:ptCount val="3"/>
                      <c:pt idx="0">
                        <c:v>NIKE EBERNON MW</c:v>
                      </c:pt>
                      <c:pt idx="1">
                        <c:v>DOWN SHIFTER (Xcceleration)</c:v>
                      </c:pt>
                      <c:pt idx="2">
                        <c:v>JORDAN COURT CONNECT LOW (PS)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{20486,11475,9615}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20486</c:v>
                      </c:pt>
                      <c:pt idx="1">
                        <c:v>11475</c:v>
                      </c:pt>
                      <c:pt idx="2">
                        <c:v>9615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month'!$AC$78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0.0198412698412699"/>
                        <c:y val="-0.0220835520559931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-1.27336948206098e-16"/>
                        <c:y val="-0.041015866338911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month'!$AA$79:$AA$81</c15:sqref>
                        </c15:formulaRef>
                      </c:ext>
                    </c:extLst>
                    <c:strCache>
                      <c:ptCount val="3"/>
                      <c:pt idx="0">
                        <c:v>NIKE EBERNON MW</c:v>
                      </c:pt>
                      <c:pt idx="1">
                        <c:v>DOWN SHIFTER (Xcceleration)</c:v>
                      </c:pt>
                      <c:pt idx="2">
                        <c:v>JORDAN COURT CONNECT LOW (PS)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{23.5,17,11.5}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23.5</c:v>
                      </c:pt>
                      <c:pt idx="1">
                        <c:v>17</c:v>
                      </c:pt>
                      <c:pt idx="2">
                        <c:v>11.5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71952"/>
        <c:crosses val="autoZero"/>
        <c:auto val="1"/>
        <c:lblAlgn val="ctr"/>
        <c:lblOffset val="100"/>
        <c:noMultiLvlLbl val="0"/>
      </c:catAx>
      <c:valAx>
        <c:axId val="-1034071952"/>
        <c:scaling>
          <c:orientation val="minMax"/>
          <c:max val="1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6977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856195944237791"/>
          <c:y val="0.25651798397138"/>
          <c:w val="0.972430340671284"/>
          <c:h val="0.430581958157235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month'!$F$95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267432039375"/>
                      <c:h val="0.139031180400891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722163627276"/>
                      <c:h val="0.189226277116251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month'!$C$96:$C$98</c:f>
              <c:strCache>
                <c:ptCount val="3"/>
                <c:pt idx="0">
                  <c:v>JORDAN TRUE FLIG..</c:v>
                </c:pt>
                <c:pt idx="1">
                  <c:v>JORDAN MVP 92 (PS)</c:v>
                </c:pt>
                <c:pt idx="2">
                  <c:v>JORDAN TRUE FLIG..</c:v>
                </c:pt>
              </c:strCache>
            </c:strRef>
          </c:cat>
          <c:val>
            <c:numRef>
              <c:f>'[CoPQ type analysis (1).xlsx]Current month'!$F$96:$F$98</c:f>
              <c:numCache>
                <c:formatCode>"$"#,##0.00</c:formatCode>
                <c:ptCount val="3"/>
                <c:pt idx="0">
                  <c:v>1164.66</c:v>
                </c:pt>
                <c:pt idx="1">
                  <c:v>983.08</c:v>
                </c:pt>
                <c:pt idx="2">
                  <c:v>695.69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37680"/>
        <c:axId val="-103406161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month'!$C$96:$C$98</c15:sqref>
                        </c15:formulaRef>
                      </c:ext>
                    </c:extLst>
                    <c:strCache>
                      <c:ptCount val="3"/>
                      <c:pt idx="0">
                        <c:v>JORDAN MVP 92 (PS) </c:v>
                      </c:pt>
                      <c:pt idx="1">
                        <c:v>JORDAN MVP 92 (TD) </c:v>
                      </c:pt>
                      <c:pt idx="2">
                        <c:v>JORDAN TRUE FLIGHT GS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{6270,10480,11449}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6270</c:v>
                      </c:pt>
                      <c:pt idx="1">
                        <c:v>10480</c:v>
                      </c:pt>
                      <c:pt idx="2">
                        <c:v>11449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month'!$E$95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0.0338810655349596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"/>
                        <c:y val="-0.016300001753678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month'!$C$96:$C$98</c15:sqref>
                        </c15:formulaRef>
                      </c:ext>
                    </c:extLst>
                    <c:strCache>
                      <c:ptCount val="3"/>
                      <c:pt idx="0">
                        <c:v>JORDAN MVP 92 (PS) </c:v>
                      </c:pt>
                      <c:pt idx="1">
                        <c:v>JORDAN MVP 92 (TD) </c:v>
                      </c:pt>
                      <c:pt idx="2">
                        <c:v>JORDAN TRUE FLIGHT GS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{37.1,53.5,58.5}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37.1</c:v>
                      </c:pt>
                      <c:pt idx="1">
                        <c:v>53.5</c:v>
                      </c:pt>
                      <c:pt idx="2">
                        <c:v>58.5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3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61616"/>
        <c:crosses val="autoZero"/>
        <c:auto val="1"/>
        <c:lblAlgn val="ctr"/>
        <c:lblOffset val="100"/>
        <c:noMultiLvlLbl val="0"/>
      </c:catAx>
      <c:valAx>
        <c:axId val="-1034061616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37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00249728626942755"/>
          <c:y val="0.00218552163162232"/>
          <c:w val="0.2526341752664"/>
          <c:h val="0.08050918050611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month'!$F$87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0.315588910761155"/>
                  <c:y val="-0.226371609798775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4872665534805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month'!$C$88:$C$89</c:f>
              <c:strCache>
                <c:ptCount val="1"/>
                <c:pt idx="0">
                  <c:v>OS</c:v>
                </c:pt>
              </c:strCache>
            </c:strRef>
          </c:cat>
          <c:val>
            <c:numRef>
              <c:f>'[CoPQ type analysis (1).xlsx]Current month'!$F$88:$F$89</c:f>
              <c:numCache>
                <c:formatCode>"$"#,##0.00</c:formatCode>
                <c:ptCount val="1"/>
                <c:pt idx="0">
                  <c:v>3095.89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month'!$L$87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-0.000679117147708042"/>
                  <c:y val="-0.40805073063137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4872665534805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month'!$I$88</c:f>
              <c:strCache>
                <c:ptCount val="1"/>
                <c:pt idx="0">
                  <c:v>OS</c:v>
                </c:pt>
              </c:strCache>
            </c:strRef>
          </c:cat>
          <c:val>
            <c:numRef>
              <c:f>'[CoPQ type analysis (1).xlsx]Current month'!$L$88</c:f>
              <c:numCache>
                <c:formatCode>"$"#,##0.00</c:formatCode>
                <c:ptCount val="1"/>
                <c:pt idx="0">
                  <c:v>2325.06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838477351"/>
          <c:y val="0.207681603117172"/>
          <c:w val="0.972430340671284"/>
          <c:h val="0.4463284908757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month'!$L$95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&quot;$&quot;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lstStyle/>
                <a:p>
                  <a:pPr>
                    <a:defRPr lang="en-US" sz="700" b="1" i="0" u="none" strike="noStrike" kern="1200" baseline="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5633152634418"/>
                      <c:h val="0.13899248538825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month'!$I$96</c:f>
              <c:strCache>
                <c:ptCount val="1"/>
                <c:pt idx="0">
                  <c:v>DOWN SHIFTER (Xc..</c:v>
                </c:pt>
              </c:strCache>
            </c:strRef>
          </c:cat>
          <c:val>
            <c:numRef>
              <c:f>'[CoPQ type analysis (1).xlsx]Current month'!$L$96</c:f>
              <c:numCache>
                <c:formatCode>"$"#,##0.00</c:formatCode>
                <c:ptCount val="1"/>
                <c:pt idx="0">
                  <c:v>2325.06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62704"/>
        <c:axId val="-103406216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month'!$I$96</c15:sqref>
                        </c15:formulaRef>
                      </c:ext>
                    </c:extLst>
                    <c:strCache>
                      <c:ptCount val="1"/>
                      <c:pt idx="0">
                        <c:v>DOWN SHIFTER (Xcceleration)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{17479}</c15:sqref>
                        </c15:formulaRef>
                      </c:ext>
                    </c:extLst>
                    <c:numCache>
                      <c:formatCode>#,##0</c:formatCode>
                      <c:ptCount val="1"/>
                      <c:pt idx="0">
                        <c:v>17479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month'!$K$95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month'!$I$96</c15:sqref>
                        </c15:formulaRef>
                      </c:ext>
                    </c:extLst>
                    <c:strCache>
                      <c:ptCount val="1"/>
                      <c:pt idx="0">
                        <c:v>DOWN SHIFTER (Xcceleration)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{206}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206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62160"/>
        <c:crosses val="autoZero"/>
        <c:auto val="1"/>
        <c:lblAlgn val="ctr"/>
        <c:lblOffset val="100"/>
        <c:noMultiLvlLbl val="0"/>
      </c:catAx>
      <c:valAx>
        <c:axId val="-1034062160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62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834724540901502"/>
          <c:w val="0.254606309945627"/>
          <c:h val="0.08048677327524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206847084554175"/>
          <c:w val="1"/>
          <c:h val="0.480525343460929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month'!$AJ$95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&quot;$&quot;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noAutofit/>
                </a:bodyPr>
                <a:lstStyle/>
                <a:p>
                  <a:pPr>
                    <a:defRPr lang="en-US" sz="700" b="1" i="0" u="none" strike="noStrike" kern="1200" baseline="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11760775142"/>
                      <c:h val="0.10127991096271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974941530237"/>
                      <c:h val="0.13745130773511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month'!$AG$96:$AG$98</c:f>
              <c:strCache>
                <c:ptCount val="3"/>
                <c:pt idx="0">
                  <c:v>AIR JORDAN 1 MID..</c:v>
                </c:pt>
                <c:pt idx="1">
                  <c:v>NIKE DUNK LOW RE..</c:v>
                </c:pt>
                <c:pt idx="2">
                  <c:v>AIR JORDAN 1 MID..</c:v>
                </c:pt>
              </c:strCache>
            </c:strRef>
          </c:cat>
          <c:val>
            <c:numRef>
              <c:f>'[CoPQ type analysis (1).xlsx]Current month'!$AJ$96:$AJ$98</c:f>
              <c:numCache>
                <c:formatCode>"$"#,##0.00</c:formatCode>
                <c:ptCount val="3"/>
                <c:pt idx="0">
                  <c:v>1651.25</c:v>
                </c:pt>
                <c:pt idx="1">
                  <c:v>1225</c:v>
                </c:pt>
                <c:pt idx="2">
                  <c:v>457.5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19728"/>
        <c:axId val="-103400884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month'!$AH$95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month'!$AG$96:$AG$98</c15:sqref>
                        </c15:formulaRef>
                      </c:ext>
                    </c:extLst>
                    <c:strCache>
                      <c:ptCount val="3"/>
                      <c:pt idx="0">
                        <c:v>NIKE DUNK LOW RETRO</c:v>
                      </c:pt>
                      <c:pt idx="1">
                        <c:v>AIR JORDAN 1 MID GS</c:v>
                      </c:pt>
                      <c:pt idx="2">
                        <c:v>AIR JORDAN 1 MID MS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{3408,5423,20884}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3408</c:v>
                      </c:pt>
                      <c:pt idx="1">
                        <c:v>5423</c:v>
                      </c:pt>
                      <c:pt idx="2">
                        <c:v>20884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month'!$AI$95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0.0200333889816361"/>
                      </c:manualLayout>
                    </c:layout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-0.00198412698412698"/>
                        <c:y val="0.00890372843628269"/>
                      </c:manualLayout>
                    </c:layout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month'!$AG$96:$AG$98</c15:sqref>
                        </c15:formulaRef>
                      </c:ext>
                    </c:extLst>
                    <c:strCache>
                      <c:ptCount val="3"/>
                      <c:pt idx="0">
                        <c:v>NIKE DUNK LOW RETRO</c:v>
                      </c:pt>
                      <c:pt idx="1">
                        <c:v>AIR JORDAN 1 MID GS</c:v>
                      </c:pt>
                      <c:pt idx="2">
                        <c:v>AIR JORDAN 1 MID MS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{65.6,105.4,406.4}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65.6</c:v>
                      </c:pt>
                      <c:pt idx="1">
                        <c:v>105.4</c:v>
                      </c:pt>
                      <c:pt idx="2">
                        <c:v>406.4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1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08848"/>
        <c:crosses val="autoZero"/>
        <c:auto val="1"/>
        <c:lblAlgn val="ctr"/>
        <c:lblOffset val="100"/>
        <c:noMultiLvlLbl val="0"/>
      </c:catAx>
      <c:valAx>
        <c:axId val="-1034008848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1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139120756816917"/>
          <c:w val="0.25728926354367"/>
          <c:h val="0.07900141624778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234679152607863"/>
          <c:w val="0.977602799650044"/>
          <c:h val="0.48072129441173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month'!$R$95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0251862503536851"/>
                  <c:y val="-0.039984779696907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5317348722132"/>
                      <c:h val="0.14263142129025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ysClr val="windowText" lastClr="000000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month'!$O$96</c:f>
              <c:strCache>
                <c:ptCount val="1"/>
                <c:pt idx="0">
                  <c:v>DOWN SHIFTER (Xc..</c:v>
                </c:pt>
              </c:strCache>
            </c:strRef>
          </c:cat>
          <c:val>
            <c:numRef>
              <c:f>'[CoPQ type analysis (1).xlsx]Current month'!$R$96</c:f>
              <c:numCache>
                <c:formatCode>"$"#,##0.00</c:formatCode>
                <c:ptCount val="1"/>
                <c:pt idx="0">
                  <c:v>1308.72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34960"/>
        <c:axId val="-103402353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month'!$O$96</c15:sqref>
                        </c15:formulaRef>
                      </c:ext>
                    </c:extLst>
                    <c:strCache>
                      <c:ptCount val="1"/>
                      <c:pt idx="0">
                        <c:v>NSW AIR MAX 98 MW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{1418}</c15:sqref>
                        </c15:formulaRef>
                      </c:ext>
                    </c:extLst>
                    <c:numCache>
                      <c:formatCode>#,##0</c:formatCode>
                      <c:ptCount val="1"/>
                      <c:pt idx="0">
                        <c:v>1418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month'!$Q$95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month'!$O$96</c15:sqref>
                        </c15:formulaRef>
                      </c:ext>
                    </c:extLst>
                    <c:strCache>
                      <c:ptCount val="1"/>
                      <c:pt idx="0">
                        <c:v>NSW AIR MAX 98 MW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{37}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37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34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23536"/>
        <c:crosses val="autoZero"/>
        <c:auto val="1"/>
        <c:lblAlgn val="ctr"/>
        <c:lblOffset val="100"/>
        <c:noMultiLvlLbl val="0"/>
      </c:catAx>
      <c:valAx>
        <c:axId val="-1034023536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34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834724540901502"/>
          <c:w val="0.258375903999458"/>
          <c:h val="0.08259398222318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month'!$AJ$87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0.0210528989479032"/>
                  <c:y val="-0.424593327819134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471986417657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month'!$AG$88</c:f>
              <c:strCache>
                <c:ptCount val="1"/>
                <c:pt idx="0">
                  <c:v>OS</c:v>
                </c:pt>
              </c:strCache>
            </c:strRef>
          </c:cat>
          <c:val>
            <c:numRef>
              <c:f>'[CoPQ type analysis (1).xlsx]Current month'!$AJ$88</c:f>
              <c:numCache>
                <c:formatCode>"$"#,##0.00</c:formatCode>
                <c:ptCount val="1"/>
                <c:pt idx="0">
                  <c:v>3333.75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month'!$R$87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0.017142220118517"/>
                  <c:y val="-0.41861701040879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471986417657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month'!$O$88</c:f>
              <c:strCache>
                <c:ptCount val="1"/>
                <c:pt idx="0">
                  <c:v>Stockfitting</c:v>
                </c:pt>
              </c:strCache>
            </c:strRef>
          </c:cat>
          <c:val>
            <c:numRef>
              <c:f>'[CoPQ type analysis (1).xlsx]Current month'!$R$88</c:f>
              <c:numCache>
                <c:formatCode>"$"#,##0.00</c:formatCode>
                <c:ptCount val="1"/>
                <c:pt idx="0">
                  <c:v>1308.72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331D6-73D7-47DA-9DC0-C7A32C4BC61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04416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6042" y="6398132"/>
            <a:ext cx="2743200" cy="365125"/>
          </a:xfrm>
          <a:prstGeom prst="rect">
            <a:avLst/>
          </a:prstGeo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" y="6287770"/>
            <a:ext cx="338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300">
                <a:solidFill>
                  <a:schemeClr val="bg1"/>
                </a:solidFill>
                <a:latin typeface="Neo Sans Pro" panose="020B0504030504040204" pitchFamily="34" charset="0"/>
              </a:defRPr>
            </a:lvl1pPr>
          </a:lstStyle>
          <a:p>
            <a:r>
              <a:rPr lang="en-ID">
                <a:solidFill>
                  <a:prstClr val="white"/>
                </a:solidFill>
              </a:rPr>
              <a:t>MAKE IT RIGHT </a:t>
            </a:r>
            <a:endParaRPr lang="en-ID" sz="1200" dirty="0">
              <a:solidFill>
                <a:prstClr val="white"/>
              </a:solidFill>
            </a:endParaRPr>
          </a:p>
        </p:txBody>
      </p:sp>
      <p:sp>
        <p:nvSpPr>
          <p:cNvPr id="2" name="Title 6"/>
          <p:cNvSpPr>
            <a:spLocks noGrp="1"/>
          </p:cNvSpPr>
          <p:nvPr>
            <p:ph type="title"/>
          </p:nvPr>
        </p:nvSpPr>
        <p:spPr>
          <a:xfrm>
            <a:off x="1919312" y="317663"/>
            <a:ext cx="7211834" cy="5815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lnSpc>
                <a:spcPct val="100000"/>
              </a:lnSpc>
              <a:defRPr sz="2800" b="1" cap="none" spc="50" baseline="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919312" y="913517"/>
            <a:ext cx="7211834" cy="2222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>
                <a:solidFill>
                  <a:srgbClr val="3C4DA0"/>
                </a:solidFill>
                <a:latin typeface="Helvetica" pitchFamily="2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19312" y="1453399"/>
            <a:ext cx="7211834" cy="150018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4DA0"/>
                </a:solidFill>
              </a:defRPr>
            </a:lvl1pPr>
          </a:lstStyle>
          <a:p>
            <a:r>
              <a:rPr lang="en-ID" dirty="0"/>
              <a:t>MAKE IT RIGHT    </a:t>
            </a:r>
            <a:endParaRPr lang="en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6042" y="6398132"/>
            <a:ext cx="2743200" cy="365125"/>
          </a:xfrm>
          <a:prstGeom prst="rect">
            <a:avLst/>
          </a:prstGeo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35877"/>
            <a:ext cx="7211834" cy="5815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lnSpc>
                <a:spcPct val="100000"/>
              </a:lnSpc>
              <a:defRPr sz="2800" b="1" cap="none" spc="50" baseline="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838200" y="940286"/>
            <a:ext cx="7211834" cy="3651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 baseline="0">
                <a:solidFill>
                  <a:srgbClr val="3C4DA0"/>
                </a:solidFill>
                <a:latin typeface="Helvetica" pitchFamily="2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495" y="308884"/>
            <a:ext cx="1565591" cy="304872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46310"/>
            <a:ext cx="7211834" cy="150018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chart" Target="../charts/chart8.xml"/><Relationship Id="rId9" Type="http://schemas.openxmlformats.org/officeDocument/2006/relationships/chart" Target="../charts/chart9.xml"/><Relationship Id="rId10" Type="http://schemas.openxmlformats.org/officeDocument/2006/relationships/chart" Target="../charts/chart10.xml"/><Relationship Id="rId11" Type="http://schemas.openxmlformats.org/officeDocument/2006/relationships/chart" Target="../charts/chart11.xml"/><Relationship Id="rId12" Type="http://schemas.openxmlformats.org/officeDocument/2006/relationships/chart" Target="../charts/chart12.xml"/><Relationship Id="rId13" Type="http://schemas.openxmlformats.org/officeDocument/2006/relationships/chart" Target="../charts/chart13.xml"/><Relationship Id="rId14" Type="http://schemas.openxmlformats.org/officeDocument/2006/relationships/chart" Target="../charts/chart14.xml"/><Relationship Id="rId15" Type="http://schemas.openxmlformats.org/officeDocument/2006/relationships/chart" Target="../charts/chart15.xml"/><Relationship Id="rId16" Type="http://schemas.openxmlformats.org/officeDocument/2006/relationships/image" Target="../media/image4.png"/><Relationship Id="rId17" Type="http://schemas.microsoft.com/office/2007/relationships/hdphoto" Target="../media/image5.wdp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slideLayout" Target="../slideLayouts/slideLayout12.xml"/><Relationship Id="rId21" Type="http://schemas.openxmlformats.org/officeDocument/2006/relationships/hyperlink" Target="..\Database\CoPQ database 25.xls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6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Relationship Id="rId6" Type="http://schemas.openxmlformats.org/officeDocument/2006/relationships/chart" Target="../charts/chart21.xml"/><Relationship Id="rId7" Type="http://schemas.openxmlformats.org/officeDocument/2006/relationships/chart" Target="../charts/chart22.xml"/><Relationship Id="rId8" Type="http://schemas.openxmlformats.org/officeDocument/2006/relationships/chart" Target="../charts/chart23.xml"/><Relationship Id="rId9" Type="http://schemas.openxmlformats.org/officeDocument/2006/relationships/chart" Target="../charts/chart24.xml"/><Relationship Id="rId10" Type="http://schemas.openxmlformats.org/officeDocument/2006/relationships/chart" Target="../charts/chart25.xml"/><Relationship Id="rId11" Type="http://schemas.openxmlformats.org/officeDocument/2006/relationships/chart" Target="../charts/chart26.xml"/><Relationship Id="rId12" Type="http://schemas.openxmlformats.org/officeDocument/2006/relationships/chart" Target="../charts/chart27.xml"/><Relationship Id="rId13" Type="http://schemas.openxmlformats.org/officeDocument/2006/relationships/chart" Target="../charts/chart28.xml"/><Relationship Id="rId14" Type="http://schemas.openxmlformats.org/officeDocument/2006/relationships/chart" Target="../charts/chart29.xml"/><Relationship Id="rId15" Type="http://schemas.openxmlformats.org/officeDocument/2006/relationships/chart" Target="../charts/chart30.xml"/><Relationship Id="rId16" Type="http://schemas.openxmlformats.org/officeDocument/2006/relationships/chart" Target="../charts/chart31.xml"/><Relationship Id="rId17" Type="http://schemas.openxmlformats.org/officeDocument/2006/relationships/image" Target="../media/image8.emf"/><Relationship Id="rId18" Type="http://schemas.openxmlformats.org/officeDocument/2006/relationships/image" Target="../media/image9.emf"/><Relationship Id="rId19" Type="http://schemas.openxmlformats.org/officeDocument/2006/relationships/image" Target="../media/image10.emf"/><Relationship Id="rId20" Type="http://schemas.openxmlformats.org/officeDocument/2006/relationships/image" Target="../media/image11.emf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.xml"/><Relationship Id="rId23" Type="http://schemas.openxmlformats.org/officeDocument/2006/relationships/image" Target="../media/image12.png"/><Relationship Id="rId24" Type="http://schemas.openxmlformats.org/officeDocument/2006/relationships/image" Target="../media/image13.png"/><Relationship Id="rId25" Type="http://schemas.openxmlformats.org/officeDocument/2006/relationships/image" Target="../media/image14.png"/><Relationship Id="rId26" Type="http://schemas.openxmlformats.org/officeDocument/2006/relationships/image" Target="../media/image15.png"/><Relationship Id="rId27" Type="http://schemas.openxmlformats.org/officeDocument/2006/relationships/hyperlink" Target="..\Database\CoPQ_type_analysis.xlsx" TargetMode="External"/><Relationship Id="rId28" Type="http://schemas.openxmlformats.org/officeDocument/2006/relationships/hyperlink" Target="FTT_Combined_Report.xlsx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32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Relationship Id="rId6" Type="http://schemas.openxmlformats.org/officeDocument/2006/relationships/chart" Target="../charts/chart37.xml"/><Relationship Id="rId7" Type="http://schemas.openxmlformats.org/officeDocument/2006/relationships/chart" Target="../charts/chart38.xml"/><Relationship Id="rId8" Type="http://schemas.openxmlformats.org/officeDocument/2006/relationships/chart" Target="../charts/chart39.xml"/><Relationship Id="rId9" Type="http://schemas.openxmlformats.org/officeDocument/2006/relationships/chart" Target="../charts/chart40.xml"/><Relationship Id="rId10" Type="http://schemas.openxmlformats.org/officeDocument/2006/relationships/chart" Target="../charts/chart41.xml"/><Relationship Id="rId11" Type="http://schemas.openxmlformats.org/officeDocument/2006/relationships/chart" Target="../charts/chart42.xml"/><Relationship Id="rId12" Type="http://schemas.openxmlformats.org/officeDocument/2006/relationships/chart" Target="../charts/chart43.xml"/><Relationship Id="rId13" Type="http://schemas.openxmlformats.org/officeDocument/2006/relationships/slideLayout" Target="../slideLayouts/slideLayout13.xml"/><Relationship Id="rId14" Type="http://schemas.openxmlformats.org/officeDocument/2006/relationships/notesSlide" Target="../notesSlides/notesSlide2.xml"/><Relationship Id="rId15" Type="http://schemas.openxmlformats.org/officeDocument/2006/relationships/hyperlink" Target="..\Database\CoPQ_type_analysis.xlsx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4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chart" Target="../charts/chart47.xml"/><Relationship Id="rId5" Type="http://schemas.openxmlformats.org/officeDocument/2006/relationships/chart" Target="../charts/chart48.xml"/><Relationship Id="rId6" Type="http://schemas.openxmlformats.org/officeDocument/2006/relationships/chart" Target="../charts/chart49.xml"/><Relationship Id="rId7" Type="http://schemas.openxmlformats.org/officeDocument/2006/relationships/chart" Target="../charts/chart50.xml"/><Relationship Id="rId8" Type="http://schemas.openxmlformats.org/officeDocument/2006/relationships/chart" Target="../charts/chart51.xml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3.xml"/><Relationship Id="rId11" Type="http://schemas.openxmlformats.org/officeDocument/2006/relationships/hyperlink" Target="..\Database\CoPQ_type_analysis.xls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Table 102">
            <a:hlinkClick r:id="rId21"/>
          </p:cNvPr>
          <p:cNvGraphicFramePr>
            <a:graphicFrameLocks noGrp="1"/>
          </p:cNvGraphicFramePr>
          <p:nvPr/>
        </p:nvGraphicFramePr>
        <p:xfrm>
          <a:off x="1950720" y="2266079"/>
          <a:ext cx="10038525" cy="2407920"/>
        </p:xfrm>
        <a:graphic>
          <a:graphicData uri="http://schemas.openxmlformats.org/drawingml/2006/table">
            <a:tbl>
              <a:tblPr firstRow="1" bandRow="1"/>
              <a:tblGrid>
                <a:gridCol w="608629"/>
                <a:gridCol w="1347128"/>
                <a:gridCol w="1347128"/>
                <a:gridCol w="1347128"/>
                <a:gridCol w="1347128"/>
                <a:gridCol w="1347128"/>
                <a:gridCol w="1347128"/>
                <a:gridCol w="1347128"/>
              </a:tblGrid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VH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$5,900.36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897" marR="121897" marT="60948" marB="60948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VH2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$2,995.66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897" marR="121897" marT="60948" marB="60948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VH3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$97.80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VH4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$3,346.88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JV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$8,443.79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JV2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$2,607.22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JVB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$513.38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 Grade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Re-Inspect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Bottom touch-up paint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" name="Rounded Rectangle 64"/>
          <p:cNvSpPr/>
          <p:nvPr/>
        </p:nvSpPr>
        <p:spPr>
          <a:xfrm rot="16200000">
            <a:off x="8744696" y="-1106186"/>
            <a:ext cx="1435342" cy="4988016"/>
          </a:xfrm>
          <a:prstGeom prst="roundRect">
            <a:avLst>
              <a:gd name="adj" fmla="val 18487"/>
            </a:avLst>
          </a:prstGeom>
          <a:gradFill flip="none" rotWithShape="1">
            <a:gsLst>
              <a:gs pos="3900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CFCFCF"/>
              </a:gs>
              <a:gs pos="100000">
                <a:srgbClr val="E7E6E6">
                  <a:lumMod val="10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0" name="Chart 59">
            <a:hlinkClick r:id="rId21"/>
          </p:cNvPr>
          <p:cNvGraphicFramePr/>
          <p:nvPr/>
        </p:nvGraphicFramePr>
        <p:xfrm>
          <a:off x="8147982" y="573147"/>
          <a:ext cx="3211235" cy="159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8" name="Chart 57">
            <a:hlinkClick r:id="rId21"/>
          </p:cNvPr>
          <p:cNvGraphicFramePr/>
          <p:nvPr/>
        </p:nvGraphicFramePr>
        <p:xfrm>
          <a:off x="2304290" y="503985"/>
          <a:ext cx="3211115" cy="1561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4" name="Rounded Rectangle 63"/>
          <p:cNvSpPr/>
          <p:nvPr/>
        </p:nvSpPr>
        <p:spPr>
          <a:xfrm rot="5400000">
            <a:off x="3885627" y="-1455408"/>
            <a:ext cx="1371346" cy="5635583"/>
          </a:xfrm>
          <a:prstGeom prst="roundRect">
            <a:avLst>
              <a:gd name="adj" fmla="val 12703"/>
            </a:avLst>
          </a:prstGeom>
          <a:gradFill flip="none" rotWithShape="1">
            <a:gsLst>
              <a:gs pos="38000">
                <a:srgbClr val="5B9BD5">
                  <a:lumMod val="5000"/>
                  <a:lumOff val="95000"/>
                  <a:alpha val="0"/>
                </a:srgbClr>
              </a:gs>
              <a:gs pos="58000">
                <a:srgbClr val="106EF8">
                  <a:alpha val="10000"/>
                </a:srgbClr>
              </a:gs>
              <a:gs pos="100000">
                <a:srgbClr val="5B9BD5">
                  <a:lumMod val="20000"/>
                  <a:lumOff val="8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64850" y="6492875"/>
            <a:ext cx="427149" cy="365125"/>
          </a:xfr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930" y="6287770"/>
            <a:ext cx="1738019" cy="365125"/>
          </a:xfrm>
        </p:spPr>
        <p:txBody>
          <a:bodyPr/>
          <a:lstStyle/>
          <a:p>
            <a:r>
              <a:rPr lang="en-ID">
                <a:solidFill>
                  <a:prstClr val="white"/>
                </a:solidFill>
              </a:rPr>
              <a:t>MAKE IT RIGHT</a:t>
            </a:r>
            <a:endParaRPr lang="en-ID" dirty="0">
              <a:solidFill>
                <a:prstClr val="white"/>
              </a:solidFill>
            </a:endParaRPr>
          </a:p>
        </p:txBody>
      </p:sp>
      <p:pic>
        <p:nvPicPr>
          <p:cNvPr id="68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411" y="953420"/>
            <a:ext cx="895269" cy="8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ctangle 68">
            <a:hlinkClick r:id="rId21"/>
          </p:cNvPr>
          <p:cNvSpPr/>
          <p:nvPr/>
        </p:nvSpPr>
        <p:spPr>
          <a:xfrm>
            <a:off x="1165377" y="347443"/>
            <a:ext cx="5548922" cy="18284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hlinkClick r:id="rId21"/>
          </p:cNvPr>
          <p:cNvSpPr/>
          <p:nvPr/>
        </p:nvSpPr>
        <p:spPr>
          <a:xfrm>
            <a:off x="3350754" y="1252728"/>
            <a:ext cx="1021526" cy="283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$12,340.69</a:t>
            </a:r>
            <a:endParaRPr lang="en-US" sz="1250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2" descr="Home Pin Icons - Free SVG &amp; PNG Home Pin Images - Noun Project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160" y="2241228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>
            <a:hlinkClick r:id="rId21"/>
          </p:cNvPr>
          <p:cNvSpPr/>
          <p:nvPr/>
        </p:nvSpPr>
        <p:spPr>
          <a:xfrm>
            <a:off x="8436164" y="5297455"/>
            <a:ext cx="389811" cy="1094539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335" b="1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</a:rPr>
              <a:t>TOUCH-UP</a:t>
            </a:r>
            <a:endParaRPr kumimoji="0" lang="en-US" sz="1335" b="1" i="0" u="none" strike="noStrike" kern="1200" cap="none" spc="0" normalizeH="0" baseline="0" noProof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Arial Black" panose="020B0A04020102020204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376031" y="5251574"/>
            <a:ext cx="390084" cy="1243360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335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RE-INSPECT</a:t>
            </a:r>
            <a:endParaRPr kumimoji="0" lang="en-US" sz="1335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Black" panose="020B0A04020102020204" pitchFamily="34" charset="0"/>
            </a:endParaRPr>
          </a:p>
        </p:txBody>
      </p:sp>
      <p:pic>
        <p:nvPicPr>
          <p:cNvPr id="80" name="Picture 2" descr="Note Svg Png Icon Free Download (#408946) - OnlineWebFonts.COM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021" y="4805429"/>
            <a:ext cx="258893" cy="25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1" name="Group 80"/>
          <p:cNvGrpSpPr/>
          <p:nvPr/>
        </p:nvGrpSpPr>
        <p:grpSpPr>
          <a:xfrm>
            <a:off x="2009792" y="4805421"/>
            <a:ext cx="4451497" cy="1799259"/>
            <a:chOff x="2669473" y="4337325"/>
            <a:chExt cx="4452468" cy="1800948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4828646" y="4674047"/>
              <a:ext cx="0" cy="1464226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grpSp>
          <p:nvGrpSpPr>
            <p:cNvPr id="83" name="Group 82"/>
            <p:cNvGrpSpPr/>
            <p:nvPr/>
          </p:nvGrpSpPr>
          <p:grpSpPr>
            <a:xfrm>
              <a:off x="2669473" y="4337325"/>
              <a:ext cx="4452468" cy="1574912"/>
              <a:chOff x="2669473" y="4337325"/>
              <a:chExt cx="4452468" cy="1574912"/>
            </a:xfrm>
          </p:grpSpPr>
          <p:sp>
            <p:nvSpPr>
              <p:cNvPr id="84" name="Rectangle 83"/>
              <p:cNvSpPr/>
              <p:nvPr/>
            </p:nvSpPr>
            <p:spPr>
              <a:xfrm>
                <a:off x="2669473" y="4829775"/>
                <a:ext cx="390169" cy="1082462"/>
              </a:xfrm>
              <a:prstGeom prst="rect">
                <a:avLst/>
              </a:prstGeom>
            </p:spPr>
            <p:txBody>
              <a:bodyPr vert="vert270"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00" b="0" i="0" u="none" strike="noStrike" kern="1200" spc="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kumimoji="0" lang="en-US" sz="1335" b="1" i="0" u="none" strike="noStrike" kern="1200" cap="none" spc="0" normalizeH="0" baseline="0" noProof="0">
                    <a:ln>
                      <a:noFill/>
                    </a:ln>
                    <a:solidFill>
                      <a:srgbClr val="4472C4">
                        <a:lumMod val="50000"/>
                      </a:srgbClr>
                    </a:solidFill>
                    <a:effectLst/>
                    <a:uLnTx/>
                    <a:uFillTx/>
                    <a:latin typeface="Arial Black" panose="020B0A04020102020204" pitchFamily="34" charset="0"/>
                  </a:rPr>
                  <a:t>BC GRADE</a:t>
                </a:r>
                <a:endParaRPr kumimoji="0" lang="en-US" sz="1335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2943148" y="4337325"/>
                <a:ext cx="4178793" cy="277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anose="020B0A04020102020204" pitchFamily="34" charset="0"/>
                  </a:rPr>
                  <a:t>ANALYZE KEY ELEMENTS OF EACH CATEGORY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endParaRPr>
              </a:p>
            </p:txBody>
          </p:sp>
        </p:grpSp>
      </p:grpSp>
      <p:cxnSp>
        <p:nvCxnSpPr>
          <p:cNvPr id="77" name="Straight Connector 76"/>
          <p:cNvCxnSpPr/>
          <p:nvPr/>
        </p:nvCxnSpPr>
        <p:spPr>
          <a:xfrm>
            <a:off x="8404420" y="5222928"/>
            <a:ext cx="0" cy="1278959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pic>
        <p:nvPicPr>
          <p:cNvPr id="86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857" y="897844"/>
            <a:ext cx="1035446" cy="98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Rectangle 86"/>
          <p:cNvSpPr/>
          <p:nvPr/>
        </p:nvSpPr>
        <p:spPr>
          <a:xfrm>
            <a:off x="6369309" y="1248190"/>
            <a:ext cx="1040130" cy="299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$23,905.08</a:t>
            </a:r>
            <a:endParaRPr lang="en-US" sz="1350" b="1" ker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8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965" y="940568"/>
            <a:ext cx="895269" cy="8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Rectangle 88"/>
          <p:cNvSpPr/>
          <p:nvPr/>
        </p:nvSpPr>
        <p:spPr>
          <a:xfrm>
            <a:off x="9172626" y="1246013"/>
            <a:ext cx="1041207" cy="283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$11,564.39</a:t>
            </a:r>
            <a:endParaRPr lang="en-US" sz="1250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angle 64"/>
          <p:cNvSpPr/>
          <p:nvPr/>
        </p:nvSpPr>
        <p:spPr>
          <a:xfrm>
            <a:off x="5300028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1" name="Rectangle 64"/>
          <p:cNvSpPr/>
          <p:nvPr/>
        </p:nvSpPr>
        <p:spPr>
          <a:xfrm>
            <a:off x="5300028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2" name="Rectangle 64"/>
          <p:cNvSpPr/>
          <p:nvPr/>
        </p:nvSpPr>
        <p:spPr>
          <a:xfrm>
            <a:off x="6634163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3" name="Rectangle 64"/>
          <p:cNvSpPr/>
          <p:nvPr/>
        </p:nvSpPr>
        <p:spPr>
          <a:xfrm>
            <a:off x="9343390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4" name="Rectangle 64"/>
          <p:cNvSpPr/>
          <p:nvPr/>
        </p:nvSpPr>
        <p:spPr>
          <a:xfrm>
            <a:off x="10678160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5" name="Rectangle 64"/>
          <p:cNvSpPr/>
          <p:nvPr/>
        </p:nvSpPr>
        <p:spPr>
          <a:xfrm>
            <a:off x="10678160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6" name="Rectangle 64"/>
          <p:cNvSpPr/>
          <p:nvPr/>
        </p:nvSpPr>
        <p:spPr>
          <a:xfrm>
            <a:off x="-2000000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82720" y="62361"/>
            <a:ext cx="60288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 b="1">
                <a:solidFill>
                  <a:srgbClr val="FFFFFF"/>
                </a:solidFill>
                <a:latin typeface="Arial"/>
              </a:rPr>
              <a:t>Cost of Poor Quality (CoPQ)_Sep, 2026</a:t>
            </a:r>
            <a:endParaRPr lang="en-US" sz="1400" b="1" spc="50">
              <a:solidFill>
                <a:srgbClr val="3C4DA0"/>
              </a:solidFill>
              <a:latin typeface="Neo Sans Std" panose="020B05040305040B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59" name="Chart 58">
            <a:hlinkClick r:id="rId21"/>
          </p:cNvPr>
          <p:cNvGraphicFramePr/>
          <p:nvPr/>
        </p:nvGraphicFramePr>
        <p:xfrm>
          <a:off x="5884625" y="363525"/>
          <a:ext cx="2263305" cy="1843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>
            <a:hlinkClick r:id="rId21"/>
          </p:cNvPr>
          <p:cNvGraphicFramePr/>
          <p:nvPr/>
        </p:nvGraphicFramePr>
        <p:xfrm>
          <a:off x="2614930" y="2734310"/>
          <a:ext cx="1273810" cy="1901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>
            <a:hlinkClick r:id="rId21"/>
          </p:cNvPr>
          <p:cNvGraphicFramePr/>
          <p:nvPr/>
        </p:nvGraphicFramePr>
        <p:xfrm>
          <a:off x="3904933" y="2785745"/>
          <a:ext cx="1331595" cy="1918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22">
            <a:hlinkClick r:id="rId21"/>
          </p:cNvPr>
          <p:cNvGraphicFramePr/>
          <p:nvPr/>
        </p:nvGraphicFramePr>
        <p:xfrm>
          <a:off x="5300028" y="2747963"/>
          <a:ext cx="1334135" cy="1910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5" name="Chart 24">
            <a:hlinkClick r:id="rId21"/>
          </p:cNvPr>
          <p:cNvGraphicFramePr/>
          <p:nvPr/>
        </p:nvGraphicFramePr>
        <p:xfrm>
          <a:off x="6634163" y="2753995"/>
          <a:ext cx="1334135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7" name="Chart 26">
            <a:hlinkClick r:id="rId21"/>
          </p:cNvPr>
          <p:cNvGraphicFramePr/>
          <p:nvPr/>
        </p:nvGraphicFramePr>
        <p:xfrm>
          <a:off x="7976235" y="2785745"/>
          <a:ext cx="130937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9" name="Chart 28">
            <a:hlinkClick r:id="rId21"/>
          </p:cNvPr>
          <p:cNvGraphicFramePr/>
          <p:nvPr/>
        </p:nvGraphicFramePr>
        <p:xfrm>
          <a:off x="9343390" y="2785745"/>
          <a:ext cx="1280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1" name="Chart 30">
            <a:hlinkClick r:id="rId21"/>
          </p:cNvPr>
          <p:cNvGraphicFramePr/>
          <p:nvPr/>
        </p:nvGraphicFramePr>
        <p:xfrm>
          <a:off x="10678160" y="2781935"/>
          <a:ext cx="1311275" cy="189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3" name="Chart 32">
            <a:hlinkClick r:id="rId21"/>
          </p:cNvPr>
          <p:cNvGraphicFramePr/>
          <p:nvPr/>
        </p:nvGraphicFramePr>
        <p:xfrm>
          <a:off x="2351723" y="5172075"/>
          <a:ext cx="180022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35" name="Chart 34">
            <a:hlinkClick r:id="rId21"/>
          </p:cNvPr>
          <p:cNvGraphicFramePr/>
          <p:nvPr/>
        </p:nvGraphicFramePr>
        <p:xfrm>
          <a:off x="4765993" y="5123815"/>
          <a:ext cx="172656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37" name="Chart 36">
            <a:hlinkClick r:id="rId21"/>
          </p:cNvPr>
          <p:cNvGraphicFramePr/>
          <p:nvPr/>
        </p:nvGraphicFramePr>
        <p:xfrm>
          <a:off x="6460808" y="5121910"/>
          <a:ext cx="182816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39" name="Chart 38">
            <a:hlinkClick r:id="rId21"/>
          </p:cNvPr>
          <p:cNvGraphicFramePr/>
          <p:nvPr/>
        </p:nvGraphicFramePr>
        <p:xfrm>
          <a:off x="8898890" y="5064125"/>
          <a:ext cx="1567180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1" name="Chart 40">
            <a:hlinkClick r:id="rId21"/>
          </p:cNvPr>
          <p:cNvGraphicFramePr/>
          <p:nvPr/>
        </p:nvGraphicFramePr>
        <p:xfrm>
          <a:off x="10364470" y="5020945"/>
          <a:ext cx="1752600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11" name="Rectangle 10"/>
          <p:cNvSpPr/>
          <p:nvPr/>
        </p:nvSpPr>
        <p:spPr>
          <a:xfrm>
            <a:off x="3691125" y="263230"/>
            <a:ext cx="1287709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Arial Black" panose="020B0A04020102020204" pitchFamily="34" charset="0"/>
              </a:rPr>
              <a:t>BC GRADE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740000"/>
              </a:solidFill>
              <a:effectLst/>
              <a:uLnTx/>
              <a:uFillTx/>
            </a:endParaRPr>
          </a:p>
        </p:txBody>
      </p:sp>
      <p:sp>
        <p:nvSpPr>
          <p:cNvPr id="12" name="Isosceles Triangle 11"/>
          <p:cNvSpPr/>
          <p:nvPr/>
        </p:nvSpPr>
        <p:spPr>
          <a:xfrm rot="5400000">
            <a:off x="3523180" y="319960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060145" y="1499309"/>
            <a:ext cx="255987" cy="4654174"/>
            <a:chOff x="3281478" y="1206600"/>
            <a:chExt cx="224810" cy="4655034"/>
          </a:xfrm>
        </p:grpSpPr>
        <p:sp>
          <p:nvSpPr>
            <p:cNvPr id="14" name="Isosceles Triangle 13"/>
            <p:cNvSpPr/>
            <p:nvPr/>
          </p:nvSpPr>
          <p:spPr>
            <a:xfrm rot="5400000">
              <a:off x="3256723" y="1231356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Isosceles Triangle 14"/>
            <p:cNvSpPr/>
            <p:nvPr/>
          </p:nvSpPr>
          <p:spPr>
            <a:xfrm rot="5400000">
              <a:off x="3256723" y="2731750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Isosceles Triangle 15"/>
            <p:cNvSpPr/>
            <p:nvPr/>
          </p:nvSpPr>
          <p:spPr>
            <a:xfrm rot="5400000">
              <a:off x="3256724" y="4198041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3256722" y="5612070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6980833" y="89584"/>
            <a:ext cx="3111749" cy="292388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</a:rPr>
              <a:t>THIS MONTH DETAIL ANALYSIS</a:t>
            </a: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13253" y="674722"/>
            <a:ext cx="967105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000" b="0" i="0" u="none" strike="noStrike" kern="1200" spc="0" baseline="0">
                <a:solidFill>
                  <a:prstClr val="black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1000">
                <a:solidFill>
                  <a:prstClr val="black"/>
                </a:solidFill>
                <a:latin typeface="Arial Black" panose="020B0A04020102020204" pitchFamily="34" charset="0"/>
              </a:rPr>
              <a:t>BY MODEL </a:t>
            </a:r>
            <a:endParaRPr lang="en-US" sz="100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109695" y="665197"/>
            <a:ext cx="129286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000" b="0" i="0" u="none" strike="noStrike" kern="1200" spc="0" baseline="0">
                <a:solidFill>
                  <a:prstClr val="black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1000">
                <a:solidFill>
                  <a:prstClr val="black"/>
                </a:solidFill>
                <a:latin typeface="Arial Black" panose="020B0A04020102020204" pitchFamily="34" charset="0"/>
              </a:rPr>
              <a:t>BY WORK AREA</a:t>
            </a:r>
            <a:endParaRPr lang="en-US" sz="100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1" name="Elbow Connector 20"/>
          <p:cNvCxnSpPr>
            <a:stCxn id="18" idx="1"/>
            <a:endCxn id="19" idx="0"/>
          </p:cNvCxnSpPr>
          <p:nvPr/>
        </p:nvCxnSpPr>
        <p:spPr>
          <a:xfrm rot="10800000" flipV="1">
            <a:off x="6497320" y="235585"/>
            <a:ext cx="483235" cy="439420"/>
          </a:xfrm>
          <a:prstGeom prst="bentConnector2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22" name="Elbow Connector 21"/>
          <p:cNvCxnSpPr>
            <a:stCxn id="18" idx="3"/>
            <a:endCxn id="20" idx="0"/>
          </p:cNvCxnSpPr>
          <p:nvPr/>
        </p:nvCxnSpPr>
        <p:spPr>
          <a:xfrm>
            <a:off x="10092582" y="235778"/>
            <a:ext cx="663543" cy="429419"/>
          </a:xfrm>
          <a:prstGeom prst="bentConnector2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23" name="Rectangle 3"/>
          <p:cNvSpPr/>
          <p:nvPr/>
        </p:nvSpPr>
        <p:spPr>
          <a:xfrm>
            <a:off x="9854" y="263230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" name="Chart 1">
            <a:hlinkClick r:id="rId27"/>
          </p:cNvPr>
          <p:cNvGraphicFramePr/>
          <p:nvPr/>
        </p:nvGraphicFramePr>
        <p:xfrm>
          <a:off x="74613" y="910590"/>
          <a:ext cx="3745865" cy="135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6">
            <a:hlinkClick r:id="rId27"/>
          </p:cNvPr>
          <p:cNvGraphicFramePr/>
          <p:nvPr/>
        </p:nvGraphicFramePr>
        <p:xfrm>
          <a:off x="74930" y="2367280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hlinkClick r:id="rId27"/>
          </p:cNvPr>
          <p:cNvGraphicFramePr/>
          <p:nvPr/>
        </p:nvGraphicFramePr>
        <p:xfrm>
          <a:off x="74930" y="3863975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hlinkClick r:id="rId27"/>
          </p:cNvPr>
          <p:cNvGraphicFramePr/>
          <p:nvPr/>
        </p:nvGraphicFramePr>
        <p:xfrm>
          <a:off x="74930" y="5360670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>
            <a:hlinkClick r:id="rId27"/>
          </p:cNvPr>
          <p:cNvGraphicFramePr/>
          <p:nvPr/>
        </p:nvGraphicFramePr>
        <p:xfrm>
          <a:off x="4389755" y="911860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7" name="Chart 26">
            <a:hlinkClick r:id="rId27"/>
          </p:cNvPr>
          <p:cNvGraphicFramePr/>
          <p:nvPr/>
        </p:nvGraphicFramePr>
        <p:xfrm>
          <a:off x="8961120" y="915035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9" name="Chart 28">
            <a:hlinkClick r:id="rId27"/>
          </p:cNvPr>
          <p:cNvGraphicFramePr/>
          <p:nvPr/>
        </p:nvGraphicFramePr>
        <p:xfrm>
          <a:off x="8973820" y="2303780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1" name="Chart 30">
            <a:hlinkClick r:id="rId27"/>
          </p:cNvPr>
          <p:cNvGraphicFramePr/>
          <p:nvPr/>
        </p:nvGraphicFramePr>
        <p:xfrm>
          <a:off x="8973820" y="3667443"/>
          <a:ext cx="3218180" cy="139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4" name="Chart 33">
            <a:hlinkClick r:id="rId27"/>
          </p:cNvPr>
          <p:cNvGraphicFramePr/>
          <p:nvPr/>
        </p:nvGraphicFramePr>
        <p:xfrm>
          <a:off x="8973820" y="5248910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6" name="Chart 35">
            <a:hlinkClick r:id="rId27"/>
          </p:cNvPr>
          <p:cNvGraphicFramePr/>
          <p:nvPr/>
        </p:nvGraphicFramePr>
        <p:xfrm>
          <a:off x="4389755" y="2450465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9" name="Chart 38">
            <a:hlinkClick r:id="rId27"/>
          </p:cNvPr>
          <p:cNvGraphicFramePr/>
          <p:nvPr/>
        </p:nvGraphicFramePr>
        <p:xfrm>
          <a:off x="4388803" y="3870960"/>
          <a:ext cx="4651375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1" name="Chart 40">
            <a:hlinkClick r:id="rId27"/>
          </p:cNvPr>
          <p:cNvGraphicFramePr/>
          <p:nvPr/>
        </p:nvGraphicFramePr>
        <p:xfrm>
          <a:off x="4389755" y="5387340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79" name="Chart 78">
            <a:hlinkClick r:id="rId28"/>
          </p:cNvPr>
          <p:cNvGraphicFramePr/>
          <p:nvPr/>
        </p:nvGraphicFramePr>
        <p:xfrm>
          <a:off x="6303010" y="920115"/>
          <a:ext cx="3023870" cy="1415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81" name="Chart 80">
            <a:hlinkClick r:id="rId28"/>
          </p:cNvPr>
          <p:cNvGraphicFramePr/>
          <p:nvPr/>
        </p:nvGraphicFramePr>
        <p:xfrm>
          <a:off x="6314440" y="2418715"/>
          <a:ext cx="2646680" cy="1408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93" name="Chart 92">
            <a:hlinkClick r:id="rId28"/>
          </p:cNvPr>
          <p:cNvGraphicFramePr/>
          <p:nvPr/>
        </p:nvGraphicFramePr>
        <p:xfrm>
          <a:off x="6314440" y="3910330"/>
          <a:ext cx="2726055" cy="138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97" name="Chart 96">
            <a:hlinkClick r:id="rId28"/>
          </p:cNvPr>
          <p:cNvGraphicFramePr/>
          <p:nvPr/>
        </p:nvGraphicFramePr>
        <p:xfrm>
          <a:off x="6438900" y="5377815"/>
          <a:ext cx="2534920" cy="148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54035" y="910590"/>
            <a:ext cx="886460" cy="532130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68030" y="2460625"/>
            <a:ext cx="672465" cy="438785"/>
          </a:xfrm>
          <a:prstGeom prst="rect">
            <a:avLst/>
          </a:prstGeom>
        </p:spPr>
      </p:pic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81645" y="3910330"/>
            <a:ext cx="959485" cy="391160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70875" y="5377815"/>
            <a:ext cx="804545" cy="488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Isosceles Triangle 38"/>
          <p:cNvSpPr/>
          <p:nvPr/>
        </p:nvSpPr>
        <p:spPr>
          <a:xfrm rot="5400000">
            <a:off x="3495927" y="138107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93391" y="90960"/>
            <a:ext cx="191030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63500"/>
                </a:solidFill>
                <a:effectLst/>
                <a:uLnTx/>
                <a:uFillTx/>
                <a:latin typeface="Arial Black" panose="020B0A04020102020204" pitchFamily="34" charset="0"/>
              </a:rPr>
              <a:t>RE-INSPECTION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63500"/>
              </a:solidFill>
              <a:effectLst/>
              <a:uLnTx/>
              <a:uFillTx/>
            </a:endParaRPr>
          </a:p>
        </p:txBody>
      </p:sp>
      <p:sp>
        <p:nvSpPr>
          <p:cNvPr id="41" name="Rectangle 3"/>
          <p:cNvSpPr/>
          <p:nvPr/>
        </p:nvSpPr>
        <p:spPr>
          <a:xfrm>
            <a:off x="1351" y="70909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00014" y="685799"/>
            <a:ext cx="1920575" cy="6035040"/>
            <a:chOff x="114" y="918"/>
            <a:chExt cx="2867" cy="9593"/>
          </a:xfrm>
        </p:grpSpPr>
        <p:sp>
          <p:nvSpPr>
            <p:cNvPr id="43" name="Rounded Rectangle 42"/>
            <p:cNvSpPr/>
            <p:nvPr/>
          </p:nvSpPr>
          <p:spPr>
            <a:xfrm>
              <a:off x="114" y="918"/>
              <a:ext cx="2867" cy="9593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34" y="932"/>
              <a:ext cx="831" cy="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20" y="1678"/>
              <a:ext cx="2297" cy="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$1,229.97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107510" y="685800"/>
            <a:ext cx="1920180" cy="6035040"/>
            <a:chOff x="3329" y="912"/>
            <a:chExt cx="2896" cy="9627"/>
          </a:xfrm>
        </p:grpSpPr>
        <p:sp>
          <p:nvSpPr>
            <p:cNvPr id="47" name="Rounded Rectangle 46"/>
            <p:cNvSpPr/>
            <p:nvPr/>
          </p:nvSpPr>
          <p:spPr>
            <a:xfrm>
              <a:off x="3329" y="912"/>
              <a:ext cx="2896" cy="9627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196" y="929"/>
              <a:ext cx="1071" cy="5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VH2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816" y="1625"/>
              <a:ext cx="1937" cy="7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$544.84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147678" y="685800"/>
            <a:ext cx="1919997" cy="6035040"/>
            <a:chOff x="6596" y="896"/>
            <a:chExt cx="2869" cy="9627"/>
          </a:xfrm>
        </p:grpSpPr>
        <p:sp>
          <p:nvSpPr>
            <p:cNvPr id="51" name="Rounded Rectangle 50"/>
            <p:cNvSpPr/>
            <p:nvPr/>
          </p:nvSpPr>
          <p:spPr>
            <a:xfrm>
              <a:off x="6596" y="912"/>
              <a:ext cx="2869" cy="961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ss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483" y="896"/>
              <a:ext cx="1062" cy="5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VH3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256" y="1612"/>
              <a:ext cx="1666" cy="7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$97.80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207743" y="685800"/>
            <a:ext cx="1920450" cy="6035040"/>
            <a:chOff x="13066" y="937"/>
            <a:chExt cx="2905" cy="9578"/>
          </a:xfrm>
        </p:grpSpPr>
        <p:sp>
          <p:nvSpPr>
            <p:cNvPr id="55" name="Rounded Rectangle 54"/>
            <p:cNvSpPr/>
            <p:nvPr/>
          </p:nvSpPr>
          <p:spPr>
            <a:xfrm>
              <a:off x="13066" y="944"/>
              <a:ext cx="2905" cy="957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992" y="937"/>
              <a:ext cx="1016" cy="5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JV2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3355" y="1699"/>
              <a:ext cx="2327" cy="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$1,837.15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0184449" y="658367"/>
            <a:ext cx="1920575" cy="6035040"/>
            <a:chOff x="16212" y="944"/>
            <a:chExt cx="2867" cy="9564"/>
          </a:xfrm>
        </p:grpSpPr>
        <p:sp>
          <p:nvSpPr>
            <p:cNvPr id="59" name="Rounded Rectangle 58"/>
            <p:cNvSpPr/>
            <p:nvPr/>
          </p:nvSpPr>
          <p:spPr>
            <a:xfrm>
              <a:off x="16212" y="944"/>
              <a:ext cx="2867" cy="9564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7123" y="990"/>
              <a:ext cx="1041" cy="5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JVB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6732" y="1741"/>
              <a:ext cx="1918" cy="7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$513.38</a:t>
              </a:r>
            </a:p>
          </p:txBody>
        </p:sp>
      </p:grpSp>
      <p:sp>
        <p:nvSpPr>
          <p:cNvPr id="62" name="Rectangle 58"/>
          <p:cNvSpPr/>
          <p:nvPr/>
        </p:nvSpPr>
        <p:spPr>
          <a:xfrm>
            <a:off x="101600" y="4408331"/>
            <a:ext cx="2667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SHOPFLOOR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3" name="Rectangle 2"/>
          <p:cNvSpPr/>
          <p:nvPr/>
        </p:nvSpPr>
        <p:spPr>
          <a:xfrm>
            <a:off x="58942" y="1668725"/>
            <a:ext cx="2662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MODEL NAME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6146793" y="685800"/>
            <a:ext cx="1920450" cy="6035040"/>
            <a:chOff x="13064" y="934"/>
            <a:chExt cx="2905" cy="9581"/>
          </a:xfrm>
        </p:grpSpPr>
        <p:sp>
          <p:nvSpPr>
            <p:cNvPr id="65" name="Rounded Rectangle 64"/>
            <p:cNvSpPr/>
            <p:nvPr/>
          </p:nvSpPr>
          <p:spPr>
            <a:xfrm>
              <a:off x="13064" y="944"/>
              <a:ext cx="2905" cy="957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20"/>
            <p:cNvSpPr/>
            <p:nvPr/>
          </p:nvSpPr>
          <p:spPr>
            <a:xfrm>
              <a:off x="14080" y="934"/>
              <a:ext cx="784" cy="5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Rectangle 56"/>
            <p:cNvSpPr/>
            <p:nvPr/>
          </p:nvSpPr>
          <p:spPr>
            <a:xfrm>
              <a:off x="13364" y="1689"/>
              <a:ext cx="2327" cy="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$580.45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9402409" y="947651"/>
            <a:ext cx="768985" cy="245110"/>
            <a:chOff x="2042" y="1433"/>
            <a:chExt cx="1211" cy="386"/>
          </a:xfrm>
        </p:grpSpPr>
        <p:sp>
          <p:nvSpPr>
            <p:cNvPr id="94" name="Rectangle 48"/>
            <p:cNvSpPr/>
            <p:nvPr/>
          </p:nvSpPr>
          <p:spPr>
            <a:xfrm>
              <a:off x="2243" y="1433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$241.57</a:t>
              </a:r>
            </a:p>
          </p:txBody>
        </p:sp>
        <p:sp>
          <p:nvSpPr>
            <p:cNvPr id="95" name="Isosceles Triangle 94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1400235" y="967047"/>
            <a:ext cx="734695" cy="245110"/>
            <a:chOff x="2042" y="1433"/>
            <a:chExt cx="1157" cy="386"/>
          </a:xfrm>
        </p:grpSpPr>
        <p:sp>
          <p:nvSpPr>
            <p:cNvPr id="72" name="Rectangle 48"/>
            <p:cNvSpPr/>
            <p:nvPr/>
          </p:nvSpPr>
          <p:spPr>
            <a:xfrm>
              <a:off x="2300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$20.30</a:t>
              </a:r>
            </a:p>
          </p:txBody>
        </p:sp>
        <p:sp>
          <p:nvSpPr>
            <p:cNvPr id="73" name="Isosceles Triangle 72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170869" y="967047"/>
            <a:ext cx="734695" cy="245110"/>
            <a:chOff x="2042" y="1433"/>
            <a:chExt cx="1157" cy="386"/>
          </a:xfrm>
        </p:grpSpPr>
        <p:sp>
          <p:nvSpPr>
            <p:cNvPr id="78" name="Rectangle 48"/>
            <p:cNvSpPr/>
            <p:nvPr/>
          </p:nvSpPr>
          <p:spPr>
            <a:xfrm>
              <a:off x="2300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00B050"/>
                  </a:solidFill>
                  <a:latin typeface="Arial"/>
                </a:rPr>
                <a:t>$394.07</a:t>
              </a:r>
            </a:p>
          </p:txBody>
        </p:sp>
        <p:sp>
          <p:nvSpPr>
            <p:cNvPr id="79" name="Isosceles Triangle 78"/>
            <p:cNvSpPr/>
            <p:nvPr/>
          </p:nvSpPr>
          <p:spPr>
            <a:xfrm rot="10800000">
              <a:off x="2042" y="1540"/>
              <a:ext cx="216" cy="144"/>
            </a:xfrm>
            <a:prstGeom prst="triangl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5280127" y="953193"/>
            <a:ext cx="734060" cy="245110"/>
            <a:chOff x="2042" y="1433"/>
            <a:chExt cx="1156" cy="386"/>
          </a:xfrm>
        </p:grpSpPr>
        <p:sp>
          <p:nvSpPr>
            <p:cNvPr id="81" name="Rectangle 48"/>
            <p:cNvSpPr/>
            <p:nvPr/>
          </p:nvSpPr>
          <p:spPr>
            <a:xfrm>
              <a:off x="2299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00B050"/>
                  </a:solidFill>
                  <a:latin typeface="Arial"/>
                </a:rPr>
                <a:t>$4.10</a:t>
              </a:r>
            </a:p>
          </p:txBody>
        </p:sp>
        <p:sp>
          <p:nvSpPr>
            <p:cNvPr id="82" name="Isosceles Triangle 81"/>
            <p:cNvSpPr/>
            <p:nvPr/>
          </p:nvSpPr>
          <p:spPr>
            <a:xfrm rot="10800000">
              <a:off x="2042" y="1540"/>
              <a:ext cx="216" cy="144"/>
            </a:xfrm>
            <a:prstGeom prst="triangl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23" name="Chart 22">
            <a:hlinkClick r:id="rId15"/>
          </p:cNvPr>
          <p:cNvGraphicFramePr/>
          <p:nvPr/>
        </p:nvGraphicFramePr>
        <p:xfrm>
          <a:off x="108727" y="4754880"/>
          <a:ext cx="1920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23">
            <a:hlinkClick r:id="rId15"/>
          </p:cNvPr>
          <p:cNvGraphicFramePr/>
          <p:nvPr/>
        </p:nvGraphicFramePr>
        <p:xfrm>
          <a:off x="110874" y="2011680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3303557" y="947246"/>
            <a:ext cx="724535" cy="245110"/>
            <a:chOff x="8491" y="1442"/>
            <a:chExt cx="1141" cy="386"/>
          </a:xfrm>
        </p:grpSpPr>
        <p:sp>
          <p:nvSpPr>
            <p:cNvPr id="7" name="Rectangle 48"/>
            <p:cNvSpPr/>
            <p:nvPr/>
          </p:nvSpPr>
          <p:spPr>
            <a:xfrm>
              <a:off x="8622" y="1442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$97.78</a:t>
              </a:r>
            </a:p>
          </p:txBody>
        </p:sp>
        <p:sp>
          <p:nvSpPr>
            <p:cNvPr id="8" name="Isosceles Triangle 7"/>
            <p:cNvSpPr/>
            <p:nvPr/>
          </p:nvSpPr>
          <p:spPr>
            <a:xfrm rot="10800000" flipV="1">
              <a:off x="8491" y="1563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7069" y="967336"/>
            <a:ext cx="770255" cy="245110"/>
            <a:chOff x="2042" y="1433"/>
            <a:chExt cx="1213" cy="386"/>
          </a:xfrm>
        </p:grpSpPr>
        <p:sp>
          <p:nvSpPr>
            <p:cNvPr id="10" name="Rectangle 48"/>
            <p:cNvSpPr/>
            <p:nvPr/>
          </p:nvSpPr>
          <p:spPr>
            <a:xfrm>
              <a:off x="2245" y="1433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ctr"/>
              <a:r>
                <a:rPr sz="850" b="1">
                  <a:solidFill>
                    <a:srgbClr val="00B050"/>
                  </a:solidFill>
                  <a:latin typeface="Arial"/>
                </a:rPr>
                <a:t>$85.29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2042" y="1540"/>
              <a:ext cx="216" cy="144"/>
            </a:xfrm>
            <a:prstGeom prst="triangl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32" name="Chart 31">
            <a:hlinkClick r:id="rId15"/>
          </p:cNvPr>
          <p:cNvGraphicFramePr/>
          <p:nvPr/>
        </p:nvGraphicFramePr>
        <p:xfrm>
          <a:off x="2116666" y="2011680"/>
          <a:ext cx="1911245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Chart 32">
            <a:hlinkClick r:id="rId15"/>
          </p:cNvPr>
          <p:cNvGraphicFramePr/>
          <p:nvPr/>
        </p:nvGraphicFramePr>
        <p:xfrm>
          <a:off x="2092533" y="4754880"/>
          <a:ext cx="1919605" cy="201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>
            <a:hlinkClick r:id="rId15"/>
          </p:cNvPr>
          <p:cNvGraphicFramePr/>
          <p:nvPr/>
        </p:nvGraphicFramePr>
        <p:xfrm>
          <a:off x="4126898" y="4754880"/>
          <a:ext cx="1919605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5" name="Chart 34">
            <a:hlinkClick r:id="rId15"/>
          </p:cNvPr>
          <p:cNvGraphicFramePr/>
          <p:nvPr/>
        </p:nvGraphicFramePr>
        <p:xfrm>
          <a:off x="4134853" y="2011680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Chart 36">
            <a:hlinkClick r:id="rId15"/>
          </p:cNvPr>
          <p:cNvGraphicFramePr/>
          <p:nvPr/>
        </p:nvGraphicFramePr>
        <p:xfrm>
          <a:off x="6128462" y="2011680"/>
          <a:ext cx="1922145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8" name="Chart 37">
            <a:hlinkClick r:id="rId15"/>
          </p:cNvPr>
          <p:cNvGraphicFramePr/>
          <p:nvPr/>
        </p:nvGraphicFramePr>
        <p:xfrm>
          <a:off x="6140024" y="4782312"/>
          <a:ext cx="1920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>
            <a:hlinkClick r:id="rId15"/>
          </p:cNvPr>
          <p:cNvGraphicFramePr/>
          <p:nvPr/>
        </p:nvGraphicFramePr>
        <p:xfrm>
          <a:off x="8186988" y="2011680"/>
          <a:ext cx="1922145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>
            <a:hlinkClick r:id="rId15"/>
          </p:cNvPr>
          <p:cNvGraphicFramePr/>
          <p:nvPr/>
        </p:nvGraphicFramePr>
        <p:xfrm>
          <a:off x="8205295" y="4736592"/>
          <a:ext cx="1920240" cy="201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2" name="Chart 21">
            <a:hlinkClick r:id="rId15"/>
          </p:cNvPr>
          <p:cNvGraphicFramePr/>
          <p:nvPr/>
        </p:nvGraphicFramePr>
        <p:xfrm>
          <a:off x="10187970" y="4754880"/>
          <a:ext cx="1918970" cy="1982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8" name="Chart 27">
            <a:hlinkClick r:id="rId15"/>
          </p:cNvPr>
          <p:cNvGraphicFramePr/>
          <p:nvPr/>
        </p:nvGraphicFramePr>
        <p:xfrm>
          <a:off x="10196144" y="2011680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/>
          <p:cNvSpPr/>
          <p:nvPr/>
        </p:nvSpPr>
        <p:spPr>
          <a:xfrm>
            <a:off x="123486" y="777240"/>
            <a:ext cx="2559845" cy="5989320"/>
          </a:xfrm>
          <a:prstGeom prst="roundRect">
            <a:avLst>
              <a:gd name="adj" fmla="val 11905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Isosceles Triangle 97"/>
          <p:cNvSpPr/>
          <p:nvPr/>
        </p:nvSpPr>
        <p:spPr>
          <a:xfrm rot="5400000">
            <a:off x="3513342" y="199075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59360" y="802425"/>
            <a:ext cx="5511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3195737" y="777240"/>
            <a:ext cx="2559845" cy="5989320"/>
          </a:xfrm>
          <a:prstGeom prst="roundRect">
            <a:avLst>
              <a:gd name="adj" fmla="val 11012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6207223" y="777240"/>
            <a:ext cx="2559845" cy="5989320"/>
          </a:xfrm>
          <a:prstGeom prst="roundRect">
            <a:avLst>
              <a:gd name="adj" fmla="val 11608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9191247" y="777240"/>
            <a:ext cx="2559845" cy="5989320"/>
          </a:xfrm>
          <a:prstGeom prst="roundRect">
            <a:avLst>
              <a:gd name="adj" fmla="val 11608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106052" y="797796"/>
            <a:ext cx="7035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7121053" y="791024"/>
            <a:ext cx="7035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VH4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235622" y="800247"/>
            <a:ext cx="51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JV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0" y="1703293"/>
            <a:ext cx="26383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MODEL CODE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0" y="4573820"/>
            <a:ext cx="2557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SHOPFLOOR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691123" y="150021"/>
            <a:ext cx="2057056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</a:rPr>
              <a:t>TOUCH-UP PAINT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1589" y="146877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3717391" y="1157261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CC"/>
                </a:solidFill>
                <a:latin typeface="Arial"/>
              </a:rPr>
              <a:t>$2,325.06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718259" y="1165746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CC"/>
                </a:solidFill>
                <a:latin typeface="Arial"/>
              </a:rPr>
              <a:t>$1,308.72</a:t>
            </a:r>
          </a:p>
        </p:txBody>
      </p:sp>
      <p:sp>
        <p:nvSpPr>
          <p:cNvPr id="113" name="Rectangle 23"/>
          <p:cNvSpPr/>
          <p:nvPr/>
        </p:nvSpPr>
        <p:spPr>
          <a:xfrm>
            <a:off x="729631" y="1158124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CC"/>
                </a:solidFill>
                <a:latin typeface="Arial"/>
              </a:rPr>
              <a:t>$3,095.89</a:t>
            </a:r>
          </a:p>
        </p:txBody>
      </p:sp>
      <p:sp>
        <p:nvSpPr>
          <p:cNvPr id="114" name="Rectangle 60"/>
          <p:cNvSpPr/>
          <p:nvPr/>
        </p:nvSpPr>
        <p:spPr>
          <a:xfrm>
            <a:off x="6850059" y="1157491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CC"/>
                </a:solidFill>
                <a:latin typeface="Arial"/>
              </a:rPr>
              <a:t>$3,333.75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7966283" y="914400"/>
            <a:ext cx="751205" cy="245110"/>
            <a:chOff x="1990" y="1419"/>
            <a:chExt cx="1183" cy="386"/>
          </a:xfrm>
        </p:grpSpPr>
        <p:sp>
          <p:nvSpPr>
            <p:cNvPr id="122" name="Rectangle 48"/>
            <p:cNvSpPr/>
            <p:nvPr/>
          </p:nvSpPr>
          <p:spPr>
            <a:xfrm>
              <a:off x="2163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00B050"/>
                  </a:solidFill>
                  <a:latin typeface="Arial"/>
                </a:rPr>
                <a:t>$218.13</a:t>
              </a:r>
            </a:p>
          </p:txBody>
        </p:sp>
        <p:sp>
          <p:nvSpPr>
            <p:cNvPr id="123" name="Isosceles Triangle 122"/>
            <p:cNvSpPr/>
            <p:nvPr/>
          </p:nvSpPr>
          <p:spPr>
            <a:xfrm rot="10800000">
              <a:off x="1990" y="1524"/>
              <a:ext cx="216" cy="144"/>
            </a:xfrm>
            <a:prstGeom prst="triangl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908527" y="950422"/>
            <a:ext cx="753110" cy="245110"/>
            <a:chOff x="1990" y="1419"/>
            <a:chExt cx="1186" cy="386"/>
          </a:xfrm>
        </p:grpSpPr>
        <p:sp>
          <p:nvSpPr>
            <p:cNvPr id="48" name="Rectangle 48"/>
            <p:cNvSpPr/>
            <p:nvPr/>
          </p:nvSpPr>
          <p:spPr>
            <a:xfrm>
              <a:off x="2166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$10.00</a:t>
              </a:r>
            </a:p>
          </p:txBody>
        </p:sp>
        <p:sp>
          <p:nvSpPr>
            <p:cNvPr id="52" name="Isosceles Triangle 51"/>
            <p:cNvSpPr/>
            <p:nvPr/>
          </p:nvSpPr>
          <p:spPr>
            <a:xfrm rot="10800000" flipV="1">
              <a:off x="1990" y="1524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814483" y="955213"/>
            <a:ext cx="780415" cy="245110"/>
            <a:chOff x="1943" y="1419"/>
            <a:chExt cx="1229" cy="386"/>
          </a:xfrm>
        </p:grpSpPr>
        <p:sp>
          <p:nvSpPr>
            <p:cNvPr id="3" name="Rectangle 48"/>
            <p:cNvSpPr/>
            <p:nvPr/>
          </p:nvSpPr>
          <p:spPr>
            <a:xfrm>
              <a:off x="2162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ctr"/>
              <a:r>
                <a:rPr sz="850" b="1">
                  <a:solidFill>
                    <a:srgbClr val="00B050"/>
                  </a:solidFill>
                  <a:latin typeface="Arial"/>
                </a:rPr>
                <a:t>$3,641.69</a:t>
              </a:r>
            </a:p>
          </p:txBody>
        </p:sp>
        <p:sp>
          <p:nvSpPr>
            <p:cNvPr id="4" name="Isosceles Triangle 3"/>
            <p:cNvSpPr/>
            <p:nvPr/>
          </p:nvSpPr>
          <p:spPr>
            <a:xfrm rot="10800000">
              <a:off x="1943" y="1540"/>
              <a:ext cx="216" cy="144"/>
            </a:xfrm>
            <a:prstGeom prst="triangl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917092" y="951691"/>
            <a:ext cx="727710" cy="245110"/>
            <a:chOff x="8491" y="1442"/>
            <a:chExt cx="1146" cy="386"/>
          </a:xfrm>
        </p:grpSpPr>
        <p:sp>
          <p:nvSpPr>
            <p:cNvPr id="7" name="Rectangle 48"/>
            <p:cNvSpPr/>
            <p:nvPr/>
          </p:nvSpPr>
          <p:spPr>
            <a:xfrm>
              <a:off x="8627" y="1442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$146.00</a:t>
              </a:r>
            </a:p>
          </p:txBody>
        </p:sp>
        <p:sp>
          <p:nvSpPr>
            <p:cNvPr id="8" name="Isosceles Triangle 7"/>
            <p:cNvSpPr/>
            <p:nvPr/>
          </p:nvSpPr>
          <p:spPr>
            <a:xfrm rot="10800000" flipV="1">
              <a:off x="8491" y="1563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5" name="Chart 4">
            <a:hlinkClick r:id="rId11"/>
          </p:cNvPr>
          <p:cNvGraphicFramePr/>
          <p:nvPr/>
        </p:nvGraphicFramePr>
        <p:xfrm>
          <a:off x="115503" y="2103120"/>
          <a:ext cx="2598821" cy="2280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Chart 9">
            <a:hlinkClick r:id="rId11"/>
          </p:cNvPr>
          <p:cNvGraphicFramePr/>
          <p:nvPr/>
        </p:nvGraphicFramePr>
        <p:xfrm>
          <a:off x="335280" y="4480560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hlinkClick r:id="rId11"/>
          </p:cNvPr>
          <p:cNvGraphicFramePr/>
          <p:nvPr/>
        </p:nvGraphicFramePr>
        <p:xfrm>
          <a:off x="3616960" y="4480560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hlinkClick r:id="rId11"/>
          </p:cNvPr>
          <p:cNvGraphicFramePr/>
          <p:nvPr/>
        </p:nvGraphicFramePr>
        <p:xfrm>
          <a:off x="3208235" y="2135019"/>
          <a:ext cx="2578691" cy="2281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hlinkClick r:id="rId11"/>
          </p:cNvPr>
          <p:cNvGraphicFramePr/>
          <p:nvPr/>
        </p:nvGraphicFramePr>
        <p:xfrm>
          <a:off x="6198669" y="2103120"/>
          <a:ext cx="2551801" cy="2324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>
            <a:hlinkClick r:id="rId11"/>
          </p:cNvPr>
          <p:cNvGraphicFramePr/>
          <p:nvPr/>
        </p:nvGraphicFramePr>
        <p:xfrm>
          <a:off x="9211377" y="2103120"/>
          <a:ext cx="2541069" cy="22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Chart 19">
            <a:hlinkClick r:id="rId11"/>
          </p:cNvPr>
          <p:cNvGraphicFramePr/>
          <p:nvPr/>
        </p:nvGraphicFramePr>
        <p:xfrm>
          <a:off x="6664960" y="4480560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2" name="Chart 21">
            <a:hlinkClick r:id="rId11"/>
          </p:cNvPr>
          <p:cNvGraphicFramePr/>
          <p:nvPr/>
        </p:nvGraphicFramePr>
        <p:xfrm>
          <a:off x="9540240" y="4480560"/>
          <a:ext cx="1869440" cy="2302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WPS Presentation</Application>
  <PresentationFormat>Widescreen</PresentationFormat>
  <Paragraphs>151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SimSun</vt:lpstr>
      <vt:lpstr>Wingdings</vt:lpstr>
      <vt:lpstr>Neo Sans Pro</vt:lpstr>
      <vt:lpstr>Raavi</vt:lpstr>
      <vt:lpstr>Neo Sans Std</vt:lpstr>
      <vt:lpstr>Open Sans Light</vt:lpstr>
      <vt:lpstr>Yu Gothic UI Light</vt:lpstr>
      <vt:lpstr>Helvetica</vt:lpstr>
      <vt:lpstr>Roboto</vt:lpstr>
      <vt:lpstr>Wide Latin</vt:lpstr>
      <vt:lpstr>Calibri</vt:lpstr>
      <vt:lpstr>Arial Black</vt:lpstr>
      <vt:lpstr>Calibri Light</vt:lpstr>
      <vt:lpstr>Microsoft YaHei</vt:lpstr>
      <vt:lpstr>Arial Unicode MS</vt:lpstr>
      <vt:lpstr>PMingLiU</vt:lpstr>
      <vt:lpstr>Calibri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Le, Thanh-Truc</dc:creator>
  <cp:lastModifiedBy>thinhphat.nguyen</cp:lastModifiedBy>
  <cp:revision>141</cp:revision>
  <dcterms:created xsi:type="dcterms:W3CDTF">2026-03-27T01:47:00Z</dcterms:created>
  <dcterms:modified xsi:type="dcterms:W3CDTF">2026-08-08T01:13:06Z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A319F994F0EC4668A0E641D73E8B8153</vt:lpwstr>
  </property>
  <property fmtid="{D5CDD505-2E9C-101B-9397-08002B2CF9AE}" pid="3" name="KSOProductBuildVer">
    <vt:lpwstr>1033-11.2.0.11440</vt:lpwstr>
  </property>
</Properties>
</file>