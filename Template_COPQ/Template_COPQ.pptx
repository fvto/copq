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emf" ContentType="image/x-emf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28.xml" ContentType="application/vnd.openxmlformats-officedocument.drawingml.chart+xml"/>
  <Override PartName="/ppt/charts/chart29.xml" ContentType="application/vnd.openxmlformats-officedocument.drawingml.chart+xml"/>
  <Override PartName="/ppt/charts/chart3.xml" ContentType="application/vnd.openxmlformats-officedocument.drawingml.chart+xml"/>
  <Override PartName="/ppt/charts/chart30.xml" ContentType="application/vnd.openxmlformats-officedocument.drawingml.chart+xml"/>
  <Override PartName="/ppt/charts/chart31.xml" ContentType="application/vnd.openxmlformats-officedocument.drawingml.chart+xml"/>
  <Override PartName="/ppt/charts/chart32.xml" ContentType="application/vnd.openxmlformats-officedocument.drawingml.chart+xml"/>
  <Override PartName="/ppt/charts/chart33.xml" ContentType="application/vnd.openxmlformats-officedocument.drawingml.chart+xml"/>
  <Override PartName="/ppt/charts/chart34.xml" ContentType="application/vnd.openxmlformats-officedocument.drawingml.chart+xml"/>
  <Override PartName="/ppt/charts/chart35.xml" ContentType="application/vnd.openxmlformats-officedocument.drawingml.chart+xml"/>
  <Override PartName="/ppt/charts/chart36.xml" ContentType="application/vnd.openxmlformats-officedocument.drawingml.chart+xml"/>
  <Override PartName="/ppt/charts/chart37.xml" ContentType="application/vnd.openxmlformats-officedocument.drawingml.chart+xml"/>
  <Override PartName="/ppt/charts/chart38.xml" ContentType="application/vnd.openxmlformats-officedocument.drawingml.chart+xml"/>
  <Override PartName="/ppt/charts/chart39.xml" ContentType="application/vnd.openxmlformats-officedocument.drawingml.chart+xml"/>
  <Override PartName="/ppt/charts/chart4.xml" ContentType="application/vnd.openxmlformats-officedocument.drawingml.chart+xml"/>
  <Override PartName="/ppt/charts/chart40.xml" ContentType="application/vnd.openxmlformats-officedocument.drawingml.chart+xml"/>
  <Override PartName="/ppt/charts/chart41.xml" ContentType="application/vnd.openxmlformats-officedocument.drawingml.chart+xml"/>
  <Override PartName="/ppt/charts/chart42.xml" ContentType="application/vnd.openxmlformats-officedocument.drawingml.chart+xml"/>
  <Override PartName="/ppt/charts/chart43.xml" ContentType="application/vnd.openxmlformats-officedocument.drawingml.chart+xml"/>
  <Override PartName="/ppt/charts/chart44.xml" ContentType="application/vnd.openxmlformats-officedocument.drawingml.chart+xml"/>
  <Override PartName="/ppt/charts/chart45.xml" ContentType="application/vnd.openxmlformats-officedocument.drawingml.chart+xml"/>
  <Override PartName="/ppt/charts/chart46.xml" ContentType="application/vnd.openxmlformats-officedocument.drawingml.chart+xml"/>
  <Override PartName="/ppt/charts/chart47.xml" ContentType="application/vnd.openxmlformats-officedocument.drawingml.chart+xml"/>
  <Override PartName="/ppt/charts/chart48.xml" ContentType="application/vnd.openxmlformats-officedocument.drawingml.chart+xml"/>
  <Override PartName="/ppt/charts/chart49.xml" ContentType="application/vnd.openxmlformats-officedocument.drawingml.chart+xml"/>
  <Override PartName="/ppt/charts/chart5.xml" ContentType="application/vnd.openxmlformats-officedocument.drawingml.chart+xml"/>
  <Override PartName="/ppt/charts/chart50.xml" ContentType="application/vnd.openxmlformats-officedocument.drawingml.chart+xml"/>
  <Override PartName="/ppt/charts/chart51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olors1.xml" ContentType="application/vnd.ms-office.chartcolorstyle+xml"/>
  <Override PartName="/ppt/charts/colors10.xml" ContentType="application/vnd.ms-office.chartcolorstyle+xml"/>
  <Override PartName="/ppt/charts/colors11.xml" ContentType="application/vnd.ms-office.chartcolorstyle+xml"/>
  <Override PartName="/ppt/charts/colors12.xml" ContentType="application/vnd.ms-office.chartcolorstyle+xml"/>
  <Override PartName="/ppt/charts/colors13.xml" ContentType="application/vnd.ms-office.chartcolorstyle+xml"/>
  <Override PartName="/ppt/charts/colors14.xml" ContentType="application/vnd.ms-office.chartcolorstyle+xml"/>
  <Override PartName="/ppt/charts/colors15.xml" ContentType="application/vnd.ms-office.chartcolorstyle+xml"/>
  <Override PartName="/ppt/charts/colors16.xml" ContentType="application/vnd.ms-office.chartcolorstyle+xml"/>
  <Override PartName="/ppt/charts/colors17.xml" ContentType="application/vnd.ms-office.chartcolorstyle+xml"/>
  <Override PartName="/ppt/charts/colors18.xml" ContentType="application/vnd.ms-office.chartcolorstyle+xml"/>
  <Override PartName="/ppt/charts/colors19.xml" ContentType="application/vnd.ms-office.chartcolorstyle+xml"/>
  <Override PartName="/ppt/charts/colors2.xml" ContentType="application/vnd.ms-office.chartcolorstyle+xml"/>
  <Override PartName="/ppt/charts/colors20.xml" ContentType="application/vnd.ms-office.chartcolorstyle+xml"/>
  <Override PartName="/ppt/charts/colors21.xml" ContentType="application/vnd.ms-office.chartcolorstyle+xml"/>
  <Override PartName="/ppt/charts/colors22.xml" ContentType="application/vnd.ms-office.chartcolorstyle+xml"/>
  <Override PartName="/ppt/charts/colors23.xml" ContentType="application/vnd.ms-office.chartcolorstyle+xml"/>
  <Override PartName="/ppt/charts/colors24.xml" ContentType="application/vnd.ms-office.chartcolorstyle+xml"/>
  <Override PartName="/ppt/charts/colors25.xml" ContentType="application/vnd.ms-office.chartcolorstyle+xml"/>
  <Override PartName="/ppt/charts/colors26.xml" ContentType="application/vnd.ms-office.chartcolorstyle+xml"/>
  <Override PartName="/ppt/charts/colors27.xml" ContentType="application/vnd.ms-office.chartcolorstyle+xml"/>
  <Override PartName="/ppt/charts/colors28.xml" ContentType="application/vnd.ms-office.chartcolorstyle+xml"/>
  <Override PartName="/ppt/charts/colors29.xml" ContentType="application/vnd.ms-office.chartcolorstyle+xml"/>
  <Override PartName="/ppt/charts/colors3.xml" ContentType="application/vnd.ms-office.chartcolorstyle+xml"/>
  <Override PartName="/ppt/charts/colors30.xml" ContentType="application/vnd.ms-office.chartcolorstyle+xml"/>
  <Override PartName="/ppt/charts/colors31.xml" ContentType="application/vnd.ms-office.chartcolorstyle+xml"/>
  <Override PartName="/ppt/charts/colors32.xml" ContentType="application/vnd.ms-office.chartcolorstyle+xml"/>
  <Override PartName="/ppt/charts/colors33.xml" ContentType="application/vnd.ms-office.chartcolorstyle+xml"/>
  <Override PartName="/ppt/charts/colors34.xml" ContentType="application/vnd.ms-office.chartcolorstyle+xml"/>
  <Override PartName="/ppt/charts/colors35.xml" ContentType="application/vnd.ms-office.chartcolorstyle+xml"/>
  <Override PartName="/ppt/charts/colors36.xml" ContentType="application/vnd.ms-office.chartcolorstyle+xml"/>
  <Override PartName="/ppt/charts/colors37.xml" ContentType="application/vnd.ms-office.chartcolorstyle+xml"/>
  <Override PartName="/ppt/charts/colors38.xml" ContentType="application/vnd.ms-office.chartcolorstyle+xml"/>
  <Override PartName="/ppt/charts/colors39.xml" ContentType="application/vnd.ms-office.chartcolorstyle+xml"/>
  <Override PartName="/ppt/charts/colors4.xml" ContentType="application/vnd.ms-office.chartcolorstyle+xml"/>
  <Override PartName="/ppt/charts/colors40.xml" ContentType="application/vnd.ms-office.chartcolorstyle+xml"/>
  <Override PartName="/ppt/charts/colors41.xml" ContentType="application/vnd.ms-office.chartcolorstyle+xml"/>
  <Override PartName="/ppt/charts/colors42.xml" ContentType="application/vnd.ms-office.chartcolorstyle+xml"/>
  <Override PartName="/ppt/charts/colors43.xml" ContentType="application/vnd.ms-office.chartcolorstyle+xml"/>
  <Override PartName="/ppt/charts/colors44.xml" ContentType="application/vnd.ms-office.chartcolorstyle+xml"/>
  <Override PartName="/ppt/charts/colors45.xml" ContentType="application/vnd.ms-office.chartcolorstyle+xml"/>
  <Override PartName="/ppt/charts/colors46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colors7.xml" ContentType="application/vnd.ms-office.chartcolorstyle+xml"/>
  <Override PartName="/ppt/charts/colors8.xml" ContentType="application/vnd.ms-office.chartcolorstyle+xml"/>
  <Override PartName="/ppt/charts/colors9.xml" ContentType="application/vnd.ms-office.chartcolorstyle+xml"/>
  <Override PartName="/ppt/charts/style1.xml" ContentType="application/vnd.ms-office.chartstyle+xml"/>
  <Override PartName="/ppt/charts/style10.xml" ContentType="application/vnd.ms-office.chartstyle+xml"/>
  <Override PartName="/ppt/charts/style11.xml" ContentType="application/vnd.ms-office.chartstyle+xml"/>
  <Override PartName="/ppt/charts/style12.xml" ContentType="application/vnd.ms-office.chartstyle+xml"/>
  <Override PartName="/ppt/charts/style13.xml" ContentType="application/vnd.ms-office.chartstyle+xml"/>
  <Override PartName="/ppt/charts/style14.xml" ContentType="application/vnd.ms-office.chartstyle+xml"/>
  <Override PartName="/ppt/charts/style15.xml" ContentType="application/vnd.ms-office.chartstyle+xml"/>
  <Override PartName="/ppt/charts/style16.xml" ContentType="application/vnd.ms-office.chartstyle+xml"/>
  <Override PartName="/ppt/charts/style17.xml" ContentType="application/vnd.ms-office.chartstyle+xml"/>
  <Override PartName="/ppt/charts/style18.xml" ContentType="application/vnd.ms-office.chartstyle+xml"/>
  <Override PartName="/ppt/charts/style19.xml" ContentType="application/vnd.ms-office.chartstyle+xml"/>
  <Override PartName="/ppt/charts/style2.xml" ContentType="application/vnd.ms-office.chartstyle+xml"/>
  <Override PartName="/ppt/charts/style20.xml" ContentType="application/vnd.ms-office.chartstyle+xml"/>
  <Override PartName="/ppt/charts/style21.xml" ContentType="application/vnd.ms-office.chartstyle+xml"/>
  <Override PartName="/ppt/charts/style22.xml" ContentType="application/vnd.ms-office.chartstyle+xml"/>
  <Override PartName="/ppt/charts/style23.xml" ContentType="application/vnd.ms-office.chartstyle+xml"/>
  <Override PartName="/ppt/charts/style24.xml" ContentType="application/vnd.ms-office.chartstyle+xml"/>
  <Override PartName="/ppt/charts/style25.xml" ContentType="application/vnd.ms-office.chartstyle+xml"/>
  <Override PartName="/ppt/charts/style26.xml" ContentType="application/vnd.ms-office.chartstyle+xml"/>
  <Override PartName="/ppt/charts/style27.xml" ContentType="application/vnd.ms-office.chartstyle+xml"/>
  <Override PartName="/ppt/charts/style28.xml" ContentType="application/vnd.ms-office.chartstyle+xml"/>
  <Override PartName="/ppt/charts/style29.xml" ContentType="application/vnd.ms-office.chartstyle+xml"/>
  <Override PartName="/ppt/charts/style3.xml" ContentType="application/vnd.ms-office.chartstyle+xml"/>
  <Override PartName="/ppt/charts/style30.xml" ContentType="application/vnd.ms-office.chartstyle+xml"/>
  <Override PartName="/ppt/charts/style31.xml" ContentType="application/vnd.ms-office.chartstyle+xml"/>
  <Override PartName="/ppt/charts/style32.xml" ContentType="application/vnd.ms-office.chartstyle+xml"/>
  <Override PartName="/ppt/charts/style33.xml" ContentType="application/vnd.ms-office.chartstyle+xml"/>
  <Override PartName="/ppt/charts/style34.xml" ContentType="application/vnd.ms-office.chartstyle+xml"/>
  <Override PartName="/ppt/charts/style35.xml" ContentType="application/vnd.ms-office.chartstyle+xml"/>
  <Override PartName="/ppt/charts/style36.xml" ContentType="application/vnd.ms-office.chartstyle+xml"/>
  <Override PartName="/ppt/charts/style37.xml" ContentType="application/vnd.ms-office.chartstyle+xml"/>
  <Override PartName="/ppt/charts/style38.xml" ContentType="application/vnd.ms-office.chartstyle+xml"/>
  <Override PartName="/ppt/charts/style39.xml" ContentType="application/vnd.ms-office.chartstyle+xml"/>
  <Override PartName="/ppt/charts/style4.xml" ContentType="application/vnd.ms-office.chartstyle+xml"/>
  <Override PartName="/ppt/charts/style40.xml" ContentType="application/vnd.ms-office.chartstyle+xml"/>
  <Override PartName="/ppt/charts/style41.xml" ContentType="application/vnd.ms-office.chartstyle+xml"/>
  <Override PartName="/ppt/charts/style42.xml" ContentType="application/vnd.ms-office.chartstyle+xml"/>
  <Override PartName="/ppt/charts/style43.xml" ContentType="application/vnd.ms-office.chartstyle+xml"/>
  <Override PartName="/ppt/charts/style44.xml" ContentType="application/vnd.ms-office.chartstyle+xml"/>
  <Override PartName="/ppt/charts/style45.xml" ContentType="application/vnd.ms-office.chartstyle+xml"/>
  <Override PartName="/ppt/charts/style46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harts/style7.xml" ContentType="application/vnd.ms-office.chartstyle+xml"/>
  <Override PartName="/ppt/charts/style8.xml" ContentType="application/vnd.ms-office.chartstyle+xml"/>
  <Override PartName="/ppt/charts/style9.xml" ContentType="application/vnd.ms-office.chart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10.xml" ContentType="application/vnd.openxmlformats-officedocument.themeOverride+xml"/>
  <Override PartName="/ppt/theme/themeOverride11.xml" ContentType="application/vnd.openxmlformats-officedocument.themeOverride+xml"/>
  <Override PartName="/ppt/theme/themeOverride12.xml" ContentType="application/vnd.openxmlformats-officedocument.themeOverride+xml"/>
  <Override PartName="/ppt/theme/themeOverride13.xml" ContentType="application/vnd.openxmlformats-officedocument.themeOverride+xml"/>
  <Override PartName="/ppt/theme/themeOverride14.xml" ContentType="application/vnd.openxmlformats-officedocument.themeOverride+xml"/>
  <Override PartName="/ppt/theme/themeOverride15.xml" ContentType="application/vnd.openxmlformats-officedocument.themeOverride+xml"/>
  <Override PartName="/ppt/theme/themeOverride16.xml" ContentType="application/vnd.openxmlformats-officedocument.themeOverride+xml"/>
  <Override PartName="/ppt/theme/themeOverride17.xml" ContentType="application/vnd.openxmlformats-officedocument.themeOverride+xml"/>
  <Override PartName="/ppt/theme/themeOverride18.xml" ContentType="application/vnd.openxmlformats-officedocument.themeOverride+xml"/>
  <Override PartName="/ppt/theme/themeOverride19.xml" ContentType="application/vnd.openxmlformats-officedocument.themeOverride+xml"/>
  <Override PartName="/ppt/theme/themeOverride2.xml" ContentType="application/vnd.openxmlformats-officedocument.themeOverride+xml"/>
  <Override PartName="/ppt/theme/themeOverride20.xml" ContentType="application/vnd.openxmlformats-officedocument.themeOverride+xml"/>
  <Override PartName="/ppt/theme/themeOverride21.xml" ContentType="application/vnd.openxmlformats-officedocument.themeOverride+xml"/>
  <Override PartName="/ppt/theme/themeOverride22.xml" ContentType="application/vnd.openxmlformats-officedocument.themeOverride+xml"/>
  <Override PartName="/ppt/theme/themeOverride23.xml" ContentType="application/vnd.openxmlformats-officedocument.themeOverride+xml"/>
  <Override PartName="/ppt/theme/themeOverride24.xml" ContentType="application/vnd.openxmlformats-officedocument.themeOverride+xml"/>
  <Override PartName="/ppt/theme/themeOverride25.xml" ContentType="application/vnd.openxmlformats-officedocument.themeOverride+xml"/>
  <Override PartName="/ppt/theme/themeOverride26.xml" ContentType="application/vnd.openxmlformats-officedocument.themeOverride+xml"/>
  <Override PartName="/ppt/theme/themeOverride27.xml" ContentType="application/vnd.openxmlformats-officedocument.themeOverride+xml"/>
  <Override PartName="/ppt/theme/themeOverride28.xml" ContentType="application/vnd.openxmlformats-officedocument.themeOverride+xml"/>
  <Override PartName="/ppt/theme/themeOverride29.xml" ContentType="application/vnd.openxmlformats-officedocument.themeOverride+xml"/>
  <Override PartName="/ppt/theme/themeOverride3.xml" ContentType="application/vnd.openxmlformats-officedocument.themeOverride+xml"/>
  <Override PartName="/ppt/theme/themeOverride30.xml" ContentType="application/vnd.openxmlformats-officedocument.themeOverride+xml"/>
  <Override PartName="/ppt/theme/themeOverride31.xml" ContentType="application/vnd.openxmlformats-officedocument.themeOverride+xml"/>
  <Override PartName="/ppt/theme/themeOverride32.xml" ContentType="application/vnd.openxmlformats-officedocument.themeOverride+xml"/>
  <Override PartName="/ppt/theme/themeOverride33.xml" ContentType="application/vnd.openxmlformats-officedocument.themeOverride+xml"/>
  <Override PartName="/ppt/theme/themeOverride34.xml" ContentType="application/vnd.openxmlformats-officedocument.themeOverride+xml"/>
  <Override PartName="/ppt/theme/themeOverride35.xml" ContentType="application/vnd.openxmlformats-officedocument.themeOverride+xml"/>
  <Override PartName="/ppt/theme/themeOverride36.xml" ContentType="application/vnd.openxmlformats-officedocument.themeOverride+xml"/>
  <Override PartName="/ppt/theme/themeOverride37.xml" ContentType="application/vnd.openxmlformats-officedocument.themeOverride+xml"/>
  <Override PartName="/ppt/theme/themeOverride38.xml" ContentType="application/vnd.openxmlformats-officedocument.themeOverride+xml"/>
  <Override PartName="/ppt/theme/themeOverride39.xml" ContentType="application/vnd.openxmlformats-officedocument.themeOverride+xml"/>
  <Override PartName="/ppt/theme/themeOverride4.xml" ContentType="application/vnd.openxmlformats-officedocument.themeOverride+xml"/>
  <Override PartName="/ppt/theme/themeOverride40.xml" ContentType="application/vnd.openxmlformats-officedocument.themeOverride+xml"/>
  <Override PartName="/ppt/theme/themeOverride41.xml" ContentType="application/vnd.openxmlformats-officedocument.themeOverride+xml"/>
  <Override PartName="/ppt/theme/themeOverride42.xml" ContentType="application/vnd.openxmlformats-officedocument.themeOverride+xml"/>
  <Override PartName="/ppt/theme/themeOverride43.xml" ContentType="application/vnd.openxmlformats-officedocument.themeOverride+xml"/>
  <Override PartName="/ppt/theme/themeOverride44.xml" ContentType="application/vnd.openxmlformats-officedocument.themeOverride+xml"/>
  <Override PartName="/ppt/theme/themeOverride45.xml" ContentType="application/vnd.openxmlformats-officedocument.themeOverride+xml"/>
  <Override PartName="/ppt/theme/themeOverride46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593" r:id="rId3"/>
    <p:sldId id="594" r:id="rId4"/>
    <p:sldId id="595" r:id="rId6"/>
    <p:sldId id="596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DC3E6"/>
    <a:srgbClr val="33CCFF"/>
    <a:srgbClr val="B34B9F"/>
    <a:srgbClr val="FAB8A0"/>
    <a:srgbClr val="543C90"/>
    <a:srgbClr val="998AF2"/>
    <a:srgbClr val="F6FF9F"/>
    <a:srgbClr val="2C8869"/>
    <a:srgbClr val="EBBAFE"/>
    <a:srgbClr val="C7BF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53" autoAdjust="0"/>
    <p:restoredTop sz="93655" autoAdjust="0"/>
  </p:normalViewPr>
  <p:slideViewPr>
    <p:cSldViewPr snapToGrid="0">
      <p:cViewPr>
        <p:scale>
          <a:sx n="62" d="100"/>
          <a:sy n="62" d="100"/>
        </p:scale>
        <p:origin x="28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4" Type="http://schemas.microsoft.com/office/2011/relationships/chartColorStyle" Target="colors1.xml"/><Relationship Id="rId3" Type="http://schemas.microsoft.com/office/2011/relationships/chartStyle" Target="style1.xml"/><Relationship Id="rId2" Type="http://schemas.openxmlformats.org/officeDocument/2006/relationships/themeOverride" Target="../theme/themeOverride1.xml"/><Relationship Id="rId1" Type="http://schemas.openxmlformats.org/officeDocument/2006/relationships/oleObject" Target="file:///C:\Users\CHINGLUH\Downloads\COPQ\COPQ\CoPQ&#160;database%2025.xlsx" TargetMode="External"/></Relationships>
</file>

<file path=ppt/charts/_rels/chart2.xml.rels><?xml version="1.0" encoding="UTF-8" standalone="yes"?>
<Relationships xmlns="http://schemas.openxmlformats.org/package/2006/relationships"><Relationship Id="rId4" Type="http://schemas.microsoft.com/office/2011/relationships/chartColorStyle" Target="colors2.xml"/><Relationship Id="rId3" Type="http://schemas.microsoft.com/office/2011/relationships/chartStyle" Target="style2.xml"/><Relationship Id="rId2" Type="http://schemas.openxmlformats.org/officeDocument/2006/relationships/themeOverride" Target="../theme/themeOverride2.xml"/><Relationship Id="rId1" Type="http://schemas.openxmlformats.org/officeDocument/2006/relationships/oleObject" Target="file:///C:\Users\CHINGLUH\Downloads\COPQ\COPQ\CoPQ&#160;database%2025.xlsx" TargetMode="External"/></Relationships>
</file>

<file path=ppt/charts/_rels/chart3.xml.rels><?xml version="1.0" encoding="UTF-8" standalone="yes"?>
<Relationships xmlns="http://schemas.openxmlformats.org/package/2006/relationships"><Relationship Id="rId4" Type="http://schemas.microsoft.com/office/2011/relationships/chartColorStyle" Target="colors3.xml"/><Relationship Id="rId3" Type="http://schemas.microsoft.com/office/2011/relationships/chartStyle" Target="style3.xml"/><Relationship Id="rId2" Type="http://schemas.openxmlformats.org/officeDocument/2006/relationships/themeOverride" Target="../theme/themeOverride3.xml"/><Relationship Id="rId1" Type="http://schemas.openxmlformats.org/officeDocument/2006/relationships/oleObject" Target="file:///C:\Users\CHINGLUH\Downloads\COPQ\COPQ\CoPQ&#160;database%2025.xlsx" TargetMode="External"/></Relationships>
</file>

<file path=ppt/charts/_rels/chart4.xml.rels><?xml version="1.0" encoding="UTF-8" standalone="yes"?>
<Relationships xmlns="http://schemas.openxmlformats.org/package/2006/relationships"><Relationship Id="rId4" Type="http://schemas.microsoft.com/office/2011/relationships/chartColorStyle" Target="colors4.xml"/><Relationship Id="rId3" Type="http://schemas.microsoft.com/office/2011/relationships/chartStyle" Target="style4.xml"/><Relationship Id="rId2" Type="http://schemas.openxmlformats.org/officeDocument/2006/relationships/themeOverride" Target="../theme/themeOverride4.xml"/><Relationship Id="rId1" Type="http://schemas.openxmlformats.org/officeDocument/2006/relationships/oleObject" Target="file:///C:\DATA\Downloads\CoPQ%20database%2025.xlsx" TargetMode="External"/></Relationships>
</file>

<file path=ppt/charts/_rels/chart5.xml.rels><?xml version="1.0" encoding="UTF-8" standalone="yes"?>
<Relationships xmlns="http://schemas.openxmlformats.org/package/2006/relationships"><Relationship Id="rId4" Type="http://schemas.microsoft.com/office/2011/relationships/chartColorStyle" Target="colors5.xml"/><Relationship Id="rId3" Type="http://schemas.microsoft.com/office/2011/relationships/chartStyle" Target="style5.xml"/><Relationship Id="rId2" Type="http://schemas.openxmlformats.org/officeDocument/2006/relationships/themeOverride" Target="../theme/themeOverride5.xml"/><Relationship Id="rId1" Type="http://schemas.openxmlformats.org/officeDocument/2006/relationships/oleObject" Target="file:///C:\DATA\Downloads\CoPQ%20database%2025.xlsx" TargetMode="External"/></Relationships>
</file>

<file path=ppt/charts/_rels/chart6.xml.rels><?xml version="1.0" encoding="UTF-8" standalone="yes"?>
<Relationships xmlns="http://schemas.openxmlformats.org/package/2006/relationships"><Relationship Id="rId4" Type="http://schemas.microsoft.com/office/2011/relationships/chartColorStyle" Target="colors6.xml"/><Relationship Id="rId3" Type="http://schemas.microsoft.com/office/2011/relationships/chartStyle" Target="style6.xml"/><Relationship Id="rId2" Type="http://schemas.openxmlformats.org/officeDocument/2006/relationships/themeOverride" Target="../theme/themeOverride6.xml"/><Relationship Id="rId1" Type="http://schemas.openxmlformats.org/officeDocument/2006/relationships/oleObject" Target="file:///C:\DATA\Downloads\CoPQ%20database%2025.xlsx" TargetMode="External"/></Relationships>
</file>

<file path=ppt/charts/_rels/chart7.xml.rels><?xml version="1.0" encoding="UTF-8" standalone="yes"?>
<Relationships xmlns="http://schemas.openxmlformats.org/package/2006/relationships"><Relationship Id="rId4" Type="http://schemas.microsoft.com/office/2011/relationships/chartColorStyle" Target="colors7.xml"/><Relationship Id="rId3" Type="http://schemas.microsoft.com/office/2011/relationships/chartStyle" Target="style7.xml"/><Relationship Id="rId2" Type="http://schemas.openxmlformats.org/officeDocument/2006/relationships/themeOverride" Target="../theme/themeOverride7.xml"/><Relationship Id="rId1" Type="http://schemas.openxmlformats.org/officeDocument/2006/relationships/oleObject" Target="file:///C:\DATA\Downloads\CoPQ%20database%2025.xlsx" TargetMode="External"/></Relationships>
</file>

<file path=ppt/charts/_rels/chart8.xml.rels><?xml version="1.0" encoding="UTF-8" standalone="yes"?>
<Relationships xmlns="http://schemas.openxmlformats.org/package/2006/relationships"><Relationship Id="rId4" Type="http://schemas.microsoft.com/office/2011/relationships/chartColorStyle" Target="colors8.xml"/><Relationship Id="rId3" Type="http://schemas.microsoft.com/office/2011/relationships/chartStyle" Target="style8.xml"/><Relationship Id="rId2" Type="http://schemas.openxmlformats.org/officeDocument/2006/relationships/themeOverride" Target="../theme/themeOverride8.xml"/><Relationship Id="rId1" Type="http://schemas.openxmlformats.org/officeDocument/2006/relationships/oleObject" Target="file:///C:\DATA\Downloads\CoPQ%20database%2025.xlsx" TargetMode="External"/></Relationships>
</file>

<file path=ppt/charts/_rels/chart9.xml.rels><?xml version="1.0" encoding="UTF-8" standalone="yes"?>
<Relationships xmlns="http://schemas.openxmlformats.org/package/2006/relationships"><Relationship Id="rId4" Type="http://schemas.microsoft.com/office/2011/relationships/chartColorStyle" Target="colors9.xml"/><Relationship Id="rId3" Type="http://schemas.microsoft.com/office/2011/relationships/chartStyle" Target="style9.xml"/><Relationship Id="rId2" Type="http://schemas.openxmlformats.org/officeDocument/2006/relationships/themeOverride" Target="../theme/themeOverride9.xml"/><Relationship Id="rId1" Type="http://schemas.openxmlformats.org/officeDocument/2006/relationships/oleObject" Target="file:///C:\DATA\Downloads\CoPQ%20database%2025.xlsx" TargetMode="External"/></Relationships>
</file>

<file path=ppt/charts/_rels/chart10.xml.rels><?xml version="1.0" encoding="UTF-8" standalone="yes"?>
<Relationships xmlns="http://schemas.openxmlformats.org/package/2006/relationships"><Relationship Id="rId4" Type="http://schemas.microsoft.com/office/2011/relationships/chartColorStyle" Target="colors10.xml"/><Relationship Id="rId3" Type="http://schemas.microsoft.com/office/2011/relationships/chartStyle" Target="style10.xml"/><Relationship Id="rId2" Type="http://schemas.openxmlformats.org/officeDocument/2006/relationships/themeOverride" Target="../theme/themeOverride10.xml"/><Relationship Id="rId1" Type="http://schemas.openxmlformats.org/officeDocument/2006/relationships/oleObject" Target="file:///C:\DATA\Downloads\CoPQ%20database%2025.xlsx" TargetMode="External"/></Relationships>
</file>

<file path=ppt/charts/_rels/chart11.xml.rels><?xml version="1.0" encoding="UTF-8" standalone="yes"?>
<Relationships xmlns="http://schemas.openxmlformats.org/package/2006/relationships"><Relationship Id="rId4" Type="http://schemas.microsoft.com/office/2011/relationships/chartColorStyle" Target="colors11.xml"/><Relationship Id="rId3" Type="http://schemas.microsoft.com/office/2011/relationships/chartStyle" Target="style11.xml"/><Relationship Id="rId2" Type="http://schemas.openxmlformats.org/officeDocument/2006/relationships/themeOverride" Target="../theme/themeOverride11.xml"/><Relationship Id="rId1" Type="http://schemas.openxmlformats.org/officeDocument/2006/relationships/oleObject" Target="file:///C:\DATA\Downloads\CoPQ%20database%2025.xlsx" TargetMode="External"/></Relationships>
</file>

<file path=ppt/charts/_rels/chart12.xml.rels><?xml version="1.0" encoding="UTF-8" standalone="yes"?>
<Relationships xmlns="http://schemas.openxmlformats.org/package/2006/relationships"><Relationship Id="rId4" Type="http://schemas.microsoft.com/office/2011/relationships/chartColorStyle" Target="colors12.xml"/><Relationship Id="rId3" Type="http://schemas.microsoft.com/office/2011/relationships/chartStyle" Target="style12.xml"/><Relationship Id="rId2" Type="http://schemas.openxmlformats.org/officeDocument/2006/relationships/themeOverride" Target="../theme/themeOverride12.xml"/><Relationship Id="rId1" Type="http://schemas.openxmlformats.org/officeDocument/2006/relationships/oleObject" Target="file:///C:\DATA\Downloads\CoPQ%20database%2025.xlsx" TargetMode="External"/></Relationships>
</file>

<file path=ppt/charts/_rels/chart13.xml.rels><?xml version="1.0" encoding="UTF-8" standalone="yes"?>
<Relationships xmlns="http://schemas.openxmlformats.org/package/2006/relationships"><Relationship Id="rId4" Type="http://schemas.microsoft.com/office/2011/relationships/chartColorStyle" Target="colors13.xml"/><Relationship Id="rId3" Type="http://schemas.microsoft.com/office/2011/relationships/chartStyle" Target="style13.xml"/><Relationship Id="rId2" Type="http://schemas.openxmlformats.org/officeDocument/2006/relationships/themeOverride" Target="../theme/themeOverride13.xml"/><Relationship Id="rId1" Type="http://schemas.openxmlformats.org/officeDocument/2006/relationships/oleObject" Target="file:///C:\DATA\Downloads\CoPQ%20database%2025.xlsx" TargetMode="External"/></Relationships>
</file>

<file path=ppt/charts/_rels/chart14.xml.rels><?xml version="1.0" encoding="UTF-8" standalone="yes"?>
<Relationships xmlns="http://schemas.openxmlformats.org/package/2006/relationships"><Relationship Id="rId4" Type="http://schemas.microsoft.com/office/2011/relationships/chartColorStyle" Target="colors14.xml"/><Relationship Id="rId3" Type="http://schemas.microsoft.com/office/2011/relationships/chartStyle" Target="style14.xml"/><Relationship Id="rId2" Type="http://schemas.openxmlformats.org/officeDocument/2006/relationships/themeOverride" Target="../theme/themeOverride14.xml"/><Relationship Id="rId1" Type="http://schemas.openxmlformats.org/officeDocument/2006/relationships/oleObject" Target="file:///C:\DATA\Downloads\CoPQ%20database%2025.xlsx" TargetMode="External"/></Relationships>
</file>

<file path=ppt/charts/_rels/chart15.xml.rels><?xml version="1.0" encoding="UTF-8" standalone="yes"?>
<Relationships xmlns="http://schemas.openxmlformats.org/package/2006/relationships"><Relationship Id="rId4" Type="http://schemas.microsoft.com/office/2011/relationships/chartColorStyle" Target="colors15.xml"/><Relationship Id="rId3" Type="http://schemas.microsoft.com/office/2011/relationships/chartStyle" Target="style15.xml"/><Relationship Id="rId2" Type="http://schemas.openxmlformats.org/officeDocument/2006/relationships/themeOverride" Target="../theme/themeOverride15.xml"/><Relationship Id="rId1" Type="http://schemas.openxmlformats.org/officeDocument/2006/relationships/oleObject" Target="file:///C:\DATA\Downloads\CoPQ%20database%2025.xlsx" TargetMode="External"/></Relationships>
</file>

<file path=ppt/charts/_rels/chart16.xml.rels><?xml version="1.0" encoding="UTF-8" standalone="yes"?>
<Relationships xmlns="http://schemas.openxmlformats.org/package/2006/relationships"><Relationship Id="rId4" Type="http://schemas.microsoft.com/office/2011/relationships/chartColorStyle" Target="colors16.xml"/><Relationship Id="rId3" Type="http://schemas.microsoft.com/office/2011/relationships/chartStyle" Target="style16.xml"/><Relationship Id="rId2" Type="http://schemas.openxmlformats.org/officeDocument/2006/relationships/themeOverride" Target="../theme/themeOverride16.xml"/><Relationship Id="rId1" Type="http://schemas.openxmlformats.org/officeDocument/2006/relationships/oleObject" Target="file:///C:\DATA\Downloads\CoPQ%20type%20analysis%20(1).xlsx" TargetMode="External"/></Relationships>
</file>

<file path=ppt/charts/_rels/chart17.xml.rels><?xml version="1.0" encoding="UTF-8" standalone="yes"?>
<Relationships xmlns="http://schemas.openxmlformats.org/package/2006/relationships"><Relationship Id="rId4" Type="http://schemas.microsoft.com/office/2011/relationships/chartColorStyle" Target="colors17.xml"/><Relationship Id="rId3" Type="http://schemas.microsoft.com/office/2011/relationships/chartStyle" Target="style17.xml"/><Relationship Id="rId2" Type="http://schemas.openxmlformats.org/officeDocument/2006/relationships/themeOverride" Target="../theme/themeOverride17.xml"/><Relationship Id="rId1" Type="http://schemas.openxmlformats.org/officeDocument/2006/relationships/oleObject" Target="file:///C:\DATA\Downloads\CoPQ%20type%20analysis%20(1).xlsx" TargetMode="External"/></Relationships>
</file>

<file path=ppt/charts/_rels/chart18.xml.rels><?xml version="1.0" encoding="UTF-8" standalone="yes"?>
<Relationships xmlns="http://schemas.openxmlformats.org/package/2006/relationships"><Relationship Id="rId4" Type="http://schemas.microsoft.com/office/2011/relationships/chartColorStyle" Target="colors18.xml"/><Relationship Id="rId3" Type="http://schemas.microsoft.com/office/2011/relationships/chartStyle" Target="style18.xml"/><Relationship Id="rId2" Type="http://schemas.openxmlformats.org/officeDocument/2006/relationships/themeOverride" Target="../theme/themeOverride18.xml"/><Relationship Id="rId1" Type="http://schemas.openxmlformats.org/officeDocument/2006/relationships/oleObject" Target="file:///C:\DATA\Downloads\CoPQ%20type%20analysis%20(1).xlsx" TargetMode="External"/></Relationships>
</file>

<file path=ppt/charts/_rels/chart19.xml.rels><?xml version="1.0" encoding="UTF-8" standalone="yes"?>
<Relationships xmlns="http://schemas.openxmlformats.org/package/2006/relationships"><Relationship Id="rId4" Type="http://schemas.microsoft.com/office/2011/relationships/chartColorStyle" Target="colors19.xml"/><Relationship Id="rId3" Type="http://schemas.microsoft.com/office/2011/relationships/chartStyle" Target="style19.xml"/><Relationship Id="rId2" Type="http://schemas.openxmlformats.org/officeDocument/2006/relationships/themeOverride" Target="../theme/themeOverride19.xml"/><Relationship Id="rId1" Type="http://schemas.openxmlformats.org/officeDocument/2006/relationships/oleObject" Target="file:///C:\DATA\Downloads\CoPQ%20type%20analysis%20(1).xlsx" TargetMode="External"/></Relationships>
</file>

<file path=ppt/charts/_rels/chart20.xml.rels><?xml version="1.0" encoding="UTF-8" standalone="yes"?>
<Relationships xmlns="http://schemas.openxmlformats.org/package/2006/relationships"><Relationship Id="rId2" Type="http://schemas.openxmlformats.org/officeDocument/2006/relationships/themeOverride" Target="../theme/themeOverride20.xml"/><Relationship Id="rId1" Type="http://schemas.openxmlformats.org/officeDocument/2006/relationships/oleObject" Target="file:///C:\DATA\Downloads\CoPQ%20type%20analysis%20(1).xlsx" TargetMode="External"/></Relationships>
</file>

<file path=ppt/charts/_rels/chart21.xml.rels><?xml version="1.0" encoding="UTF-8" standalone="yes"?>
<Relationships xmlns="http://schemas.openxmlformats.org/package/2006/relationships"><Relationship Id="rId4" Type="http://schemas.microsoft.com/office/2011/relationships/chartColorStyle" Target="colors20.xml"/><Relationship Id="rId3" Type="http://schemas.microsoft.com/office/2011/relationships/chartStyle" Target="style20.xml"/><Relationship Id="rId2" Type="http://schemas.openxmlformats.org/officeDocument/2006/relationships/themeOverride" Target="../theme/themeOverride21.xml"/><Relationship Id="rId1" Type="http://schemas.openxmlformats.org/officeDocument/2006/relationships/oleObject" Target="file:///C:\DATA\Downloads\CoPQ%20type%20analysis%20(1).xlsx" TargetMode="External"/></Relationships>
</file>

<file path=ppt/charts/_rels/chart22.xml.rels><?xml version="1.0" encoding="UTF-8" standalone="yes"?>
<Relationships xmlns="http://schemas.openxmlformats.org/package/2006/relationships"><Relationship Id="rId4" Type="http://schemas.microsoft.com/office/2011/relationships/chartColorStyle" Target="colors21.xml"/><Relationship Id="rId3" Type="http://schemas.microsoft.com/office/2011/relationships/chartStyle" Target="style21.xml"/><Relationship Id="rId2" Type="http://schemas.openxmlformats.org/officeDocument/2006/relationships/themeOverride" Target="../theme/themeOverride22.xml"/><Relationship Id="rId1" Type="http://schemas.openxmlformats.org/officeDocument/2006/relationships/oleObject" Target="file:///C:\DATA\Downloads\CoPQ%20type%20analysis%20(1).xlsx" TargetMode="External"/></Relationships>
</file>

<file path=ppt/charts/_rels/chart23.xml.rels><?xml version="1.0" encoding="UTF-8" standalone="yes"?>
<Relationships xmlns="http://schemas.openxmlformats.org/package/2006/relationships"><Relationship Id="rId4" Type="http://schemas.microsoft.com/office/2011/relationships/chartColorStyle" Target="colors22.xml"/><Relationship Id="rId3" Type="http://schemas.microsoft.com/office/2011/relationships/chartStyle" Target="style22.xml"/><Relationship Id="rId2" Type="http://schemas.openxmlformats.org/officeDocument/2006/relationships/themeOverride" Target="../theme/themeOverride23.xml"/><Relationship Id="rId1" Type="http://schemas.openxmlformats.org/officeDocument/2006/relationships/oleObject" Target="file:///C:\DATA\Downloads\CoPQ%20type%20analysis%20(1).xlsx" TargetMode="External"/></Relationships>
</file>

<file path=ppt/charts/_rels/chart24.xml.rels><?xml version="1.0" encoding="UTF-8" standalone="yes"?>
<Relationships xmlns="http://schemas.openxmlformats.org/package/2006/relationships"><Relationship Id="rId4" Type="http://schemas.microsoft.com/office/2011/relationships/chartColorStyle" Target="colors23.xml"/><Relationship Id="rId3" Type="http://schemas.microsoft.com/office/2011/relationships/chartStyle" Target="style23.xml"/><Relationship Id="rId2" Type="http://schemas.openxmlformats.org/officeDocument/2006/relationships/themeOverride" Target="../theme/themeOverride24.xml"/><Relationship Id="rId1" Type="http://schemas.openxmlformats.org/officeDocument/2006/relationships/oleObject" Target="file:///C:\DATA\Downloads\CoPQ%20type%20analysis%20(1).xlsx" TargetMode="External"/></Relationships>
</file>

<file path=ppt/charts/_rels/chart25.xml.rels><?xml version="1.0" encoding="UTF-8" standalone="yes"?>
<Relationships xmlns="http://schemas.openxmlformats.org/package/2006/relationships"><Relationship Id="rId4" Type="http://schemas.microsoft.com/office/2011/relationships/chartColorStyle" Target="colors24.xml"/><Relationship Id="rId3" Type="http://schemas.microsoft.com/office/2011/relationships/chartStyle" Target="style24.xml"/><Relationship Id="rId2" Type="http://schemas.openxmlformats.org/officeDocument/2006/relationships/themeOverride" Target="../theme/themeOverride25.xml"/><Relationship Id="rId1" Type="http://schemas.openxmlformats.org/officeDocument/2006/relationships/oleObject" Target="file:///C:\DATA\Downloads\CoPQ%20type%20analysis%20(1).xlsx" TargetMode="External"/></Relationships>
</file>

<file path=ppt/charts/_rels/chart26.xml.rels><?xml version="1.0" encoding="UTF-8" standalone="yes"?>
<Relationships xmlns="http://schemas.openxmlformats.org/package/2006/relationships"><Relationship Id="rId4" Type="http://schemas.microsoft.com/office/2011/relationships/chartColorStyle" Target="colors25.xml"/><Relationship Id="rId3" Type="http://schemas.microsoft.com/office/2011/relationships/chartStyle" Target="style25.xml"/><Relationship Id="rId2" Type="http://schemas.openxmlformats.org/officeDocument/2006/relationships/themeOverride" Target="../theme/themeOverride26.xml"/><Relationship Id="rId1" Type="http://schemas.openxmlformats.org/officeDocument/2006/relationships/oleObject" Target="file:///C:\DATA\Downloads\CoPQ%20type%20analysis%20(1).xlsx" TargetMode="External"/></Relationships>
</file>

<file path=ppt/charts/_rels/chart27.xml.rels><?xml version="1.0" encoding="UTF-8" standalone="yes"?>
<Relationships xmlns="http://schemas.openxmlformats.org/package/2006/relationships"><Relationship Id="rId4" Type="http://schemas.microsoft.com/office/2011/relationships/chartColorStyle" Target="colors26.xml"/><Relationship Id="rId3" Type="http://schemas.microsoft.com/office/2011/relationships/chartStyle" Target="style26.xml"/><Relationship Id="rId2" Type="http://schemas.openxmlformats.org/officeDocument/2006/relationships/themeOverride" Target="../theme/themeOverride27.xml"/><Relationship Id="rId1" Type="http://schemas.openxmlformats.org/officeDocument/2006/relationships/oleObject" Target="file:///C:\DATA\Downloads\CoPQ%20type%20analysis%20(1).xlsx" TargetMode="External"/></Relationships>
</file>

<file path=ppt/charts/_rels/chart28.xml.rels><?xml version="1.0" encoding="UTF-8" standalone="yes"?>
<Relationships xmlns="http://schemas.openxmlformats.org/package/2006/relationships"><Relationship Id="rId1" Type="http://schemas.openxmlformats.org/officeDocument/2006/relationships/oleObject" Target="file:///C:\DATA\Desktop\ChiTietCongViec\Data_Output\FTT_Combined_Report_new.xlsx" TargetMode="External"/></Relationships>
</file>

<file path=ppt/charts/_rels/chart29.xml.rels><?xml version="1.0" encoding="UTF-8" standalone="yes"?>
<Relationships xmlns="http://schemas.openxmlformats.org/package/2006/relationships"><Relationship Id="rId1" Type="http://schemas.openxmlformats.org/officeDocument/2006/relationships/oleObject" Target="file:///C:\DATA\Desktop\ChiTietCongViec\Data_Output\FTT_Combined_Report_v2.xlsx" TargetMode="External"/></Relationships>
</file>

<file path=ppt/charts/_rels/chart30.xml.rels><?xml version="1.0" encoding="UTF-8" standalone="yes"?>
<Relationships xmlns="http://schemas.openxmlformats.org/package/2006/relationships"><Relationship Id="rId1" Type="http://schemas.openxmlformats.org/officeDocument/2006/relationships/oleObject" Target="file:///C:\DATA\Desktop\ChiTietCongViec\Data_Output\FTT_Combined_Report_v2.xlsx" TargetMode="External"/></Relationships>
</file>

<file path=ppt/charts/_rels/chart3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DATA\Desktop\ChiTietCongViec\Data_Output\FTT_Combined_Report_v2.xlsx" TargetMode="External"/></Relationships>
</file>

<file path=ppt/charts/_rels/chart32.xml.rels><?xml version="1.0" encoding="UTF-8" standalone="yes"?>
<Relationships xmlns="http://schemas.openxmlformats.org/package/2006/relationships"><Relationship Id="rId4" Type="http://schemas.microsoft.com/office/2011/relationships/chartColorStyle" Target="colors27.xml"/><Relationship Id="rId3" Type="http://schemas.microsoft.com/office/2011/relationships/chartStyle" Target="style27.xml"/><Relationship Id="rId2" Type="http://schemas.openxmlformats.org/officeDocument/2006/relationships/themeOverride" Target="../theme/themeOverride28.xml"/><Relationship Id="rId1" Type="http://schemas.openxmlformats.org/officeDocument/2006/relationships/oleObject" Target="file:///C:\DATA\Downloads\CoPQ%20type%20analysis%20(1).xlsx" TargetMode="External"/></Relationships>
</file>

<file path=ppt/charts/_rels/chart33.xml.rels><?xml version="1.0" encoding="UTF-8" standalone="yes"?>
<Relationships xmlns="http://schemas.openxmlformats.org/package/2006/relationships"><Relationship Id="rId4" Type="http://schemas.microsoft.com/office/2011/relationships/chartColorStyle" Target="colors28.xml"/><Relationship Id="rId3" Type="http://schemas.microsoft.com/office/2011/relationships/chartStyle" Target="style28.xml"/><Relationship Id="rId2" Type="http://schemas.openxmlformats.org/officeDocument/2006/relationships/themeOverride" Target="../theme/themeOverride29.xml"/><Relationship Id="rId1" Type="http://schemas.openxmlformats.org/officeDocument/2006/relationships/oleObject" Target="file:///C:\DATA\Downloads\CoPQ%20type%20analysis%20(1).xlsx" TargetMode="External"/></Relationships>
</file>

<file path=ppt/charts/_rels/chart34.xml.rels><?xml version="1.0" encoding="UTF-8" standalone="yes"?>
<Relationships xmlns="http://schemas.openxmlformats.org/package/2006/relationships"><Relationship Id="rId4" Type="http://schemas.microsoft.com/office/2011/relationships/chartColorStyle" Target="colors29.xml"/><Relationship Id="rId3" Type="http://schemas.microsoft.com/office/2011/relationships/chartStyle" Target="style29.xml"/><Relationship Id="rId2" Type="http://schemas.openxmlformats.org/officeDocument/2006/relationships/themeOverride" Target="../theme/themeOverride30.xml"/><Relationship Id="rId1" Type="http://schemas.openxmlformats.org/officeDocument/2006/relationships/oleObject" Target="file:///C:\DATA\Downloads\CoPQ%20type%20analysis%20(1).xlsx" TargetMode="External"/></Relationships>
</file>

<file path=ppt/charts/_rels/chart35.xml.rels><?xml version="1.0" encoding="UTF-8" standalone="yes"?>
<Relationships xmlns="http://schemas.openxmlformats.org/package/2006/relationships"><Relationship Id="rId4" Type="http://schemas.microsoft.com/office/2011/relationships/chartColorStyle" Target="colors30.xml"/><Relationship Id="rId3" Type="http://schemas.microsoft.com/office/2011/relationships/chartStyle" Target="style30.xml"/><Relationship Id="rId2" Type="http://schemas.openxmlformats.org/officeDocument/2006/relationships/themeOverride" Target="../theme/themeOverride31.xml"/><Relationship Id="rId1" Type="http://schemas.openxmlformats.org/officeDocument/2006/relationships/oleObject" Target="file:///C:\DATA\Downloads\CoPQ%20type%20analysis%20(1).xlsx" TargetMode="External"/></Relationships>
</file>

<file path=ppt/charts/_rels/chart36.xml.rels><?xml version="1.0" encoding="UTF-8" standalone="yes"?>
<Relationships xmlns="http://schemas.openxmlformats.org/package/2006/relationships"><Relationship Id="rId4" Type="http://schemas.microsoft.com/office/2011/relationships/chartColorStyle" Target="colors31.xml"/><Relationship Id="rId3" Type="http://schemas.microsoft.com/office/2011/relationships/chartStyle" Target="style31.xml"/><Relationship Id="rId2" Type="http://schemas.openxmlformats.org/officeDocument/2006/relationships/themeOverride" Target="../theme/themeOverride32.xml"/><Relationship Id="rId1" Type="http://schemas.openxmlformats.org/officeDocument/2006/relationships/oleObject" Target="file:///C:\DATA\Downloads\CoPQ%20type%20analysis%20(1).xlsx" TargetMode="External"/></Relationships>
</file>

<file path=ppt/charts/_rels/chart37.xml.rels><?xml version="1.0" encoding="UTF-8" standalone="yes"?>
<Relationships xmlns="http://schemas.openxmlformats.org/package/2006/relationships"><Relationship Id="rId3" Type="http://schemas.microsoft.com/office/2011/relationships/chartColorStyle" Target="colors32.xml"/><Relationship Id="rId2" Type="http://schemas.microsoft.com/office/2011/relationships/chartStyle" Target="style32.xml"/><Relationship Id="rId1" Type="http://schemas.openxmlformats.org/officeDocument/2006/relationships/oleObject" Target="file:///C:\DATA\Downloads\CoPQ%20type%20analysis%20(1).xlsx" TargetMode="External"/></Relationships>
</file>

<file path=ppt/charts/_rels/chart38.xml.rels><?xml version="1.0" encoding="UTF-8" standalone="yes"?>
<Relationships xmlns="http://schemas.openxmlformats.org/package/2006/relationships"><Relationship Id="rId4" Type="http://schemas.microsoft.com/office/2011/relationships/chartColorStyle" Target="colors33.xml"/><Relationship Id="rId3" Type="http://schemas.microsoft.com/office/2011/relationships/chartStyle" Target="style33.xml"/><Relationship Id="rId2" Type="http://schemas.openxmlformats.org/officeDocument/2006/relationships/themeOverride" Target="../theme/themeOverride33.xml"/><Relationship Id="rId1" Type="http://schemas.openxmlformats.org/officeDocument/2006/relationships/oleObject" Target="file:///C:\DATA\Downloads\CoPQ%20type%20analysis%20(1).xlsx" TargetMode="External"/></Relationships>
</file>

<file path=ppt/charts/_rels/chart39.xml.rels><?xml version="1.0" encoding="UTF-8" standalone="yes"?>
<Relationships xmlns="http://schemas.openxmlformats.org/package/2006/relationships"><Relationship Id="rId4" Type="http://schemas.microsoft.com/office/2011/relationships/chartColorStyle" Target="colors34.xml"/><Relationship Id="rId3" Type="http://schemas.microsoft.com/office/2011/relationships/chartStyle" Target="style34.xml"/><Relationship Id="rId2" Type="http://schemas.openxmlformats.org/officeDocument/2006/relationships/themeOverride" Target="../theme/themeOverride34.xml"/><Relationship Id="rId1" Type="http://schemas.openxmlformats.org/officeDocument/2006/relationships/oleObject" Target="file:///C:\DATA\Downloads\CoPQ%20type%20analysis%20(1).xlsx" TargetMode="External"/></Relationships>
</file>

<file path=ppt/charts/_rels/chart40.xml.rels><?xml version="1.0" encoding="UTF-8" standalone="yes"?>
<Relationships xmlns="http://schemas.openxmlformats.org/package/2006/relationships"><Relationship Id="rId4" Type="http://schemas.microsoft.com/office/2011/relationships/chartColorStyle" Target="colors35.xml"/><Relationship Id="rId3" Type="http://schemas.microsoft.com/office/2011/relationships/chartStyle" Target="style35.xml"/><Relationship Id="rId2" Type="http://schemas.openxmlformats.org/officeDocument/2006/relationships/themeOverride" Target="../theme/themeOverride35.xml"/><Relationship Id="rId1" Type="http://schemas.openxmlformats.org/officeDocument/2006/relationships/oleObject" Target="file:///C:\DATA\Downloads\CoPQ%20type%20analysis%20(1).xlsx" TargetMode="External"/></Relationships>
</file>

<file path=ppt/charts/_rels/chart41.xml.rels><?xml version="1.0" encoding="UTF-8" standalone="yes"?>
<Relationships xmlns="http://schemas.openxmlformats.org/package/2006/relationships"><Relationship Id="rId4" Type="http://schemas.microsoft.com/office/2011/relationships/chartColorStyle" Target="colors36.xml"/><Relationship Id="rId3" Type="http://schemas.microsoft.com/office/2011/relationships/chartStyle" Target="style36.xml"/><Relationship Id="rId2" Type="http://schemas.openxmlformats.org/officeDocument/2006/relationships/themeOverride" Target="../theme/themeOverride36.xml"/><Relationship Id="rId1" Type="http://schemas.openxmlformats.org/officeDocument/2006/relationships/oleObject" Target="file:///C:\DATA\Downloads\CoPQ%20type%20analysis%20(1).xlsx" TargetMode="External"/></Relationships>
</file>

<file path=ppt/charts/_rels/chart42.xml.rels><?xml version="1.0" encoding="UTF-8" standalone="yes"?>
<Relationships xmlns="http://schemas.openxmlformats.org/package/2006/relationships"><Relationship Id="rId4" Type="http://schemas.microsoft.com/office/2011/relationships/chartColorStyle" Target="colors37.xml"/><Relationship Id="rId3" Type="http://schemas.microsoft.com/office/2011/relationships/chartStyle" Target="style37.xml"/><Relationship Id="rId2" Type="http://schemas.openxmlformats.org/officeDocument/2006/relationships/themeOverride" Target="../theme/themeOverride37.xml"/><Relationship Id="rId1" Type="http://schemas.openxmlformats.org/officeDocument/2006/relationships/oleObject" Target="file:///C:\DATA\Downloads\CoPQ%20type%20analysis%20(1).xlsx" TargetMode="External"/></Relationships>
</file>

<file path=ppt/charts/_rels/chart43.xml.rels><?xml version="1.0" encoding="UTF-8" standalone="yes"?>
<Relationships xmlns="http://schemas.openxmlformats.org/package/2006/relationships"><Relationship Id="rId4" Type="http://schemas.microsoft.com/office/2011/relationships/chartColorStyle" Target="colors38.xml"/><Relationship Id="rId3" Type="http://schemas.microsoft.com/office/2011/relationships/chartStyle" Target="style38.xml"/><Relationship Id="rId2" Type="http://schemas.openxmlformats.org/officeDocument/2006/relationships/themeOverride" Target="../theme/themeOverride38.xml"/><Relationship Id="rId1" Type="http://schemas.openxmlformats.org/officeDocument/2006/relationships/oleObject" Target="file:///C:\DATA\Downloads\CoPQ%20type%20analysis%20(1).xlsx" TargetMode="External"/></Relationships>
</file>

<file path=ppt/charts/_rels/chart44.xml.rels><?xml version="1.0" encoding="UTF-8" standalone="yes"?>
<Relationships xmlns="http://schemas.openxmlformats.org/package/2006/relationships"><Relationship Id="rId4" Type="http://schemas.microsoft.com/office/2011/relationships/chartColorStyle" Target="colors39.xml"/><Relationship Id="rId3" Type="http://schemas.microsoft.com/office/2011/relationships/chartStyle" Target="style39.xml"/><Relationship Id="rId2" Type="http://schemas.openxmlformats.org/officeDocument/2006/relationships/themeOverride" Target="../theme/themeOverride39.xml"/><Relationship Id="rId1" Type="http://schemas.openxmlformats.org/officeDocument/2006/relationships/oleObject" Target="file:///C:\DATA\Downloads\CoPQ%20type%20analysis%20(1).xlsx" TargetMode="External"/></Relationships>
</file>

<file path=ppt/charts/_rels/chart45.xml.rels><?xml version="1.0" encoding="UTF-8" standalone="yes"?>
<Relationships xmlns="http://schemas.openxmlformats.org/package/2006/relationships"><Relationship Id="rId4" Type="http://schemas.microsoft.com/office/2011/relationships/chartColorStyle" Target="colors40.xml"/><Relationship Id="rId3" Type="http://schemas.microsoft.com/office/2011/relationships/chartStyle" Target="style40.xml"/><Relationship Id="rId2" Type="http://schemas.openxmlformats.org/officeDocument/2006/relationships/themeOverride" Target="../theme/themeOverride40.xml"/><Relationship Id="rId1" Type="http://schemas.openxmlformats.org/officeDocument/2006/relationships/oleObject" Target="file:///C:\DATA\Downloads\CoPQ%20type%20analysis%20(1).xlsx" TargetMode="External"/></Relationships>
</file>

<file path=ppt/charts/_rels/chart46.xml.rels><?xml version="1.0" encoding="UTF-8" standalone="yes"?>
<Relationships xmlns="http://schemas.openxmlformats.org/package/2006/relationships"><Relationship Id="rId4" Type="http://schemas.microsoft.com/office/2011/relationships/chartColorStyle" Target="colors41.xml"/><Relationship Id="rId3" Type="http://schemas.microsoft.com/office/2011/relationships/chartStyle" Target="style41.xml"/><Relationship Id="rId2" Type="http://schemas.openxmlformats.org/officeDocument/2006/relationships/themeOverride" Target="../theme/themeOverride41.xml"/><Relationship Id="rId1" Type="http://schemas.openxmlformats.org/officeDocument/2006/relationships/oleObject" Target="file:///C:\DATA\Downloads\CoPQ%20type%20analysis%20(1).xlsx" TargetMode="External"/></Relationships>
</file>

<file path=ppt/charts/_rels/chart47.xml.rels><?xml version="1.0" encoding="UTF-8" standalone="yes"?>
<Relationships xmlns="http://schemas.openxmlformats.org/package/2006/relationships"><Relationship Id="rId4" Type="http://schemas.microsoft.com/office/2011/relationships/chartColorStyle" Target="colors42.xml"/><Relationship Id="rId3" Type="http://schemas.microsoft.com/office/2011/relationships/chartStyle" Target="style42.xml"/><Relationship Id="rId2" Type="http://schemas.openxmlformats.org/officeDocument/2006/relationships/themeOverride" Target="../theme/themeOverride42.xml"/><Relationship Id="rId1" Type="http://schemas.openxmlformats.org/officeDocument/2006/relationships/oleObject" Target="file:///C:\DATA\Downloads\CoPQ%20type%20analysis%20(1).xlsx" TargetMode="External"/></Relationships>
</file>

<file path=ppt/charts/_rels/chart48.xml.rels><?xml version="1.0" encoding="UTF-8" standalone="yes"?>
<Relationships xmlns="http://schemas.openxmlformats.org/package/2006/relationships"><Relationship Id="rId4" Type="http://schemas.microsoft.com/office/2011/relationships/chartColorStyle" Target="colors43.xml"/><Relationship Id="rId3" Type="http://schemas.microsoft.com/office/2011/relationships/chartStyle" Target="style43.xml"/><Relationship Id="rId2" Type="http://schemas.openxmlformats.org/officeDocument/2006/relationships/themeOverride" Target="../theme/themeOverride43.xml"/><Relationship Id="rId1" Type="http://schemas.openxmlformats.org/officeDocument/2006/relationships/oleObject" Target="file:///C:\DATA\Downloads\CoPQ%20type%20analysis%20(1).xlsx" TargetMode="External"/></Relationships>
</file>

<file path=ppt/charts/_rels/chart49.xml.rels><?xml version="1.0" encoding="UTF-8" standalone="yes"?>
<Relationships xmlns="http://schemas.openxmlformats.org/package/2006/relationships"><Relationship Id="rId4" Type="http://schemas.microsoft.com/office/2011/relationships/chartColorStyle" Target="colors44.xml"/><Relationship Id="rId3" Type="http://schemas.microsoft.com/office/2011/relationships/chartStyle" Target="style44.xml"/><Relationship Id="rId2" Type="http://schemas.openxmlformats.org/officeDocument/2006/relationships/themeOverride" Target="../theme/themeOverride44.xml"/><Relationship Id="rId1" Type="http://schemas.openxmlformats.org/officeDocument/2006/relationships/oleObject" Target="file:///C:\DATA\Downloads\CoPQ%20type%20analysis%20(1).xlsx" TargetMode="External"/></Relationships>
</file>

<file path=ppt/charts/_rels/chart50.xml.rels><?xml version="1.0" encoding="UTF-8" standalone="yes"?>
<Relationships xmlns="http://schemas.openxmlformats.org/package/2006/relationships"><Relationship Id="rId4" Type="http://schemas.microsoft.com/office/2011/relationships/chartColorStyle" Target="colors45.xml"/><Relationship Id="rId3" Type="http://schemas.microsoft.com/office/2011/relationships/chartStyle" Target="style45.xml"/><Relationship Id="rId2" Type="http://schemas.openxmlformats.org/officeDocument/2006/relationships/themeOverride" Target="../theme/themeOverride45.xml"/><Relationship Id="rId1" Type="http://schemas.openxmlformats.org/officeDocument/2006/relationships/oleObject" Target="file:///C:\DATA\Downloads\CoPQ%20type%20analysis%20(1).xlsx" TargetMode="External"/></Relationships>
</file>

<file path=ppt/charts/_rels/chart51.xml.rels><?xml version="1.0" encoding="UTF-8" standalone="yes"?>
<Relationships xmlns="http://schemas.openxmlformats.org/package/2006/relationships"><Relationship Id="rId4" Type="http://schemas.microsoft.com/office/2011/relationships/chartColorStyle" Target="colors46.xml"/><Relationship Id="rId3" Type="http://schemas.microsoft.com/office/2011/relationships/chartStyle" Target="style46.xml"/><Relationship Id="rId2" Type="http://schemas.openxmlformats.org/officeDocument/2006/relationships/themeOverride" Target="../theme/themeOverride46.xml"/><Relationship Id="rId1" Type="http://schemas.openxmlformats.org/officeDocument/2006/relationships/oleObject" Target="file:///C:\DATA\Downloads\CoPQ%20type%20analysis%20(1)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400" b="1" i="0" u="none" strike="noStrike" kern="1200" spc="0" baseline="0">
                <a:solidFill>
                  <a:schemeClr val="tx1"/>
                </a:solidFill>
                <a:latin typeface="Arial Black" panose="020B0A04020102020204" pitchFamily="34" charset="0"/>
                <a:ea typeface="+mn-ea"/>
                <a:cs typeface="+mn-cs"/>
              </a:defRPr>
            </a:pPr>
            <a:r>
              <a:rPr lang="en-US" b="1">
                <a:solidFill>
                  <a:schemeClr val="tx1"/>
                </a:solidFill>
                <a:latin typeface="Arial Black" panose="020B0A04020102020204" pitchFamily="34" charset="0"/>
              </a:rPr>
              <a:t>ID</a:t>
            </a:r>
            <a:endParaRPr lang="en-US" b="1">
              <a:solidFill>
                <a:schemeClr val="tx1"/>
              </a:solidFill>
              <a:latin typeface="Arial Black" panose="020B0A04020102020204" pitchFamily="34" charset="0"/>
            </a:endParaRPr>
          </a:p>
        </c:rich>
      </c:tx>
      <c:layout>
        <c:manualLayout>
          <c:xMode val="edge"/>
          <c:yMode val="edge"/>
          <c:x val="0.607771872304785"/>
          <c:y val="0.00925023722059421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257214692484689"/>
          <c:y val="0.0995123811078283"/>
          <c:w val="0.427890127066267"/>
          <c:h val="0.876195935064057"/>
        </c:manualLayout>
      </c:layout>
      <c:doughnutChart>
        <c:varyColors val="1"/>
        <c:ser>
          <c:idx val="0"/>
          <c:order val="0"/>
          <c:tx>
            <c:strRef>
              <c:f>Current!$M$2</c:f>
              <c:strCache>
                <c:ptCount val="1"/>
                <c:pt idx="0">
                  <c:v>Total cost ($)</c:v>
                </c:pt>
              </c:strCache>
            </c:strRef>
          </c:tx>
          <c:spPr>
            <a:solidFill>
              <a:srgbClr val="3C3E52"/>
            </a:solidFill>
            <a:ln w="19050">
              <a:noFill/>
            </a:ln>
          </c:spPr>
          <c:explosion val="0"/>
          <c:dPt>
            <c:idx val="0"/>
            <c:bubble3D val="0"/>
            <c:spPr>
              <a:solidFill>
                <a:srgbClr val="3C3E52"/>
              </a:solidFill>
              <a:ln w="19050">
                <a:noFill/>
              </a:ln>
              <a:effectLst/>
            </c:spPr>
          </c:dPt>
          <c:dLbls>
            <c:delete val="1"/>
          </c:dLbls>
          <c:cat>
            <c:numRef>
              <c:f>'[1]Current month'!$M$2</c:f>
              <c:numCache>
                <c:formatCode>General</c:formatCode>
                <c:ptCount val="1"/>
                <c:pt idx="0">
                  <c:v>0</c:v>
                </c:pt>
              </c:numCache>
            </c:numRef>
          </c:cat>
          <c:val>
            <c:numRef>
              <c:f>Current!$M$3</c:f>
              <c:numCache>
                <c:formatCode>"$"#,##0.00</c:formatCode>
                <c:ptCount val="1"/>
                <c:pt idx="0">
                  <c:v>10431.15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>
          <a:glow rad="63500">
            <a:schemeClr val="accent4">
              <a:satMod val="175000"/>
              <a:alpha val="40000"/>
            </a:schemeClr>
          </a:glow>
        </a:effectLst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400" b="1" i="0" u="none" strike="noStrike" kern="1200" spc="0" baseline="0">
                <a:solidFill>
                  <a:schemeClr val="tx1"/>
                </a:solidFill>
                <a:latin typeface="Arial Black" panose="020B0A04020102020204" pitchFamily="34" charset="0"/>
                <a:ea typeface="+mn-ea"/>
                <a:cs typeface="+mn-cs"/>
              </a:defRPr>
            </a:pPr>
            <a:r>
              <a:rPr lang="en-US" b="1">
                <a:solidFill>
                  <a:schemeClr val="tx1"/>
                </a:solidFill>
                <a:latin typeface="Arial Black" panose="020B0A04020102020204" pitchFamily="34" charset="0"/>
              </a:rPr>
              <a:t>VN</a:t>
            </a:r>
            <a:endParaRPr lang="en-US" b="1">
              <a:solidFill>
                <a:schemeClr val="tx1"/>
              </a:solidFill>
              <a:latin typeface="Arial Black" panose="020B0A04020102020204" pitchFamily="34" charset="0"/>
            </a:endParaRPr>
          </a:p>
        </c:rich>
      </c:tx>
      <c:layout>
        <c:manualLayout>
          <c:xMode val="edge"/>
          <c:yMode val="edge"/>
          <c:x val="0.251889764147344"/>
          <c:y val="0.0243947883512004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270494319639235"/>
          <c:y val="0.111214462079548"/>
          <c:w val="0.429010713918754"/>
          <c:h val="0.882055490721139"/>
        </c:manualLayout>
      </c:layout>
      <c:doughnutChart>
        <c:varyColors val="1"/>
        <c:ser>
          <c:idx val="0"/>
          <c:order val="0"/>
          <c:tx>
            <c:strRef>
              <c:f>Current!$J$2</c:f>
              <c:strCache>
                <c:ptCount val="1"/>
                <c:pt idx="0">
                  <c:v>Total cost ($)</c:v>
                </c:pt>
              </c:strCache>
            </c:strRef>
          </c:tx>
          <c:spPr>
            <a:solidFill>
              <a:srgbClr val="0070C0"/>
            </a:solidFill>
            <a:ln w="19050">
              <a:noFill/>
            </a:ln>
          </c:spPr>
          <c:explosion val="1"/>
          <c:dPt>
            <c:idx val="0"/>
            <c:bubble3D val="0"/>
            <c:spPr>
              <a:solidFill>
                <a:srgbClr val="0070C0"/>
              </a:solidFill>
              <a:ln w="19050">
                <a:noFill/>
              </a:ln>
              <a:effectLst/>
            </c:spPr>
          </c:dPt>
          <c:dLbls>
            <c:delete val="1"/>
          </c:dLbls>
          <c:cat>
            <c:numRef>
              <c:f>'[1]Current month'!$J$2</c:f>
              <c:numCache>
                <c:formatCode>General</c:formatCode>
                <c:ptCount val="1"/>
                <c:pt idx="0">
                  <c:v>0</c:v>
                </c:pt>
              </c:numCache>
            </c:numRef>
          </c:cat>
          <c:val>
            <c:numRef>
              <c:f>Current!$J$3</c:f>
              <c:numCache>
                <c:formatCode>"$"#,##0.00</c:formatCode>
                <c:ptCount val="1"/>
                <c:pt idx="0">
                  <c:v>14630.165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>
          <a:glow rad="63500">
            <a:schemeClr val="accent4">
              <a:satMod val="175000"/>
              <a:alpha val="40000"/>
            </a:schemeClr>
          </a:glow>
        </a:effectLst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400" b="1" i="0" u="none" strike="noStrike" kern="1200" spc="0" baseline="0">
                <a:solidFill>
                  <a:schemeClr val="tx1"/>
                </a:solidFill>
                <a:latin typeface="Arial Black" panose="020B0A04020102020204" pitchFamily="34" charset="0"/>
                <a:ea typeface="+mn-ea"/>
                <a:cs typeface="+mn-cs"/>
              </a:defRPr>
            </a:pPr>
            <a:r>
              <a:rPr lang="en-US" b="1">
                <a:solidFill>
                  <a:schemeClr val="tx1"/>
                </a:solidFill>
                <a:latin typeface="Arial Black" panose="020B0A04020102020204" pitchFamily="34" charset="0"/>
              </a:rPr>
              <a:t>CLG</a:t>
            </a:r>
            <a:endParaRPr lang="en-US" b="1">
              <a:solidFill>
                <a:schemeClr val="tx1"/>
              </a:solidFill>
              <a:latin typeface="Arial Black" panose="020B0A04020102020204" pitchFamily="34" charset="0"/>
            </a:endParaRPr>
          </a:p>
        </c:rich>
      </c:tx>
      <c:layout>
        <c:manualLayout>
          <c:xMode val="edge"/>
          <c:yMode val="edge"/>
          <c:x val="0.266721885388022"/>
          <c:y val="0.00688593209494996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72497336006345"/>
          <c:y val="0.152159601040782"/>
          <c:w val="0.702916437593709"/>
          <c:h val="0.789307742782152"/>
        </c:manualLayout>
      </c:layout>
      <c:doughnutChart>
        <c:varyColors val="1"/>
        <c:ser>
          <c:idx val="0"/>
          <c:order val="0"/>
          <c:tx>
            <c:strRef>
              <c:f>Current!$K$5</c:f>
              <c:strCache>
                <c:ptCount val="1"/>
                <c:pt idx="0">
                  <c:v>Total cost ($)</c:v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rgbClr val="0070C0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rgbClr val="3C3E52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delete val="1"/>
          </c:dLbls>
          <c:cat>
            <c:strRef>
              <c:f>Current!$J$6:$J$7</c:f>
              <c:strCache>
                <c:ptCount val="2"/>
                <c:pt idx="0">
                  <c:v>VN</c:v>
                </c:pt>
                <c:pt idx="1">
                  <c:v>Indo</c:v>
                </c:pt>
              </c:strCache>
            </c:strRef>
          </c:cat>
          <c:val>
            <c:numRef>
              <c:f>Current!$K$6:$K$7</c:f>
              <c:numCache>
                <c:formatCode>"$"#,##0.00</c:formatCode>
                <c:ptCount val="2"/>
                <c:pt idx="0">
                  <c:v>14711.51</c:v>
                </c:pt>
                <c:pt idx="1">
                  <c:v>11080.89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170"/>
        <c:holeSize val="70"/>
      </c:doughnutChart>
      <c:spPr>
        <a:noFill/>
        <a:ln>
          <a:noFill/>
        </a:ln>
        <a:effectLst>
          <a:glow rad="63500">
            <a:schemeClr val="accent4">
              <a:satMod val="175000"/>
              <a:alpha val="40000"/>
            </a:schemeClr>
          </a:glow>
        </a:effectLst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00563467324013616"/>
          <c:y val="0.0188322686079334"/>
          <c:w val="0.993114141982252"/>
          <c:h val="0.961131979623357"/>
        </c:manualLayout>
      </c:layout>
      <c:barChart>
        <c:barDir val="bar"/>
        <c:grouping val="clustered"/>
        <c:varyColors val="0"/>
        <c:ser>
          <c:idx val="0"/>
          <c:order val="0"/>
          <c:spPr>
            <a:solidFill>
              <a:srgbClr val="002060"/>
            </a:solidFill>
            <a:ln>
              <a:noFill/>
            </a:ln>
            <a:effectLst/>
          </c:spPr>
          <c:invertIfNegative val="0"/>
          <c:dLbls>
            <c:dLbl>
              <c:idx val="0"/>
              <c:layout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517509530058743"/>
                      <c:h val="0.215686460113095"/>
                    </c:manualLayout>
                  </c15:layout>
                </c:ext>
              </c:extLst>
            </c:dLbl>
            <c:dLbl>
              <c:idx val="1"/>
              <c:layout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537350799900012"/>
                      <c:h val="0.215686460113095"/>
                    </c:manualLayout>
                  </c15:layout>
                </c:ext>
              </c:extLst>
            </c:dLbl>
            <c:dLbl>
              <c:idx val="2"/>
              <c:layout>
                <c:manualLayout>
                  <c:x val="0.00674682137321226"/>
                  <c:y val="-0.0188679245283019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475821836396691"/>
                      <c:h val="0.155576189768732"/>
                    </c:manualLayout>
                  </c15:layout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8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'[CoPQ database 25.xlsx]Current'!$B$2:$D$2</c:f>
              <c:strCache>
                <c:ptCount val="3"/>
                <c:pt idx="0">
                  <c:v>Touch up paint</c:v>
                </c:pt>
                <c:pt idx="1">
                  <c:v>Re-inspection</c:v>
                </c:pt>
                <c:pt idx="2">
                  <c:v>B/C Grade</c:v>
                </c:pt>
              </c:strCache>
            </c:strRef>
          </c:cat>
          <c:val>
            <c:numRef>
              <c:f>'[CoPQ database 25.xlsx]Current'!$B$3:$D$3</c:f>
              <c:numCache>
                <c:formatCode>"$"#,##0.00_);[Red]\("$"#,##0.00\)</c:formatCode>
                <c:ptCount val="3"/>
                <c:pt idx="0">
                  <c:v>3070.46</c:v>
                </c:pt>
                <c:pt idx="1">
                  <c:v>1749.91</c:v>
                </c:pt>
                <c:pt idx="2">
                  <c:v>2072.29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553765424"/>
        <c:axId val="-553780112"/>
      </c:barChart>
      <c:catAx>
        <c:axId val="-553765424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one"/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-553780112"/>
        <c:crosses val="autoZero"/>
        <c:auto val="1"/>
        <c:lblAlgn val="ctr"/>
        <c:lblOffset val="100"/>
        <c:noMultiLvlLbl val="0"/>
      </c:catAx>
      <c:valAx>
        <c:axId val="-553780112"/>
        <c:scaling>
          <c:orientation val="minMax"/>
          <c:max val="9000"/>
          <c:min val="-500"/>
        </c:scaling>
        <c:delete val="0"/>
        <c:axPos val="b"/>
        <c:numFmt formatCode="&quot;$&quot;#,##0.00_);[Red]\(&quot;$&quot;#,##0.00\)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-55376542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0143061516452074"/>
          <c:y val="0.0099272005294507"/>
          <c:w val="0.947561845852362"/>
          <c:h val="0.981167608286252"/>
        </c:manualLayout>
      </c:layout>
      <c:barChart>
        <c:barDir val="bar"/>
        <c:grouping val="clustered"/>
        <c:varyColors val="0"/>
        <c:ser>
          <c:idx val="0"/>
          <c:order val="0"/>
          <c:spPr>
            <a:solidFill>
              <a:srgbClr val="002060"/>
            </a:solidFill>
            <a:ln>
              <a:noFill/>
            </a:ln>
            <a:effectLst/>
          </c:spPr>
          <c:invertIfNegative val="0"/>
          <c:dLbls>
            <c:dLbl>
              <c:idx val="0"/>
              <c:layout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691269841269841"/>
                      <c:h val="0.237797879431738"/>
                    </c:manualLayout>
                  </c15:layout>
                </c:ext>
              </c:extLst>
            </c:dLbl>
            <c:dLbl>
              <c:idx val="1"/>
              <c:layout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562301587301587"/>
                      <c:h val="0.237797879431738"/>
                    </c:manualLayout>
                  </c15:layout>
                </c:ext>
              </c:extLst>
            </c:dLbl>
            <c:dLbl>
              <c:idx val="2"/>
              <c:layout>
                <c:manualLayout>
                  <c:x val="-0.0234580052493439"/>
                  <c:y val="-0.0132272528433946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573255686789151"/>
                      <c:h val="0.155576386285048"/>
                    </c:manualLayout>
                  </c15:layout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9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'[CoPQ database 25.xlsx]Current'!$B$2:$D$2</c:f>
              <c:strCache>
                <c:ptCount val="3"/>
                <c:pt idx="0">
                  <c:v>Touch up paint</c:v>
                </c:pt>
                <c:pt idx="1">
                  <c:v>Re-inspection</c:v>
                </c:pt>
                <c:pt idx="2">
                  <c:v>B/C Grade</c:v>
                </c:pt>
              </c:strCache>
            </c:strRef>
          </c:cat>
          <c:val>
            <c:numRef>
              <c:f>'[CoPQ database 25.xlsx]Current'!$B$4:$D$4</c:f>
              <c:numCache>
                <c:formatCode>"$"#,##0.00_);[Red]\("$"#,##0.00\)</c:formatCode>
                <c:ptCount val="3"/>
                <c:pt idx="0">
                  <c:v>2280.95</c:v>
                </c:pt>
                <c:pt idx="1">
                  <c:v>830.41</c:v>
                </c:pt>
                <c:pt idx="2">
                  <c:v>256.91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553779568"/>
        <c:axId val="-553764880"/>
      </c:barChart>
      <c:catAx>
        <c:axId val="-553779568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one"/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-553764880"/>
        <c:crosses val="autoZero"/>
        <c:auto val="1"/>
        <c:lblAlgn val="ctr"/>
        <c:lblOffset val="100"/>
        <c:noMultiLvlLbl val="0"/>
      </c:catAx>
      <c:valAx>
        <c:axId val="-553764880"/>
        <c:scaling>
          <c:orientation val="minMax"/>
          <c:max val="9000"/>
          <c:min val="-500"/>
        </c:scaling>
        <c:delete val="0"/>
        <c:axPos val="b"/>
        <c:numFmt formatCode="&quot;$&quot;#,##0.00_);[Red]\(&quot;$&quot;#,##0.00\)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-55377956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014278914802475"/>
          <c:y val="0.00997008973080758"/>
          <c:w val="0.965814886335621"/>
          <c:h val="0.997228502318651"/>
        </c:manualLayout>
      </c:layout>
      <c:barChart>
        <c:barDir val="bar"/>
        <c:grouping val="clustered"/>
        <c:varyColors val="0"/>
        <c:ser>
          <c:idx val="0"/>
          <c:order val="0"/>
          <c:spPr>
            <a:solidFill>
              <a:srgbClr val="002060"/>
            </a:solidFill>
            <a:ln>
              <a:noFill/>
            </a:ln>
            <a:effectLst/>
          </c:spPr>
          <c:invertIfNegative val="0"/>
          <c:dLbls>
            <c:dLbl>
              <c:idx val="1"/>
              <c:layout>
                <c:manualLayout>
                  <c:x val="0.0793650793650794"/>
                  <c:y val="0.00668085603333905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512698412698413"/>
                      <c:h val="0.166820975152476"/>
                    </c:manualLayout>
                  </c15:layout>
                </c:ext>
              </c:extLst>
            </c:dLbl>
            <c:dLbl>
              <c:idx val="2"/>
              <c:layout>
                <c:manualLayout>
                  <c:x val="-0.0333788459592542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15318831495088"/>
                      <c:h val="0.155576323987539"/>
                    </c:manualLayout>
                  </c15:layout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9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'[CoPQ database 25.xlsx]Current'!$B$2:$D$2</c:f>
              <c:strCache>
                <c:ptCount val="3"/>
                <c:pt idx="0">
                  <c:v>Touch up paint</c:v>
                </c:pt>
                <c:pt idx="1">
                  <c:v>Re-inspection</c:v>
                </c:pt>
                <c:pt idx="2">
                  <c:v>B/C Grade</c:v>
                </c:pt>
              </c:strCache>
            </c:strRef>
          </c:cat>
          <c:val>
            <c:numRef>
              <c:f>'[CoPQ database 25.xlsx]Current'!$B$5:$D$5</c:f>
              <c:numCache>
                <c:formatCode>General</c:formatCode>
                <c:ptCount val="3"/>
                <c:pt idx="1" c:formatCode="&quot;$&quot;#,##0.00_);[Red]\(&quot;$&quot;#,##0.00\)">
                  <c:v>91.92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553790448"/>
        <c:axId val="-553788272"/>
      </c:barChart>
      <c:catAx>
        <c:axId val="-553790448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one"/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-553788272"/>
        <c:crosses val="autoZero"/>
        <c:auto val="1"/>
        <c:lblAlgn val="ctr"/>
        <c:lblOffset val="100"/>
        <c:noMultiLvlLbl val="0"/>
      </c:catAx>
      <c:valAx>
        <c:axId val="-553788272"/>
        <c:scaling>
          <c:orientation val="minMax"/>
          <c:max val="1800"/>
          <c:min val="-100"/>
        </c:scaling>
        <c:delete val="0"/>
        <c:axPos val="b"/>
        <c:numFmt formatCode="General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-5537904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0151517535794332"/>
          <c:y val="0.00280225388493105"/>
          <c:w val="0.98156871016123"/>
          <c:h val="0.981167458234387"/>
        </c:manualLayout>
      </c:layout>
      <c:barChart>
        <c:barDir val="bar"/>
        <c:grouping val="clustered"/>
        <c:varyColors val="0"/>
        <c:ser>
          <c:idx val="0"/>
          <c:order val="0"/>
          <c:spPr>
            <a:solidFill>
              <a:srgbClr val="002060"/>
            </a:solidFill>
            <a:ln>
              <a:noFill/>
            </a:ln>
            <a:effectLst/>
          </c:spPr>
          <c:invertIfNegative val="0"/>
          <c:dLbls>
            <c:dLbl>
              <c:idx val="0"/>
              <c:layout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611904761904762"/>
                      <c:h val="0.237797879431738"/>
                    </c:manualLayout>
                  </c15:layout>
                </c:ext>
              </c:extLst>
            </c:dLbl>
            <c:dLbl>
              <c:idx val="2"/>
              <c:layout>
                <c:manualLayout>
                  <c:x val="-0.0333788459592542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15318831495088"/>
                      <c:h val="0.155576323987539"/>
                    </c:manualLayout>
                  </c15:layout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9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'[CoPQ database 25.xlsx]Current'!$B$2:$D$2</c:f>
              <c:strCache>
                <c:ptCount val="3"/>
                <c:pt idx="0">
                  <c:v>Touch up paint</c:v>
                </c:pt>
                <c:pt idx="1">
                  <c:v>Re-inspection</c:v>
                </c:pt>
                <c:pt idx="2">
                  <c:v>B/C Grade</c:v>
                </c:pt>
              </c:strCache>
            </c:strRef>
          </c:cat>
          <c:val>
            <c:numRef>
              <c:f>'[CoPQ database 25.xlsx]Current'!$B$6:$D$6</c:f>
              <c:numCache>
                <c:formatCode>"$"#,##0.00_);[Red]\("$"#,##0.00\)</c:formatCode>
                <c:ptCount val="3"/>
                <c:pt idx="0">
                  <c:v>3608.75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553763792"/>
        <c:axId val="-553791536"/>
      </c:barChart>
      <c:catAx>
        <c:axId val="-55376379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one"/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-553791536"/>
        <c:crosses val="autoZero"/>
        <c:auto val="1"/>
        <c:lblAlgn val="ctr"/>
        <c:lblOffset val="100"/>
        <c:noMultiLvlLbl val="0"/>
      </c:catAx>
      <c:valAx>
        <c:axId val="-553791536"/>
        <c:scaling>
          <c:orientation val="minMax"/>
          <c:max val="9000"/>
          <c:min val="-500"/>
        </c:scaling>
        <c:delete val="0"/>
        <c:axPos val="b"/>
        <c:numFmt formatCode="&quot;$&quot;#,##0.00_);[Red]\(&quot;$&quot;#,##0.00\)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-55376379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118220248724806"/>
          <c:y val="0.00280225388493105"/>
          <c:w val="0.57637610598862"/>
          <c:h val="0.981167608286252"/>
        </c:manualLayout>
      </c:layout>
      <c:barChart>
        <c:barDir val="bar"/>
        <c:grouping val="clustered"/>
        <c:varyColors val="0"/>
        <c:ser>
          <c:idx val="0"/>
          <c:order val="0"/>
          <c:spPr>
            <a:solidFill>
              <a:srgbClr val="002060"/>
            </a:solidFill>
            <a:ln>
              <a:noFill/>
            </a:ln>
            <a:effectLst/>
          </c:spPr>
          <c:invertIfNegative val="0"/>
          <c:dLbls>
            <c:dLbl>
              <c:idx val="0"/>
              <c:layout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691269841269841"/>
                      <c:h val="0.237797879431738"/>
                    </c:manualLayout>
                  </c15:layout>
                </c:ext>
              </c:extLst>
            </c:dLbl>
            <c:dLbl>
              <c:idx val="1"/>
              <c:layout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621825396825397"/>
                      <c:h val="0.237797879431738"/>
                    </c:manualLayout>
                  </c15:layout>
                </c:ext>
              </c:extLst>
            </c:dLbl>
            <c:dLbl>
              <c:idx val="2"/>
              <c:layout>
                <c:manualLayout>
                  <c:x val="0"/>
                  <c:y val="-0.0132272528433946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612938226471691"/>
                      <c:h val="0.155576386285048"/>
                    </c:manualLayout>
                  </c15:layout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9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'[CoPQ database 25.xlsx]Current'!$B$2:$D$2</c:f>
              <c:strCache>
                <c:ptCount val="3"/>
                <c:pt idx="0">
                  <c:v>Touch up paint</c:v>
                </c:pt>
                <c:pt idx="1">
                  <c:v>Re-inspection</c:v>
                </c:pt>
                <c:pt idx="2">
                  <c:v>B/C Grade</c:v>
                </c:pt>
              </c:strCache>
            </c:strRef>
          </c:cat>
          <c:val>
            <c:numRef>
              <c:f>'[CoPQ database 25.xlsx]Current'!$B$7:$D$7</c:f>
              <c:numCache>
                <c:formatCode>"$"#,##0.00</c:formatCode>
                <c:ptCount val="3"/>
                <c:pt idx="0">
                  <c:v>1708.56</c:v>
                </c:pt>
                <c:pt idx="1">
                  <c:v>1776.43</c:v>
                </c:pt>
                <c:pt idx="2">
                  <c:v>4649.39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553781200"/>
        <c:axId val="-553781744"/>
      </c:barChart>
      <c:catAx>
        <c:axId val="-553781200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one"/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-553781744"/>
        <c:crosses val="autoZero"/>
        <c:auto val="1"/>
        <c:lblAlgn val="ctr"/>
        <c:lblOffset val="100"/>
        <c:noMultiLvlLbl val="0"/>
      </c:catAx>
      <c:valAx>
        <c:axId val="-553781744"/>
        <c:scaling>
          <c:orientation val="minMax"/>
          <c:max val="9000"/>
          <c:min val="-500"/>
        </c:scaling>
        <c:delete val="0"/>
        <c:axPos val="b"/>
        <c:numFmt formatCode="&quot;$&quot;#,##0.00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-55378120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"/>
          <c:y val="0"/>
          <c:w val="0.994364766904137"/>
          <c:h val="1"/>
        </c:manualLayout>
      </c:layout>
      <c:barChart>
        <c:barDir val="bar"/>
        <c:grouping val="clustered"/>
        <c:varyColors val="0"/>
        <c:ser>
          <c:idx val="0"/>
          <c:order val="0"/>
          <c:spPr>
            <a:solidFill>
              <a:srgbClr val="002060"/>
            </a:solidFill>
            <a:ln>
              <a:noFill/>
            </a:ln>
            <a:effectLst/>
          </c:spPr>
          <c:invertIfNegative val="0"/>
          <c:dLbls>
            <c:dLbl>
              <c:idx val="1"/>
              <c:layout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532539682539683"/>
                      <c:h val="0.237797879431738"/>
                    </c:manualLayout>
                  </c15:layout>
                </c:ext>
              </c:extLst>
            </c:dLbl>
            <c:dLbl>
              <c:idx val="2"/>
              <c:layout>
                <c:manualLayout>
                  <c:x val="0.0707879943861902"/>
                  <c:y val="3.11487543258604e-8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523652512185977"/>
                      <c:h val="0.155576386285048"/>
                    </c:manualLayout>
                  </c15:layout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9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'[CoPQ database 25.xlsx]Current'!$B$2:$D$2</c:f>
              <c:strCache>
                <c:ptCount val="3"/>
                <c:pt idx="0">
                  <c:v>Touch up paint</c:v>
                </c:pt>
                <c:pt idx="1">
                  <c:v>Re-inspection</c:v>
                </c:pt>
                <c:pt idx="2">
                  <c:v>B/C Grade</c:v>
                </c:pt>
              </c:strCache>
            </c:strRef>
          </c:cat>
          <c:val>
            <c:numRef>
              <c:f>'[CoPQ database 25.xlsx]Current'!$B$8:$D$8</c:f>
              <c:numCache>
                <c:formatCode>General</c:formatCode>
                <c:ptCount val="3"/>
                <c:pt idx="1" c:formatCode="&quot;$&quot;#,##0.00">
                  <c:v>2776.88</c:v>
                </c:pt>
                <c:pt idx="2" c:formatCode="&quot;$&quot;#,##0.00">
                  <c:v>664.06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553780656"/>
        <c:axId val="-553778480"/>
      </c:barChart>
      <c:catAx>
        <c:axId val="-553780656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one"/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-553778480"/>
        <c:crosses val="autoZero"/>
        <c:auto val="1"/>
        <c:lblAlgn val="ctr"/>
        <c:lblOffset val="100"/>
        <c:noMultiLvlLbl val="0"/>
      </c:catAx>
      <c:valAx>
        <c:axId val="-553778480"/>
        <c:scaling>
          <c:orientation val="minMax"/>
          <c:max val="9000"/>
          <c:min val="-500"/>
        </c:scaling>
        <c:delete val="0"/>
        <c:axPos val="b"/>
        <c:numFmt formatCode="General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-55378065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00563472215091932"/>
          <c:y val="0.00231110196094008"/>
          <c:w val="0.994365277849081"/>
          <c:h val="0.99768889803906"/>
        </c:manualLayout>
      </c:layout>
      <c:barChart>
        <c:barDir val="bar"/>
        <c:grouping val="clustered"/>
        <c:varyColors val="0"/>
        <c:ser>
          <c:idx val="0"/>
          <c:order val="0"/>
          <c:spPr>
            <a:solidFill>
              <a:srgbClr val="002060"/>
            </a:solidFill>
            <a:ln>
              <a:noFill/>
            </a:ln>
            <a:effectLst/>
          </c:spPr>
          <c:invertIfNegative val="0"/>
          <c:dLbls>
            <c:dLbl>
              <c:idx val="1"/>
              <c:layout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851289682539683"/>
                      <c:h val="0.292167684672537"/>
                    </c:manualLayout>
                  </c15:layout>
                </c:ext>
              </c:extLst>
            </c:dLbl>
            <c:dLbl>
              <c:idx val="2"/>
              <c:layout>
                <c:manualLayout>
                  <c:x val="-0.0333788459592542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15318831495088"/>
                      <c:h val="0.155576323987539"/>
                    </c:manualLayout>
                  </c15:layout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'[CoPQ database 25.xlsx]Current'!$B$2:$D$2</c:f>
              <c:strCache>
                <c:ptCount val="3"/>
                <c:pt idx="0">
                  <c:v>Touch up paint</c:v>
                </c:pt>
                <c:pt idx="1">
                  <c:v>Re-inspection</c:v>
                </c:pt>
                <c:pt idx="2">
                  <c:v>B/C Grade</c:v>
                </c:pt>
              </c:strCache>
            </c:strRef>
          </c:cat>
          <c:val>
            <c:numRef>
              <c:f>'[CoPQ database 25.xlsx]Current'!$B$9:$D$9</c:f>
              <c:numCache>
                <c:formatCode>General</c:formatCode>
                <c:ptCount val="3"/>
                <c:pt idx="1" c:formatCode="&quot;$&quot;#,##0.00">
                  <c:v>601.63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553768144"/>
        <c:axId val="-553767600"/>
      </c:barChart>
      <c:catAx>
        <c:axId val="-553768144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one"/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-553767600"/>
        <c:crosses val="autoZero"/>
        <c:auto val="1"/>
        <c:lblAlgn val="ctr"/>
        <c:lblOffset val="100"/>
        <c:noMultiLvlLbl val="0"/>
      </c:catAx>
      <c:valAx>
        <c:axId val="-553767600"/>
        <c:scaling>
          <c:orientation val="minMax"/>
          <c:max val="9000"/>
          <c:min val="-500"/>
        </c:scaling>
        <c:delete val="0"/>
        <c:axPos val="b"/>
        <c:numFmt formatCode="General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-5537681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248728702457128"/>
          <c:y val="0.129901959164913"/>
          <c:w val="0.456764781349657"/>
          <c:h val="0.71846404333097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'[CoPQ database 25.xlsx]Current'!$E$15</c:f>
              <c:strCache>
                <c:ptCount val="1"/>
                <c:pt idx="0">
                  <c:v>Quantity (prs)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'[CoPQ database 25.xlsx]Current'!$D$16:$D$19</c:f>
              <c:strCache>
                <c:ptCount val="4"/>
                <c:pt idx="0">
                  <c:v>JV2</c:v>
                </c:pt>
                <c:pt idx="1">
                  <c:v>JV</c:v>
                </c:pt>
                <c:pt idx="2">
                  <c:v>VH2</c:v>
                </c:pt>
                <c:pt idx="3">
                  <c:v>VH</c:v>
                </c:pt>
              </c:strCache>
            </c:strRef>
          </c:cat>
          <c:val>
            <c:numRef>
              <c:f>'[CoPQ database 25.xlsx]Current'!$E$16:$E$19</c:f>
              <c:numCache>
                <c:formatCode>General</c:formatCode>
                <c:ptCount val="4"/>
                <c:pt idx="0">
                  <c:v>37</c:v>
                </c:pt>
                <c:pt idx="1">
                  <c:v>289.5</c:v>
                </c:pt>
                <c:pt idx="2">
                  <c:v>11</c:v>
                </c:pt>
                <c:pt idx="3">
                  <c:v>103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-553765968"/>
        <c:axId val="-553782832"/>
      </c:barChart>
      <c:catAx>
        <c:axId val="-553765968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553782832"/>
        <c:crosses val="autoZero"/>
        <c:auto val="1"/>
        <c:lblAlgn val="ctr"/>
        <c:lblOffset val="100"/>
        <c:noMultiLvlLbl val="0"/>
      </c:catAx>
      <c:valAx>
        <c:axId val="-553782832"/>
        <c:scaling>
          <c:orientation val="minMax"/>
          <c:max val="800"/>
          <c:min val="0"/>
        </c:scaling>
        <c:delete val="0"/>
        <c:axPos val="b"/>
        <c:numFmt formatCode="#,##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6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-553765968"/>
        <c:crosses val="autoZero"/>
        <c:crossBetween val="between"/>
        <c:majorUnit val="200"/>
      </c:valAx>
      <c:spPr>
        <a:gradFill>
          <a:gsLst>
            <a:gs pos="0">
              <a:schemeClr val="bg1">
                <a:alpha val="0"/>
              </a:schemeClr>
            </a:gs>
            <a:gs pos="100000">
              <a:srgbClr val="00B0F0">
                <a:alpha val="6000"/>
              </a:srgbClr>
            </a:gs>
          </a:gsLst>
          <a:lin ang="10800000" scaled="0"/>
        </a:gradFill>
        <a:ln>
          <a:noFill/>
        </a:ln>
        <a:effectLst/>
      </c:spPr>
    </c:plotArea>
    <c:legend>
      <c:legendPos val="r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en-US" sz="8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>
        <c:manualLayout>
          <c:xMode val="edge"/>
          <c:yMode val="edge"/>
          <c:x val="0.0983241501763866"/>
          <c:y val="0.0122549018080107"/>
          <c:w val="0.535285728451325"/>
          <c:h val="0.122933744080374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n-US" sz="8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en-US" sz="800" b="1"/>
      </a:pPr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112648806113325"/>
          <c:y val="0.129901959164913"/>
          <c:w val="0.839732117433938"/>
          <c:h val="0.71846404333097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'[CoPQ database 25.xlsx]Current'!$B$22</c:f>
              <c:strCache>
                <c:ptCount val="1"/>
                <c:pt idx="0">
                  <c:v>Quantity (prs)</c:v>
                </c:pt>
              </c:strCache>
            </c:strRef>
          </c:tx>
          <c:spPr>
            <a:solidFill>
              <a:srgbClr val="767171"/>
            </a:solidFill>
            <a:ln>
              <a:noFill/>
            </a:ln>
            <a:effectLst/>
          </c:spPr>
          <c:invertIfNegative val="0"/>
          <c:dLbls>
            <c:dLbl>
              <c:idx val="0"/>
              <c:layout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18311945347433"/>
                      <c:h val="0.276961858463791"/>
                    </c:manualLayout>
                  </c15:layout>
                </c:ext>
              </c:extLst>
            </c:dLbl>
            <c:dLbl>
              <c:idx val="1"/>
              <c:layout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18311945347433"/>
                      <c:h val="0.276961858463791"/>
                    </c:manualLayout>
                  </c15:layout>
                </c:ext>
              </c:extLst>
            </c:dLbl>
            <c:dLbl>
              <c:idx val="2"/>
              <c:layout>
                <c:manualLayout>
                  <c:x val="-0.0147077387025458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44773251834704"/>
                      <c:h val="0.276961858463791"/>
                    </c:manualLayout>
                  </c15:layout>
                </c:ext>
              </c:extLst>
            </c:dLbl>
            <c:dLbl>
              <c:idx val="4"/>
              <c:layout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88896467942341"/>
                      <c:h val="0.276961858463791"/>
                    </c:manualLayout>
                  </c15:layout>
                </c:ext>
              </c:extLst>
            </c:dLbl>
            <c:dLbl>
              <c:idx val="5"/>
              <c:layout>
                <c:manualLayout>
                  <c:x val="-0.0294154774050917"/>
                  <c:y val="-0.0514559258386404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37419382483431"/>
                      <c:h val="0.242657907904697"/>
                    </c:manualLayout>
                  </c15:layout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'[CoPQ database 25.xlsx]Current'!$A$23:$A$28</c:f>
              <c:strCache>
                <c:ptCount val="6"/>
                <c:pt idx="0">
                  <c:v>JVB</c:v>
                </c:pt>
                <c:pt idx="1">
                  <c:v>JV2</c:v>
                </c:pt>
                <c:pt idx="2">
                  <c:v>JV</c:v>
                </c:pt>
                <c:pt idx="3">
                  <c:v>VH3</c:v>
                </c:pt>
                <c:pt idx="4">
                  <c:v>VH2</c:v>
                </c:pt>
                <c:pt idx="5">
                  <c:v>VH</c:v>
                </c:pt>
              </c:strCache>
            </c:strRef>
          </c:cat>
          <c:val>
            <c:numRef>
              <c:f>'[CoPQ database 25.xlsx]Current'!$B$23:$B$28</c:f>
              <c:numCache>
                <c:formatCode>_(* #,##0_);_(* \(#,##0\);_(* "-"??_);_(@_)</c:formatCode>
                <c:ptCount val="6"/>
                <c:pt idx="0">
                  <c:v>51443</c:v>
                </c:pt>
                <c:pt idx="1">
                  <c:v>60278</c:v>
                </c:pt>
                <c:pt idx="2">
                  <c:v>34144</c:v>
                </c:pt>
                <c:pt idx="3">
                  <c:v>5377</c:v>
                </c:pt>
                <c:pt idx="4">
                  <c:v>22580</c:v>
                </c:pt>
                <c:pt idx="5">
                  <c:v>46326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-553793168"/>
        <c:axId val="-553789360"/>
      </c:barChart>
      <c:catAx>
        <c:axId val="-553793168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553789360"/>
        <c:crosses val="autoZero"/>
        <c:auto val="1"/>
        <c:lblAlgn val="ctr"/>
        <c:lblOffset val="100"/>
        <c:noMultiLvlLbl val="0"/>
      </c:catAx>
      <c:valAx>
        <c:axId val="-553789360"/>
        <c:scaling>
          <c:orientation val="minMax"/>
          <c:max val="175000"/>
          <c:min val="0"/>
        </c:scaling>
        <c:delete val="0"/>
        <c:axPos val="b"/>
        <c:numFmt formatCode="#,##0_);[Red]\(#,##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6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-553793168"/>
        <c:crosses val="autoZero"/>
        <c:crossBetween val="between"/>
        <c:majorUnit val="50000"/>
      </c:valAx>
      <c:spPr>
        <a:gradFill>
          <a:gsLst>
            <a:gs pos="0">
              <a:schemeClr val="bg1">
                <a:alpha val="0"/>
              </a:schemeClr>
            </a:gs>
            <a:gs pos="100000">
              <a:srgbClr val="EAE9E9"/>
            </a:gs>
          </a:gsLst>
          <a:lin ang="10800000" scaled="0"/>
        </a:gradFill>
        <a:ln>
          <a:noFill/>
        </a:ln>
        <a:effectLst/>
      </c:spPr>
    </c:plotArea>
    <c:legend>
      <c:legendPos val="r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en-US" sz="8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>
        <c:manualLayout>
          <c:xMode val="edge"/>
          <c:yMode val="edge"/>
          <c:x val="0.0958388680368411"/>
          <c:y val="0.012254883754851"/>
          <c:w val="0.493618925964486"/>
          <c:h val="0.0972057811610536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n-US" sz="8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en-US" sz="800" b="1"/>
      </a:pPr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112648806113325"/>
          <c:y val="0.129901959164913"/>
          <c:w val="0.839732117433938"/>
          <c:h val="0.71846404333097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'[CoPQ database 25.xlsx]Current'!$E$22</c:f>
              <c:strCache>
                <c:ptCount val="1"/>
                <c:pt idx="0">
                  <c:v>Work time (hrs)</c:v>
                </c:pt>
              </c:strCache>
            </c:strRef>
          </c:tx>
          <c:spPr>
            <a:solidFill>
              <a:srgbClr val="76717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'[CoPQ database 25.xlsx]Current'!$D$23:$D$28</c:f>
              <c:strCache>
                <c:ptCount val="6"/>
                <c:pt idx="0">
                  <c:v>JVB</c:v>
                </c:pt>
                <c:pt idx="1">
                  <c:v>JV2</c:v>
                </c:pt>
                <c:pt idx="2">
                  <c:v>JV</c:v>
                </c:pt>
                <c:pt idx="3">
                  <c:v>VH3</c:v>
                </c:pt>
                <c:pt idx="4">
                  <c:v>VH2</c:v>
                </c:pt>
                <c:pt idx="5">
                  <c:v>VH</c:v>
                </c:pt>
              </c:strCache>
            </c:strRef>
          </c:cat>
          <c:val>
            <c:numRef>
              <c:f>'[CoPQ database 25.xlsx]Current'!$E$23:$E$28</c:f>
              <c:numCache>
                <c:formatCode>_(* #,##0_);_(* \(#,##0\);_(* "-"??_);_(@_)</c:formatCode>
                <c:ptCount val="6"/>
                <c:pt idx="0">
                  <c:v>67</c:v>
                </c:pt>
                <c:pt idx="1">
                  <c:v>738</c:v>
                </c:pt>
                <c:pt idx="2">
                  <c:v>165</c:v>
                </c:pt>
                <c:pt idx="3" c:formatCode="General">
                  <c:v>35.8</c:v>
                </c:pt>
                <c:pt idx="4" c:formatCode="General">
                  <c:v>162.2</c:v>
                </c:pt>
                <c:pt idx="5" c:formatCode="General">
                  <c:v>175.7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-553786640"/>
        <c:axId val="-553784464"/>
      </c:barChart>
      <c:catAx>
        <c:axId val="-553786640"/>
        <c:scaling>
          <c:orientation val="minMax"/>
        </c:scaling>
        <c:delete val="1"/>
        <c:axPos val="l"/>
        <c:numFmt formatCode="General" sourceLinked="0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8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-553784464"/>
        <c:crosses val="autoZero"/>
        <c:auto val="1"/>
        <c:lblAlgn val="ctr"/>
        <c:lblOffset val="100"/>
        <c:noMultiLvlLbl val="0"/>
      </c:catAx>
      <c:valAx>
        <c:axId val="-553784464"/>
        <c:scaling>
          <c:orientation val="minMax"/>
          <c:max val="800"/>
          <c:min val="0"/>
        </c:scaling>
        <c:delete val="0"/>
        <c:axPos val="b"/>
        <c:numFmt formatCode="#,##0_);[Red]\(#,##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6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-553786640"/>
        <c:crosses val="autoZero"/>
        <c:crossBetween val="between"/>
        <c:majorUnit val="200"/>
      </c:valAx>
      <c:spPr>
        <a:gradFill>
          <a:gsLst>
            <a:gs pos="0">
              <a:schemeClr val="bg1">
                <a:alpha val="0"/>
              </a:schemeClr>
            </a:gs>
            <a:gs pos="100000">
              <a:srgbClr val="EAE9E9"/>
            </a:gs>
          </a:gsLst>
          <a:lin ang="10800000" scaled="0"/>
        </a:gradFill>
        <a:ln>
          <a:noFill/>
        </a:ln>
        <a:effectLst/>
      </c:spPr>
    </c:plotArea>
    <c:legend>
      <c:legendPos val="r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en-US" sz="8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>
        <c:manualLayout>
          <c:xMode val="edge"/>
          <c:yMode val="edge"/>
          <c:x val="0.0517311074219231"/>
          <c:y val="0.0036788961150776"/>
          <c:w val="0.807393205755498"/>
          <c:h val="0.135212418300654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n-US" sz="8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en-US" sz="800" b="1"/>
      </a:pPr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112648806113325"/>
          <c:y val="0.129901959164913"/>
          <c:w val="0.839732117433938"/>
          <c:h val="0.71846404333097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'[CoPQ database 25.xlsx]Current'!$B$31</c:f>
              <c:strCache>
                <c:ptCount val="1"/>
                <c:pt idx="0">
                  <c:v>Quantity (prs)</c:v>
                </c:pt>
              </c:strCache>
            </c:strRef>
          </c:tx>
          <c:spPr>
            <a:solidFill>
              <a:srgbClr val="385723"/>
            </a:solidFill>
            <a:ln>
              <a:noFill/>
            </a:ln>
            <a:effectLst/>
          </c:spPr>
          <c:invertIfNegative val="0"/>
          <c:dLbls>
            <c:dLbl>
              <c:idx val="1"/>
              <c:layout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42587311855121"/>
                      <c:h val="0.276961858463791"/>
                    </c:manualLayout>
                  </c15:layout>
                </c:ext>
              </c:extLst>
            </c:dLbl>
            <c:dLbl>
              <c:idx val="2"/>
              <c:layout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99300305829126"/>
                      <c:h val="0.276961858463791"/>
                    </c:manualLayout>
                  </c15:layout>
                </c:ext>
              </c:extLst>
            </c:dLbl>
            <c:dLbl>
              <c:idx val="3"/>
              <c:layout>
                <c:manualLayout>
                  <c:x val="-7.42661579893456e-17"/>
                  <c:y val="-0.068607901118187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3448545557312"/>
                      <c:h val="0.216929944985377"/>
                    </c:manualLayout>
                  </c15:layout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'[CoPQ database 25.xlsx]Current'!$A$33:$A$36</c:f>
              <c:strCache>
                <c:ptCount val="4"/>
                <c:pt idx="0">
                  <c:v>JV</c:v>
                </c:pt>
                <c:pt idx="1">
                  <c:v>VH4</c:v>
                </c:pt>
                <c:pt idx="2">
                  <c:v>VH2</c:v>
                </c:pt>
                <c:pt idx="3">
                  <c:v>VH</c:v>
                </c:pt>
              </c:strCache>
            </c:strRef>
          </c:cat>
          <c:val>
            <c:numRef>
              <c:f>'[CoPQ database 25.xlsx]Current'!$B$33:$B$36</c:f>
              <c:numCache>
                <c:formatCode>_(* #,##0_);_(* \(#,##0\);_(* "-"??_);_(@_)</c:formatCode>
                <c:ptCount val="4"/>
                <c:pt idx="0">
                  <c:v>11872</c:v>
                </c:pt>
                <c:pt idx="1">
                  <c:v>29715</c:v>
                </c:pt>
                <c:pt idx="2">
                  <c:v>17479</c:v>
                </c:pt>
                <c:pt idx="3">
                  <c:v>63603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-553800784"/>
        <c:axId val="-553820368"/>
      </c:barChart>
      <c:catAx>
        <c:axId val="-553800784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553820368"/>
        <c:crosses val="autoZero"/>
        <c:auto val="1"/>
        <c:lblAlgn val="ctr"/>
        <c:lblOffset val="100"/>
        <c:noMultiLvlLbl val="0"/>
      </c:catAx>
      <c:valAx>
        <c:axId val="-553820368"/>
        <c:scaling>
          <c:orientation val="minMax"/>
          <c:max val="175000"/>
          <c:min val="0"/>
        </c:scaling>
        <c:delete val="0"/>
        <c:axPos val="b"/>
        <c:numFmt formatCode="#,##0_);[Red]\(#,##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6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-553800784"/>
        <c:crosses val="autoZero"/>
        <c:crossBetween val="between"/>
        <c:majorUnit val="50000"/>
      </c:valAx>
      <c:spPr>
        <a:gradFill>
          <a:gsLst>
            <a:gs pos="0">
              <a:schemeClr val="bg1">
                <a:alpha val="0"/>
              </a:schemeClr>
            </a:gs>
            <a:gs pos="100000">
              <a:srgbClr val="E9E8E8"/>
            </a:gs>
          </a:gsLst>
          <a:lin ang="10800000" scaled="0"/>
        </a:gradFill>
        <a:ln>
          <a:noFill/>
        </a:ln>
        <a:effectLst/>
      </c:spPr>
    </c:plotArea>
    <c:legend>
      <c:legendPos val="r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en-US" sz="8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>
        <c:manualLayout>
          <c:xMode val="edge"/>
          <c:yMode val="edge"/>
          <c:x val="0.0983241501763866"/>
          <c:y val="0.0122549018080107"/>
          <c:w val="0.57623400202355"/>
          <c:h val="0.0714778182417335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n-US" sz="8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en-US" sz="800" b="1"/>
      </a:pPr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112648806113325"/>
          <c:y val="0.129901959164913"/>
          <c:w val="0.839732117433938"/>
          <c:h val="0.71846404333097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'[CoPQ database 25.xlsx]Current'!$E$31</c:f>
              <c:strCache>
                <c:ptCount val="1"/>
                <c:pt idx="0">
                  <c:v>Work time (hrs)</c:v>
                </c:pt>
              </c:strCache>
            </c:strRef>
          </c:tx>
          <c:spPr>
            <a:solidFill>
              <a:srgbClr val="38572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'[CoPQ database 25.xlsx]Current'!$D$33:$D$36</c:f>
              <c:strCache>
                <c:ptCount val="4"/>
                <c:pt idx="0">
                  <c:v>JV</c:v>
                </c:pt>
                <c:pt idx="1">
                  <c:v>VH4</c:v>
                </c:pt>
                <c:pt idx="2">
                  <c:v>VH2</c:v>
                </c:pt>
                <c:pt idx="3">
                  <c:v>VH</c:v>
                </c:pt>
              </c:strCache>
            </c:strRef>
          </c:cat>
          <c:val>
            <c:numRef>
              <c:f>'[CoPQ database 25.xlsx]Current'!$E$33:$E$36</c:f>
              <c:numCache>
                <c:formatCode>General</c:formatCode>
                <c:ptCount val="4"/>
                <c:pt idx="0">
                  <c:v>159</c:v>
                </c:pt>
                <c:pt idx="1">
                  <c:v>577.4</c:v>
                </c:pt>
                <c:pt idx="2">
                  <c:v>206</c:v>
                </c:pt>
                <c:pt idx="3" c:formatCode="_(* #,##0.0_);_(* \(#,##0.0\);_(* &quot;-&quot;??.0_);_(@_)">
                  <c:v>341.6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-553801872"/>
        <c:axId val="-553806224"/>
      </c:barChart>
      <c:catAx>
        <c:axId val="-553801872"/>
        <c:scaling>
          <c:orientation val="minMax"/>
        </c:scaling>
        <c:delete val="1"/>
        <c:axPos val="l"/>
        <c:numFmt formatCode="General" sourceLinked="0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8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-553806224"/>
        <c:crosses val="autoZero"/>
        <c:auto val="1"/>
        <c:lblAlgn val="ctr"/>
        <c:lblOffset val="100"/>
        <c:noMultiLvlLbl val="0"/>
      </c:catAx>
      <c:valAx>
        <c:axId val="-553806224"/>
        <c:scaling>
          <c:orientation val="minMax"/>
          <c:max val="800"/>
          <c:min val="0"/>
        </c:scaling>
        <c:delete val="0"/>
        <c:axPos val="b"/>
        <c:numFmt formatCode="#,##0_);[Red]\(#,##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6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-553801872"/>
        <c:crosses val="autoZero"/>
        <c:crossBetween val="between"/>
      </c:valAx>
      <c:spPr>
        <a:gradFill>
          <a:gsLst>
            <a:gs pos="0">
              <a:schemeClr val="bg1">
                <a:alpha val="0"/>
              </a:schemeClr>
            </a:gs>
            <a:gs pos="100000">
              <a:srgbClr val="E9E8E8"/>
            </a:gs>
          </a:gsLst>
          <a:lin ang="10800000" scaled="0"/>
        </a:gradFill>
        <a:ln>
          <a:noFill/>
        </a:ln>
        <a:effectLst/>
      </c:spPr>
    </c:plotArea>
    <c:legend>
      <c:legendPos val="r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en-US" sz="8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>
        <c:manualLayout>
          <c:xMode val="edge"/>
          <c:yMode val="edge"/>
          <c:x val="0.108939157967158"/>
          <c:y val="0.0128639814596601"/>
          <c:w val="0.546568079338421"/>
          <c:h val="0.124591503267974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n-US" sz="8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en-US" sz="800" b="1"/>
      </a:pPr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08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100">
                <a:solidFill>
                  <a:schemeClr val="tx1"/>
                </a:solidFill>
                <a:latin typeface="Arial Black" panose="020B0A04020102020204" pitchFamily="34" charset="0"/>
              </a:rPr>
              <a:t>VH</a:t>
            </a:r>
            <a:endParaRPr lang="en-US" sz="1100">
              <a:solidFill>
                <a:schemeClr val="tx1"/>
              </a:solidFill>
              <a:latin typeface="Arial Black" panose="020B0A04020102020204" pitchFamily="34" charset="0"/>
            </a:endParaRPr>
          </a:p>
        </c:rich>
      </c:tx>
      <c:layout>
        <c:manualLayout>
          <c:xMode val="edge"/>
          <c:yMode val="edge"/>
          <c:x val="0.463393325465513"/>
          <c:y val="0.0130208333333333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0948594073296465"/>
          <c:y val="0.234154154786818"/>
          <c:w val="0.987362969791114"/>
          <c:h val="0.61081935070616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'[CoPQ type analysis (1).xlsx]Current month'!$B$3</c:f>
              <c:strCache>
                <c:ptCount val="1"/>
                <c:pt idx="0">
                  <c:v>Quantity (prs)</c:v>
                </c:pt>
              </c:strCache>
            </c:strRef>
          </c:tx>
          <c:spPr>
            <a:solidFill>
              <a:srgbClr val="2A005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en-US" sz="9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'[CoPQ type analysis (1).xlsx]Current month'!$R$2:$X$2</c:f>
              <c:strCache>
                <c:ptCount val="7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</c:strCache>
            </c:strRef>
          </c:cat>
          <c:val>
            <c:numRef>
              <c:f>'[CoPQ type analysis (1).xlsx]Current month'!$R$3:$X$3</c:f>
              <c:numCache>
                <c:formatCode>#,##0.0</c:formatCode>
                <c:ptCount val="7"/>
                <c:pt idx="0">
                  <c:v>113.5</c:v>
                </c:pt>
                <c:pt idx="1">
                  <c:v>73.5</c:v>
                </c:pt>
                <c:pt idx="2">
                  <c:v>102</c:v>
                </c:pt>
                <c:pt idx="3">
                  <c:v>95.5</c:v>
                </c:pt>
                <c:pt idx="4">
                  <c:v>85.5</c:v>
                </c:pt>
                <c:pt idx="5" c:formatCode="General">
                  <c:v>97.5</c:v>
                </c:pt>
                <c:pt idx="6" c:formatCode="General">
                  <c:v>103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-553812208"/>
        <c:axId val="-553824176"/>
      </c:barChart>
      <c:lineChart>
        <c:grouping val="standard"/>
        <c:varyColors val="0"/>
        <c:ser>
          <c:idx val="1"/>
          <c:order val="1"/>
          <c:tx>
            <c:strRef>
              <c:f>'[CoPQ type analysis (1).xlsx]Current month'!$B$10</c:f>
              <c:strCache>
                <c:ptCount val="1"/>
                <c:pt idx="0">
                  <c:v>Cost ($)</c:v>
                </c:pt>
              </c:strCache>
            </c:strRef>
          </c:tx>
          <c:spPr>
            <a:ln w="28575" cap="rnd">
              <a:solidFill>
                <a:srgbClr val="00FFFF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FFFFFF"/>
              </a:solidFill>
              <a:ln w="9525">
                <a:solidFill>
                  <a:srgbClr val="002060"/>
                </a:solidFill>
              </a:ln>
              <a:effectLst/>
            </c:spPr>
          </c:marker>
          <c:dLbls>
            <c:dLbl>
              <c:idx val="5"/>
              <c:layout>
                <c:manualLayout>
                  <c:x val="-0.00592617676938706"/>
                  <c:y val="0.0329411764705882"/>
                </c:manualLayout>
              </c:layout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9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'[CoPQ type analysis (1).xlsx]Current month'!$R$2:$W$2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'[CoPQ type analysis (1).xlsx]Current month'!$R$10:$X$10</c:f>
              <c:numCache>
                <c:formatCode>"$"#,##0.00</c:formatCode>
                <c:ptCount val="7"/>
                <c:pt idx="0">
                  <c:v>2132.94</c:v>
                </c:pt>
                <c:pt idx="1">
                  <c:v>1264.52</c:v>
                </c:pt>
                <c:pt idx="2">
                  <c:v>1749.35</c:v>
                </c:pt>
                <c:pt idx="3">
                  <c:v>1760.93</c:v>
                </c:pt>
                <c:pt idx="4">
                  <c:v>1601</c:v>
                </c:pt>
                <c:pt idx="5">
                  <c:v>2020.65</c:v>
                </c:pt>
                <c:pt idx="6">
                  <c:v>2072.29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-553803504"/>
        <c:axId val="-553827984"/>
      </c:lineChart>
      <c:catAx>
        <c:axId val="-55381220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553824176"/>
        <c:crosses val="autoZero"/>
        <c:auto val="1"/>
        <c:lblAlgn val="ctr"/>
        <c:lblOffset val="100"/>
        <c:noMultiLvlLbl val="0"/>
      </c:catAx>
      <c:valAx>
        <c:axId val="-553824176"/>
        <c:scaling>
          <c:orientation val="minMax"/>
          <c:max val="800"/>
          <c:min val="0"/>
        </c:scaling>
        <c:delete val="0"/>
        <c:axPos val="l"/>
        <c:numFmt formatCode="#,##0.0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-553812208"/>
        <c:crosses val="autoZero"/>
        <c:crossBetween val="between"/>
      </c:valAx>
      <c:catAx>
        <c:axId val="-553803504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-553827984"/>
        <c:crosses val="max"/>
        <c:auto val="1"/>
        <c:lblAlgn val="ctr"/>
        <c:lblOffset val="100"/>
        <c:noMultiLvlLbl val="0"/>
      </c:catAx>
      <c:valAx>
        <c:axId val="-553827984"/>
        <c:scaling>
          <c:orientation val="minMax"/>
          <c:max val="3500"/>
          <c:min val="-100"/>
        </c:scaling>
        <c:delete val="0"/>
        <c:axPos val="r"/>
        <c:numFmt formatCode="&quot;$&quot;#,##0.00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-553803504"/>
        <c:crosses val="max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0149001015916018"/>
          <c:y val="0.0225882352941176"/>
          <c:w val="0.284043785367666"/>
          <c:h val="0.21137316947531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600" b="1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solidFill>
      <a:sysClr val="window" lastClr="FFFFFF"/>
    </a:solidFill>
    <a:ln w="9525" cap="flat" cmpd="sng" algn="ctr">
      <a:solidFill>
        <a:schemeClr val="bg2"/>
      </a:solidFill>
      <a:round/>
    </a:ln>
    <a:effectLst>
      <a:glow rad="63500">
        <a:schemeClr val="bg1">
          <a:lumMod val="75000"/>
          <a:alpha val="40000"/>
        </a:schemeClr>
      </a:glow>
    </a:effectLst>
  </c:spPr>
  <c:txPr>
    <a:bodyPr/>
    <a:lstStyle/>
    <a:p>
      <a:pPr>
        <a:defRPr lang="en-US" sz="900"/>
      </a:pPr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08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100">
                <a:solidFill>
                  <a:schemeClr val="tx1"/>
                </a:solidFill>
                <a:latin typeface="Arial Black" panose="020B0A04020102020204" pitchFamily="34" charset="0"/>
              </a:rPr>
              <a:t>VH2</a:t>
            </a:r>
            <a:endParaRPr lang="en-US" sz="1100">
              <a:solidFill>
                <a:schemeClr val="tx1"/>
              </a:solidFill>
              <a:latin typeface="Arial Black" panose="020B0A04020102020204" pitchFamily="34" charset="0"/>
            </a:endParaRPr>
          </a:p>
        </c:rich>
      </c:tx>
      <c:layout>
        <c:manualLayout>
          <c:xMode val="edge"/>
          <c:yMode val="edge"/>
          <c:x val="0.453400100533264"/>
          <c:y val="0.0130208333333333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0507872016251905"/>
          <c:y val="0.197699167812357"/>
          <c:w val="0.987362969791114"/>
          <c:h val="0.61081935070616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'[CoPQ type analysis (1).xlsx]Current month'!$B$3</c:f>
              <c:strCache>
                <c:ptCount val="1"/>
                <c:pt idx="0">
                  <c:v>Quantity (prs)</c:v>
                </c:pt>
              </c:strCache>
            </c:strRef>
          </c:tx>
          <c:spPr>
            <a:solidFill>
              <a:srgbClr val="2A0054"/>
            </a:solidFill>
            <a:ln>
              <a:noFill/>
            </a:ln>
            <a:effectLst/>
          </c:spPr>
          <c:invertIfNegative val="0"/>
          <c:dLbls>
            <c:dLbl>
              <c:idx val="4"/>
              <c:layout>
                <c:manualLayout>
                  <c:x val="0"/>
                  <c:y val="0.0083333333333333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en-US" sz="9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'[CoPQ type analysis (1).xlsx]Current month'!$R$2:$X$2</c:f>
              <c:strCache>
                <c:ptCount val="7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</c:strCache>
            </c:strRef>
          </c:cat>
          <c:val>
            <c:numRef>
              <c:f>'[CoPQ type analysis (1).xlsx]Current month'!$R$4:$X$4</c:f>
              <c:numCache>
                <c:formatCode>#,##0.0</c:formatCode>
                <c:ptCount val="7"/>
                <c:pt idx="0">
                  <c:v>13</c:v>
                </c:pt>
                <c:pt idx="1">
                  <c:v>12</c:v>
                </c:pt>
                <c:pt idx="2">
                  <c:v>16</c:v>
                </c:pt>
                <c:pt idx="3">
                  <c:v>13.5</c:v>
                </c:pt>
                <c:pt idx="4">
                  <c:v>66</c:v>
                </c:pt>
                <c:pt idx="5" c:formatCode="General">
                  <c:v>39</c:v>
                </c:pt>
                <c:pt idx="6" c:formatCode="General">
                  <c:v>11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-553800240"/>
        <c:axId val="-553810032"/>
      </c:barChart>
      <c:lineChart>
        <c:grouping val="standard"/>
        <c:varyColors val="0"/>
        <c:ser>
          <c:idx val="1"/>
          <c:order val="1"/>
          <c:tx>
            <c:strRef>
              <c:f>'[CoPQ type analysis (1).xlsx]Current month'!$B$10</c:f>
              <c:strCache>
                <c:ptCount val="1"/>
                <c:pt idx="0">
                  <c:v>Cost ($)</c:v>
                </c:pt>
              </c:strCache>
            </c:strRef>
          </c:tx>
          <c:spPr>
            <a:ln w="28575" cap="rnd">
              <a:solidFill>
                <a:srgbClr val="00FFFF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FFFFFF"/>
              </a:solidFill>
              <a:ln w="9525">
                <a:solidFill>
                  <a:srgbClr val="002060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9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'[CoPQ type analysis (1).xlsx]Current month'!$R$2:$X$2</c:f>
              <c:strCache>
                <c:ptCount val="7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</c:strCache>
            </c:strRef>
          </c:cat>
          <c:val>
            <c:numRef>
              <c:f>'[CoPQ type analysis (1).xlsx]Current month'!$R$11:$X$11</c:f>
              <c:numCache>
                <c:formatCode>"$"#,##0.00</c:formatCode>
                <c:ptCount val="7"/>
                <c:pt idx="0">
                  <c:v>225.65</c:v>
                </c:pt>
                <c:pt idx="1">
                  <c:v>232.75</c:v>
                </c:pt>
                <c:pt idx="2">
                  <c:v>302.43</c:v>
                </c:pt>
                <c:pt idx="3">
                  <c:v>244.6</c:v>
                </c:pt>
                <c:pt idx="4">
                  <c:v>1272.26</c:v>
                </c:pt>
                <c:pt idx="5">
                  <c:v>711.01</c:v>
                </c:pt>
                <c:pt idx="6">
                  <c:v>256.91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-553819280"/>
        <c:axId val="-553822000"/>
      </c:lineChart>
      <c:catAx>
        <c:axId val="-55380024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553810032"/>
        <c:crosses val="autoZero"/>
        <c:auto val="1"/>
        <c:lblAlgn val="ctr"/>
        <c:lblOffset val="100"/>
        <c:noMultiLvlLbl val="0"/>
      </c:catAx>
      <c:valAx>
        <c:axId val="-553810032"/>
        <c:scaling>
          <c:orientation val="minMax"/>
          <c:max val="800"/>
          <c:min val="0"/>
        </c:scaling>
        <c:delete val="0"/>
        <c:axPos val="l"/>
        <c:numFmt formatCode="#,##0.0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-553800240"/>
        <c:crosses val="autoZero"/>
        <c:crossBetween val="between"/>
      </c:valAx>
      <c:catAx>
        <c:axId val="-553819280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-553822000"/>
        <c:crosses val="max"/>
        <c:auto val="1"/>
        <c:lblAlgn val="ctr"/>
        <c:lblOffset val="100"/>
        <c:noMultiLvlLbl val="0"/>
      </c:catAx>
      <c:valAx>
        <c:axId val="-553822000"/>
        <c:scaling>
          <c:orientation val="minMax"/>
          <c:max val="2000"/>
          <c:min val="-1000"/>
        </c:scaling>
        <c:delete val="0"/>
        <c:axPos val="r"/>
        <c:numFmt formatCode="&quot;$&quot;#,##0.00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-553819280"/>
        <c:crosses val="max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00564463212259762"/>
          <c:y val="0.00488718958207146"/>
          <c:w val="0.253518225504767"/>
          <c:h val="0.18376859142607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600" b="1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solidFill>
      <a:sysClr val="window" lastClr="FFFFFF"/>
    </a:solidFill>
    <a:ln w="9525" cap="flat" cmpd="sng" algn="ctr">
      <a:solidFill>
        <a:schemeClr val="bg2"/>
      </a:solidFill>
      <a:round/>
    </a:ln>
    <a:effectLst>
      <a:glow rad="63500">
        <a:schemeClr val="bg1">
          <a:lumMod val="75000"/>
          <a:alpha val="40000"/>
        </a:schemeClr>
      </a:glow>
    </a:effectLst>
  </c:spPr>
  <c:txPr>
    <a:bodyPr/>
    <a:lstStyle/>
    <a:p>
      <a:pPr>
        <a:defRPr lang="en-US" sz="900"/>
      </a:pPr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08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100">
                <a:solidFill>
                  <a:schemeClr val="tx1"/>
                </a:solidFill>
                <a:latin typeface="Arial Black" panose="020B0A04020102020204" pitchFamily="34" charset="0"/>
              </a:rPr>
              <a:t>JV</a:t>
            </a:r>
            <a:endParaRPr lang="en-US" sz="1100">
              <a:solidFill>
                <a:schemeClr val="tx1"/>
              </a:solidFill>
              <a:latin typeface="Arial Black" panose="020B0A04020102020204" pitchFamily="34" charset="0"/>
            </a:endParaRPr>
          </a:p>
        </c:rich>
      </c:tx>
      <c:layout>
        <c:manualLayout>
          <c:xMode val="edge"/>
          <c:yMode val="edge"/>
          <c:x val="0.470845899991259"/>
          <c:y val="0.0130208333333333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0948594073296465"/>
          <c:y val="0.234154154786818"/>
          <c:w val="0.987362969791114"/>
          <c:h val="0.61081935070616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'[CoPQ type analysis (1).xlsx]Current month'!$B$3</c:f>
              <c:strCache>
                <c:ptCount val="1"/>
                <c:pt idx="0">
                  <c:v>Quantity (prs)</c:v>
                </c:pt>
              </c:strCache>
            </c:strRef>
          </c:tx>
          <c:spPr>
            <a:solidFill>
              <a:srgbClr val="2A0054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"/>
                  <c:y val="0.046296296296296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en-US" sz="9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'[CoPQ type analysis (1).xlsx]Current month'!$R$2:$X$2</c:f>
              <c:strCache>
                <c:ptCount val="7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</c:strCache>
            </c:strRef>
          </c:cat>
          <c:val>
            <c:numRef>
              <c:f>'[CoPQ type analysis (1).xlsx]Current month'!$R$5:$X$5</c:f>
              <c:numCache>
                <c:formatCode>#,##0.0</c:formatCode>
                <c:ptCount val="7"/>
                <c:pt idx="0">
                  <c:v>737</c:v>
                </c:pt>
                <c:pt idx="1">
                  <c:v>346.5</c:v>
                </c:pt>
                <c:pt idx="2">
                  <c:v>233.5</c:v>
                </c:pt>
                <c:pt idx="3">
                  <c:v>346</c:v>
                </c:pt>
                <c:pt idx="4">
                  <c:v>261.5</c:v>
                </c:pt>
                <c:pt idx="5" c:formatCode="General">
                  <c:v>327</c:v>
                </c:pt>
                <c:pt idx="6" c:formatCode="General">
                  <c:v>289.5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-553823632"/>
        <c:axId val="-553826352"/>
      </c:barChart>
      <c:lineChart>
        <c:grouping val="standard"/>
        <c:varyColors val="0"/>
        <c:ser>
          <c:idx val="1"/>
          <c:order val="1"/>
          <c:tx>
            <c:strRef>
              <c:f>'[CoPQ type analysis (1).xlsx]Current month'!$B$10</c:f>
              <c:strCache>
                <c:ptCount val="1"/>
                <c:pt idx="0">
                  <c:v>Cost ($)</c:v>
                </c:pt>
              </c:strCache>
            </c:strRef>
          </c:tx>
          <c:spPr>
            <a:ln w="28575" cap="rnd">
              <a:solidFill>
                <a:srgbClr val="00FFFF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FFFFFF"/>
              </a:solidFill>
              <a:ln w="9525">
                <a:solidFill>
                  <a:srgbClr val="002060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9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'[CoPQ type analysis (1).xlsx]Current month'!$R$2:$X$2</c:f>
              <c:strCache>
                <c:ptCount val="7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</c:strCache>
            </c:strRef>
          </c:cat>
          <c:val>
            <c:numRef>
              <c:f>'[CoPQ type analysis (1).xlsx]Current month'!$R$12:$X$12</c:f>
              <c:numCache>
                <c:formatCode>"$"#,##0.00</c:formatCode>
                <c:ptCount val="7"/>
                <c:pt idx="0">
                  <c:v>14030.1099999999</c:v>
                </c:pt>
                <c:pt idx="1">
                  <c:v>5764.71</c:v>
                </c:pt>
                <c:pt idx="2">
                  <c:v>3774.81</c:v>
                </c:pt>
                <c:pt idx="3">
                  <c:v>5567.96</c:v>
                </c:pt>
                <c:pt idx="4">
                  <c:v>4234.01</c:v>
                </c:pt>
                <c:pt idx="5">
                  <c:v>5279.18999999999</c:v>
                </c:pt>
                <c:pt idx="6">
                  <c:v>4649.39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-553816560"/>
        <c:axId val="-553808944"/>
      </c:lineChart>
      <c:catAx>
        <c:axId val="-55382363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553826352"/>
        <c:crosses val="autoZero"/>
        <c:auto val="1"/>
        <c:lblAlgn val="ctr"/>
        <c:lblOffset val="100"/>
        <c:noMultiLvlLbl val="0"/>
      </c:catAx>
      <c:valAx>
        <c:axId val="-553826352"/>
        <c:scaling>
          <c:orientation val="minMax"/>
          <c:max val="2000"/>
          <c:min val="0"/>
        </c:scaling>
        <c:delete val="0"/>
        <c:axPos val="l"/>
        <c:numFmt formatCode="#,##0.0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-553823632"/>
        <c:crosses val="autoZero"/>
        <c:crossBetween val="between"/>
      </c:valAx>
      <c:catAx>
        <c:axId val="-553816560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-553808944"/>
        <c:crosses val="max"/>
        <c:auto val="1"/>
        <c:lblAlgn val="ctr"/>
        <c:lblOffset val="100"/>
        <c:noMultiLvlLbl val="0"/>
      </c:catAx>
      <c:valAx>
        <c:axId val="-553808944"/>
        <c:scaling>
          <c:orientation val="minMax"/>
          <c:max val="50000"/>
          <c:min val="-40000"/>
        </c:scaling>
        <c:delete val="0"/>
        <c:axPos val="r"/>
        <c:numFmt formatCode="&quot;$&quot;#,##0.00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-553816560"/>
        <c:crosses val="max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00564463212259762"/>
          <c:y val="0.00488718958207146"/>
          <c:w val="0.233186134688095"/>
          <c:h val="0.23006479658792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600" b="1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solidFill>
      <a:sysClr val="window" lastClr="FFFFFF"/>
    </a:solidFill>
    <a:ln w="9525" cap="flat" cmpd="sng" algn="ctr">
      <a:solidFill>
        <a:schemeClr val="bg2"/>
      </a:solidFill>
      <a:round/>
    </a:ln>
    <a:effectLst>
      <a:glow rad="63500">
        <a:schemeClr val="bg1">
          <a:lumMod val="75000"/>
          <a:alpha val="40000"/>
        </a:schemeClr>
      </a:glow>
    </a:effectLst>
  </c:spPr>
  <c:txPr>
    <a:bodyPr/>
    <a:lstStyle/>
    <a:p>
      <a:pPr>
        <a:defRPr lang="en-US" sz="900"/>
      </a:pPr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08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100">
                <a:solidFill>
                  <a:schemeClr val="tx1"/>
                </a:solidFill>
                <a:latin typeface="Arial Black" panose="020B0A04020102020204" pitchFamily="34" charset="0"/>
              </a:rPr>
              <a:t>JV2</a:t>
            </a:r>
            <a:endParaRPr lang="en-US" sz="1100">
              <a:solidFill>
                <a:schemeClr val="tx1"/>
              </a:solidFill>
              <a:latin typeface="Arial Black" panose="020B0A04020102020204" pitchFamily="34" charset="0"/>
            </a:endParaRPr>
          </a:p>
        </c:rich>
      </c:tx>
      <c:layout>
        <c:manualLayout>
          <c:xMode val="edge"/>
          <c:yMode val="edge"/>
          <c:x val="0.440866225194511"/>
          <c:y val="0.0130208333333333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0948594073296465"/>
          <c:y val="0.234154154786818"/>
          <c:w val="0.987362969791114"/>
          <c:h val="0.61081935070616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'[CoPQ type analysis (1).xlsx]Current month'!$B$3</c:f>
              <c:strCache>
                <c:ptCount val="1"/>
                <c:pt idx="0">
                  <c:v>Quantity (prs)</c:v>
                </c:pt>
              </c:strCache>
            </c:strRef>
          </c:tx>
          <c:spPr>
            <a:solidFill>
              <a:srgbClr val="2A005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en-US" sz="9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'[CoPQ type analysis (1).xlsx]Current month'!$R$2:$X$2</c:f>
              <c:strCache>
                <c:ptCount val="7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</c:strCache>
            </c:strRef>
          </c:cat>
          <c:val>
            <c:numRef>
              <c:f>'[CoPQ type analysis (1).xlsx]Current month'!$R$6:$X$6</c:f>
              <c:numCache>
                <c:formatCode>#,##0.0</c:formatCode>
                <c:ptCount val="7"/>
                <c:pt idx="0">
                  <c:v>24.5</c:v>
                </c:pt>
                <c:pt idx="1">
                  <c:v>45</c:v>
                </c:pt>
                <c:pt idx="2">
                  <c:v>41</c:v>
                </c:pt>
                <c:pt idx="3">
                  <c:v>60.5</c:v>
                </c:pt>
                <c:pt idx="4">
                  <c:v>47.5</c:v>
                </c:pt>
                <c:pt idx="5" c:formatCode="General">
                  <c:v>38</c:v>
                </c:pt>
                <c:pt idx="6" c:formatCode="General">
                  <c:v>37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-553808400"/>
        <c:axId val="-553799696"/>
      </c:barChart>
      <c:lineChart>
        <c:grouping val="standard"/>
        <c:varyColors val="0"/>
        <c:ser>
          <c:idx val="1"/>
          <c:order val="1"/>
          <c:tx>
            <c:strRef>
              <c:f>'[CoPQ type analysis (1).xlsx]Current month'!$B$10</c:f>
              <c:strCache>
                <c:ptCount val="1"/>
                <c:pt idx="0">
                  <c:v>Cost ($)</c:v>
                </c:pt>
              </c:strCache>
            </c:strRef>
          </c:tx>
          <c:spPr>
            <a:ln w="28575" cap="rnd">
              <a:solidFill>
                <a:srgbClr val="00FFFF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FFFFFF"/>
              </a:solidFill>
              <a:ln w="9525">
                <a:solidFill>
                  <a:srgbClr val="002060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9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'[CoPQ type analysis (1).xlsx]Current month'!$R$2:$X$2</c:f>
              <c:strCache>
                <c:ptCount val="7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</c:strCache>
            </c:strRef>
          </c:cat>
          <c:val>
            <c:numRef>
              <c:f>'[CoPQ type analysis (1).xlsx]Current month'!$R$13:$X$13</c:f>
              <c:numCache>
                <c:formatCode>"$"#,##0.00</c:formatCode>
                <c:ptCount val="7"/>
                <c:pt idx="0">
                  <c:v>458.32</c:v>
                </c:pt>
                <c:pt idx="1">
                  <c:v>753.49</c:v>
                </c:pt>
                <c:pt idx="2">
                  <c:v>654.52</c:v>
                </c:pt>
                <c:pt idx="3">
                  <c:v>996.17</c:v>
                </c:pt>
                <c:pt idx="4">
                  <c:v>810.59</c:v>
                </c:pt>
                <c:pt idx="5">
                  <c:v>628.78</c:v>
                </c:pt>
                <c:pt idx="6">
                  <c:v>664.06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-553821456"/>
        <c:axId val="-553807856"/>
      </c:lineChart>
      <c:catAx>
        <c:axId val="-55380840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553799696"/>
        <c:crosses val="autoZero"/>
        <c:auto val="1"/>
        <c:lblAlgn val="ctr"/>
        <c:lblOffset val="100"/>
        <c:noMultiLvlLbl val="0"/>
      </c:catAx>
      <c:valAx>
        <c:axId val="-553799696"/>
        <c:scaling>
          <c:orientation val="minMax"/>
          <c:max val="800"/>
          <c:min val="0"/>
        </c:scaling>
        <c:delete val="0"/>
        <c:axPos val="l"/>
        <c:numFmt formatCode="#,##0.0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-553808400"/>
        <c:crosses val="autoZero"/>
        <c:crossBetween val="between"/>
      </c:valAx>
      <c:catAx>
        <c:axId val="-553821456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-553807856"/>
        <c:crosses val="max"/>
        <c:auto val="1"/>
        <c:lblAlgn val="ctr"/>
        <c:lblOffset val="100"/>
        <c:noMultiLvlLbl val="0"/>
      </c:catAx>
      <c:valAx>
        <c:axId val="-553807856"/>
        <c:scaling>
          <c:orientation val="minMax"/>
          <c:max val="2500"/>
          <c:min val="-1000"/>
        </c:scaling>
        <c:delete val="0"/>
        <c:axPos val="r"/>
        <c:numFmt formatCode="&quot;$&quot;#,##0.00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-553821456"/>
        <c:crosses val="max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00564463212259762"/>
          <c:y val="0.00488718958207146"/>
          <c:w val="0.256906907307546"/>
          <c:h val="0.23006479658792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600" b="1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solidFill>
      <a:sysClr val="window" lastClr="FFFFFF"/>
    </a:solidFill>
    <a:ln w="9525" cap="flat" cmpd="sng" algn="ctr">
      <a:solidFill>
        <a:schemeClr val="bg2"/>
      </a:solidFill>
      <a:round/>
    </a:ln>
    <a:effectLst>
      <a:glow rad="63500">
        <a:schemeClr val="bg1">
          <a:lumMod val="75000"/>
          <a:alpha val="40000"/>
        </a:schemeClr>
      </a:glow>
    </a:effectLst>
  </c:spPr>
  <c:txPr>
    <a:bodyPr/>
    <a:lstStyle/>
    <a:p>
      <a:pPr>
        <a:defRPr lang="en-US" sz="900"/>
      </a:pPr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264950700160464"/>
          <c:y val="0.0746527777777777"/>
          <c:w val="0.730953177502015"/>
          <c:h val="0.904513888888889"/>
        </c:manualLayout>
      </c:layout>
      <c:barChart>
        <c:barDir val="bar"/>
        <c:grouping val="stacked"/>
        <c:varyColors val="0"/>
        <c:ser>
          <c:idx val="1"/>
          <c:order val="1"/>
          <c:tx>
            <c:strRef>
              <c:f>'[CoPQ type analysis (1).xlsx]Current month'!$E$61</c:f>
              <c:strCache>
                <c:ptCount val="1"/>
                <c:pt idx="0">
                  <c:v>Ttl cost ($)</c:v>
                </c:pt>
              </c:strCache>
            </c:strRef>
          </c:tx>
          <c:spPr>
            <a:solidFill>
              <a:srgbClr val="D9B3FF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0720107809827228"/>
                  <c:y val="-1.5914168010025e-16"/>
                </c:manualLayout>
              </c:layout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0" tIns="0" rIns="0" bIns="0" anchor="ctr" anchorCtr="1">
                  <a:spAutoFit/>
                </a:bodyPr>
                <a:lstStyle/>
                <a:p>
                  <a:pPr algn="l">
                    <a:defRPr lang="en-US" sz="9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.0738234901415746"/>
                  <c:y val="7.95708400501249e-17"/>
                </c:manualLayout>
              </c:layout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0" tIns="0" rIns="0" bIns="0" anchor="ctr" anchorCtr="1">
                  <a:spAutoFit/>
                </a:bodyPr>
                <a:lstStyle/>
                <a:p>
                  <a:pPr algn="l">
                    <a:defRPr lang="en-US" sz="9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0.0819296435576794"/>
                  <c:y val="0.00868055555555556"/>
                </c:manualLayout>
              </c:layout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0" tIns="0" rIns="0" bIns="0" anchor="ctr" anchorCtr="1">
                  <a:spAutoFit/>
                </a:bodyPr>
                <a:lstStyle/>
                <a:p>
                  <a:pPr algn="l">
                    <a:defRPr lang="en-US" sz="9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0.0781661575273641"/>
                  <c:y val="-3.97854200250625e-17"/>
                </c:manualLayout>
              </c:layout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0" tIns="0" rIns="0" bIns="0" anchor="ctr" anchorCtr="1">
                  <a:spAutoFit/>
                </a:bodyPr>
                <a:lstStyle/>
                <a:p>
                  <a:pPr algn="l">
                    <a:defRPr lang="en-US" sz="9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0.103168089904255"/>
                  <c:y val="0"/>
                </c:manualLayout>
              </c:layout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0" tIns="0" rIns="0" bIns="0" anchor="ctr" anchorCtr="1">
                  <a:spAutoFit/>
                </a:bodyPr>
                <a:lstStyle/>
                <a:p>
                  <a:pPr algn="l">
                    <a:defRPr lang="en-US" sz="9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0" tIns="0" rIns="0" bIns="0" anchor="ctr" anchorCtr="1">
                <a:spAutoFit/>
              </a:bodyPr>
              <a:lstStyle/>
              <a:p>
                <a:pPr algn="l">
                  <a:defRPr lang="en-US" sz="7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'[CoPQ type analysis (1).xlsx]Current month'!$C$62:$C$66</c:f>
              <c:strCache>
                <c:ptCount val="5"/>
                <c:pt idx="0">
                  <c:v>JORDAN TRUE FLIGHT (PS)</c:v>
                </c:pt>
                <c:pt idx="1">
                  <c:v>AIR JORDAN 1 LOW SE V4</c:v>
                </c:pt>
                <c:pt idx="2">
                  <c:v>JORDAN SPIZIKE LOW (GS)</c:v>
                </c:pt>
                <c:pt idx="3">
                  <c:v>AIR JORDAN 1 LOW SE (GS)</c:v>
                </c:pt>
                <c:pt idx="4">
                  <c:v>NIKE AIR WINFLO 12</c:v>
                </c:pt>
              </c:strCache>
            </c:strRef>
          </c:cat>
          <c:val>
            <c:numRef>
              <c:f>'[CoPQ type analysis (1).xlsx]Current month'!$E$62:$E$66</c:f>
              <c:numCache>
                <c:formatCode>"$"#,##0.00</c:formatCode>
                <c:ptCount val="5"/>
                <c:pt idx="0">
                  <c:v>72.92</c:v>
                </c:pt>
                <c:pt idx="1">
                  <c:v>80.4</c:v>
                </c:pt>
                <c:pt idx="2">
                  <c:v>97.44</c:v>
                </c:pt>
                <c:pt idx="3">
                  <c:v>105.81</c:v>
                </c:pt>
                <c:pt idx="4">
                  <c:v>115.35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-553806768"/>
        <c:axId val="-553827440"/>
        <c:extLst>
          <c:ext xmlns:c15="http://schemas.microsoft.com/office/drawing/2012/chart" uri="{02D57815-91ED-43cb-92C2-25804820EDAC}">
            <c15:filteredBa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'[CoPQ type analysis (1).xlsx]Current month'!$D$61</c15:sqref>
                        </c15:formulaRef>
                      </c:ext>
                    </c:extLst>
                    <c:strCache>
                      <c:ptCount val="1"/>
                      <c:pt idx="0">
                        <c:v>Defect Qty</c:v>
                      </c:pt>
                    </c:strCache>
                  </c:strRef>
                </c:tx>
                <c:spPr>
                  <a:solidFill>
                    <a:srgbClr val="009999"/>
                  </a:solidFill>
                  <a:ln>
                    <a:noFill/>
                  </a:ln>
                  <a:effectLst/>
                </c:spPr>
                <c:invertIfNegative val="0"/>
                <c:dLbls>
                  <c:dLbl>
                    <c:idx val="0"/>
                    <c:layout>
                      <c:manualLayout>
                        <c:x val="0.0126178424125555"/>
                        <c:y val="-1.69751125440267e-16"/>
                      </c:manualLayout>
                    </c:layout>
                    <c:dLblPos val="ctr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xmlns:c15="http://schemas.microsoft.com/office/drawing/2012/chart" uri="{CE6537A1-D6FC-4f65-9D91-7224C49458BB}">
                        <c15:layout/>
                      </c:ext>
                    </c:extLst>
                  </c:dLbl>
                  <c:dLbl>
                    <c:idx val="1"/>
                    <c:layout>
                      <c:manualLayout>
                        <c:x val="0.0151081561233417"/>
                        <c:y val="-8.48755627201333e-17"/>
                      </c:manualLayout>
                    </c:layout>
                    <c:dLblPos val="ctr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xmlns:c15="http://schemas.microsoft.com/office/drawing/2012/chart" uri="{CE6537A1-D6FC-4f65-9D91-7224C49458BB}">
                        <c15:layout/>
                      </c:ext>
                    </c:extLst>
                  </c:dLbl>
                  <c:dLbl>
                    <c:idx val="4"/>
                    <c:layout>
                      <c:manualLayout>
                        <c:x val="0.0231457709984955"/>
                        <c:y val="0"/>
                      </c:manualLayout>
                    </c:layout>
                    <c:dLblPos val="ctr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xmlns:c15="http://schemas.microsoft.com/office/drawing/2012/chart" uri="{CE6537A1-D6FC-4f65-9D91-7224C49458BB}">
                        <c15:layout/>
                      </c:ext>
                    </c:extLst>
                  </c:dLbl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lang="en-US" sz="700" b="1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</a:p>
                  </c:txPr>
                  <c:dLblPos val="inBase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xmlns:c15="http://schemas.microsoft.com/office/drawing/2012/chart" uri="{CE6537A1-D6FC-4f65-9D91-7224C49458BB}">
                      <c15:layout/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prstDash val="solid"/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ullRef>
                          <c15:sqref/>
                        </c15:fullRef>
                        <c15:formulaRef>
                          <c15:sqref>'[CoPQ type analysis (1).xlsx]Current month'!$C$62:$C$66</c15:sqref>
                        </c15:formulaRef>
                      </c:ext>
                    </c:extLst>
                    <c:strCache>
                      <c:ptCount val="5"/>
                      <c:pt idx="0">
                        <c:v>JORDAN TRUE FLIGHT (PS)</c:v>
                      </c:pt>
                      <c:pt idx="1">
                        <c:v>AIR JORDAN 1 LOW SE V4</c:v>
                      </c:pt>
                      <c:pt idx="2">
                        <c:v>JORDAN SPIZIKE LOW (GS)</c:v>
                      </c:pt>
                      <c:pt idx="3">
                        <c:v>AIR JORDAN 1 LOW SE (GS)</c:v>
                      </c:pt>
                      <c:pt idx="4">
                        <c:v>NIKE AIR WINFLO 12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{4,3.5,3.5,4.5,6.5}</c15:sqref>
                        </c15:formulaRef>
                      </c:ext>
                    </c:extLst>
                    <c:numCache>
                      <c:formatCode>0.0</c:formatCode>
                      <c:ptCount val="5"/>
                      <c:pt idx="0">
                        <c:v>4</c:v>
                      </c:pt>
                      <c:pt idx="1">
                        <c:v>3.5</c:v>
                      </c:pt>
                      <c:pt idx="2">
                        <c:v>3.5</c:v>
                      </c:pt>
                      <c:pt idx="3">
                        <c:v>4.5</c:v>
                      </c:pt>
                      <c:pt idx="4">
                        <c:v>6.5</c:v>
                      </c:pt>
                    </c:numCache>
                  </c:numRef>
                </c:val>
              </c15:ser>
            </c15:filteredBarSeries>
          </c:ext>
        </c:extLst>
      </c:barChart>
      <c:catAx>
        <c:axId val="-55380676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7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553827440"/>
        <c:crosses val="autoZero"/>
        <c:auto val="1"/>
        <c:lblAlgn val="ctr"/>
        <c:lblOffset val="100"/>
        <c:noMultiLvlLbl val="0"/>
      </c:catAx>
      <c:valAx>
        <c:axId val="-553827440"/>
        <c:scaling>
          <c:orientation val="minMax"/>
          <c:max val="2000"/>
          <c:min val="0"/>
        </c:scaling>
        <c:delete val="1"/>
        <c:axPos val="b"/>
        <c:majorGridlines>
          <c:spPr>
            <a:ln w="9525" cap="flat" cmpd="sng" algn="ctr">
              <a:noFill/>
              <a:prstDash val="solid"/>
              <a:round/>
            </a:ln>
            <a:effectLst/>
          </c:spPr>
        </c:majorGridlines>
        <c:numFmt formatCode="&quot;$&quot;#,##0.00" sourceLinked="1"/>
        <c:majorTickMark val="none"/>
        <c:minorTickMark val="none"/>
        <c:tickLblPos val="none"/>
        <c:txPr>
          <a:bodyPr rot="-60000000" spcFirstLastPara="0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553806768"/>
        <c:crosses val="autoZero"/>
        <c:crossBetween val="between"/>
      </c:valAx>
    </c:plotArea>
    <c:legend>
      <c:legendPos val="b"/>
      <c:layout>
        <c:manualLayout>
          <c:xMode val="edge"/>
          <c:yMode val="edge"/>
          <c:x val="0.00409612233752048"/>
          <c:y val="0.0138888888888889"/>
          <c:w val="0.368179459814024"/>
          <c:h val="0.1078077154418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700" b="1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solidFill>
      <a:schemeClr val="bg1"/>
    </a:solidFill>
    <a:ln w="6350" cap="flat" cmpd="sng" algn="ctr">
      <a:solidFill>
        <a:schemeClr val="bg1">
          <a:lumMod val="85000"/>
        </a:schemeClr>
      </a:solidFill>
      <a:prstDash val="solid"/>
      <a:round/>
    </a:ln>
    <a:effectLst>
      <a:glow rad="63500">
        <a:schemeClr val="accent3">
          <a:satMod val="175000"/>
          <a:alpha val="40000"/>
        </a:schemeClr>
      </a:glow>
    </a:effectLst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492052662451284"/>
          <c:y val="0.148285035799097"/>
          <c:w val="0.311647373759555"/>
          <c:h val="0.806871490192336"/>
        </c:manualLayout>
      </c:layout>
      <c:pieChart>
        <c:varyColors val="1"/>
        <c:ser>
          <c:idx val="0"/>
          <c:order val="0"/>
          <c:tx>
            <c:strRef>
              <c:f>'[CoPQ type analysis (1).xlsx]Current month'!$E$54</c:f>
              <c:strCache>
                <c:ptCount val="1"/>
                <c:pt idx="0">
                  <c:v>Ttl cost ($)</c:v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rgbClr val="9225FF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5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tx2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dLbl>
              <c:idx val="0"/>
              <c:layout>
                <c:manualLayout>
                  <c:x val="-0.0136832106859184"/>
                  <c:y val="-0.0789887729872634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21954517638846"/>
                      <c:h val="0.306122448979592"/>
                    </c:manualLayout>
                  </c15:layout>
                </c:ext>
              </c:extLst>
            </c:dLbl>
            <c:dLbl>
              <c:idx val="1"/>
              <c:layout>
                <c:manualLayout>
                  <c:x val="-0.0764710432537396"/>
                  <c:y val="-0.186458333333333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9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bestFit"/>
            <c:showLegendKey val="0"/>
            <c:showVal val="1"/>
            <c:showCatName val="1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'[CoPQ type analysis (1).xlsx]Current month'!$C$55:$C$58</c:f>
              <c:strCache>
                <c:ptCount val="4"/>
                <c:pt idx="0">
                  <c:v>Factory 1</c:v>
                </c:pt>
                <c:pt idx="1">
                  <c:v>Factory 3</c:v>
                </c:pt>
                <c:pt idx="2">
                  <c:v>Factory 4</c:v>
                </c:pt>
                <c:pt idx="3">
                  <c:v>Factory 2</c:v>
                </c:pt>
              </c:strCache>
            </c:strRef>
          </c:cat>
          <c:val>
            <c:numRef>
              <c:f>'[CoPQ type analysis (1).xlsx]Current month'!$E$55:$E$58</c:f>
              <c:numCache>
                <c:formatCode>"$"#,##0.00</c:formatCode>
                <c:ptCount val="4"/>
                <c:pt idx="0">
                  <c:v>708.08</c:v>
                </c:pt>
                <c:pt idx="1">
                  <c:v>591.53</c:v>
                </c:pt>
                <c:pt idx="2">
                  <c:v>564.24</c:v>
                </c:pt>
                <c:pt idx="3">
                  <c:v>208.44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5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489993749005806"/>
          <c:y val="0.106275406050434"/>
          <c:w val="0.311647373759555"/>
          <c:h val="0.806871490192336"/>
        </c:manualLayout>
      </c:layout>
      <c:pieChart>
        <c:varyColors val="1"/>
        <c:ser>
          <c:idx val="0"/>
          <c:order val="0"/>
          <c:tx>
            <c:strRef>
              <c:f>'[CoPQ type analysis (1).xlsx]Current month'!$K$54</c:f>
              <c:strCache>
                <c:ptCount val="1"/>
                <c:pt idx="0">
                  <c:v>Ttl cost ($)</c:v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rgbClr val="9225FF"/>
              </a:solidFill>
              <a:ln w="19050">
                <a:noFill/>
              </a:ln>
              <a:effectLst/>
            </c:spPr>
          </c:dPt>
          <c:dPt>
            <c:idx val="1"/>
            <c:bubble3D val="0"/>
            <c:spPr>
              <a:solidFill>
                <a:srgbClr val="4472C4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rgbClr val="8FAADC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dLbl>
              <c:idx val="0"/>
              <c:layout>
                <c:manualLayout>
                  <c:x val="0.0514997172609521"/>
                  <c:y val="-0.293099983595801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.00891601583338668"/>
                  <c:y val="0.0324427220034996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en-US" sz="9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bestFit"/>
            <c:showLegendKey val="0"/>
            <c:showVal val="1"/>
            <c:showCatName val="1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'[CoPQ type analysis (1).xlsx]Current month'!$I$55:$I$57</c:f>
              <c:strCache>
                <c:ptCount val="3"/>
                <c:pt idx="0">
                  <c:v>Factory 5</c:v>
                </c:pt>
                <c:pt idx="1">
                  <c:v>Factory 1</c:v>
                </c:pt>
                <c:pt idx="2">
                  <c:v>Factory 3</c:v>
                </c:pt>
              </c:strCache>
            </c:strRef>
          </c:cat>
          <c:val>
            <c:numRef>
              <c:f>'[CoPQ type analysis (1).xlsx]Current month'!$K$55:$K$57</c:f>
              <c:numCache>
                <c:formatCode>"$"#,##0.00</c:formatCode>
                <c:ptCount val="3"/>
                <c:pt idx="0">
                  <c:v>211.29</c:v>
                </c:pt>
                <c:pt idx="1">
                  <c:v>27.86</c:v>
                </c:pt>
                <c:pt idx="2">
                  <c:v>17.76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5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en-US" sz="900" b="0" i="0" u="none" strike="noStrike" kern="1200" baseline="0">
          <a:solidFill>
            <a:schemeClr val="tx1"/>
          </a:solidFill>
          <a:latin typeface="+mn-lt"/>
          <a:ea typeface="+mn-ea"/>
          <a:cs typeface="+mn-cs"/>
        </a:defRPr>
      </a:pPr>
    </a:p>
  </c:tx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480899049550624"/>
          <c:y val="0.132378567190777"/>
          <c:w val="0.323484599936372"/>
          <c:h val="0.746955884811097"/>
        </c:manualLayout>
      </c:layout>
      <c:pieChart>
        <c:varyColors val="1"/>
        <c:ser>
          <c:idx val="0"/>
          <c:order val="0"/>
          <c:tx>
            <c:strRef>
              <c:f>'[CoPQ type analysis (1).xlsx]Current month'!$Q$54</c:f>
              <c:strCache>
                <c:ptCount val="1"/>
                <c:pt idx="0">
                  <c:v>Ttl cost ($)</c:v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rgbClr val="9225FF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rgbClr val="4472C4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dLbl>
              <c:idx val="0"/>
              <c:layout>
                <c:manualLayout>
                  <c:x val="0.0265604249667993"/>
                  <c:y val="-0.060170548648464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-0.00472505105191285"/>
                  <c:y val="-0.0137634408602152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92729083665339"/>
                      <c:h val="0.350386930352537"/>
                    </c:manualLayout>
                  </c15:layout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en-US" sz="9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1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'[CoPQ type analysis (1).xlsx]Current month'!$O$55:$O$56</c:f>
              <c:strCache>
                <c:ptCount val="2"/>
                <c:pt idx="0">
                  <c:v>Factory 1</c:v>
                </c:pt>
                <c:pt idx="1">
                  <c:v>Factory 3</c:v>
                </c:pt>
              </c:strCache>
            </c:strRef>
          </c:cat>
          <c:val>
            <c:numRef>
              <c:f>'[CoPQ type analysis (1).xlsx]Current month'!$Q$55:$Q$56</c:f>
              <c:numCache>
                <c:formatCode>"$"#,##0.00</c:formatCode>
                <c:ptCount val="2"/>
                <c:pt idx="0">
                  <c:v>2344.96</c:v>
                </c:pt>
                <c:pt idx="1">
                  <c:v>2304.43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5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en-US" sz="900" b="0" i="0" u="none" strike="noStrike" kern="1200" baseline="0">
          <a:solidFill>
            <a:schemeClr val="tx1"/>
          </a:solidFill>
          <a:latin typeface="+mn-lt"/>
          <a:ea typeface="+mn-ea"/>
          <a:cs typeface="+mn-cs"/>
        </a:defRPr>
      </a:pPr>
    </a:p>
  </c:tx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494199810606061"/>
          <c:y val="0.122091881371971"/>
          <c:w val="0.311647373759555"/>
          <c:h val="0.806871490192336"/>
        </c:manualLayout>
      </c:layout>
      <c:pieChart>
        <c:varyColors val="1"/>
        <c:ser>
          <c:idx val="0"/>
          <c:order val="0"/>
          <c:tx>
            <c:strRef>
              <c:f>'[CoPQ type analysis (1).xlsx]Current month'!$W$54</c:f>
              <c:strCache>
                <c:ptCount val="1"/>
                <c:pt idx="0">
                  <c:v>Ttl cost ($)</c:v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rgbClr val="9225FF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rgbClr val="4472C4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rgbClr val="8FAADC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9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bestFit"/>
            <c:showLegendKey val="0"/>
            <c:showVal val="1"/>
            <c:showCatName val="1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'[CoPQ type analysis (1).xlsx]Current month'!$U$55:$U$57</c:f>
              <c:strCache>
                <c:ptCount val="3"/>
                <c:pt idx="0">
                  <c:v>Factory 2</c:v>
                </c:pt>
                <c:pt idx="1">
                  <c:v>Factory 1</c:v>
                </c:pt>
                <c:pt idx="2">
                  <c:v>Factory 3</c:v>
                </c:pt>
              </c:strCache>
            </c:strRef>
          </c:cat>
          <c:val>
            <c:numRef>
              <c:f>'[CoPQ type analysis (1).xlsx]Current month'!$W$55:$W$57</c:f>
              <c:numCache>
                <c:formatCode>"$"#,##0.00</c:formatCode>
                <c:ptCount val="3"/>
                <c:pt idx="0">
                  <c:v>380.92</c:v>
                </c:pt>
                <c:pt idx="1">
                  <c:v>210.57</c:v>
                </c:pt>
                <c:pt idx="2">
                  <c:v>72.57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5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en-US" sz="900" b="0" i="0" u="none" strike="noStrike" kern="1200" baseline="0">
          <a:solidFill>
            <a:schemeClr val="tx1"/>
          </a:solidFill>
          <a:latin typeface="+mn-lt"/>
          <a:ea typeface="+mn-ea"/>
          <a:cs typeface="+mn-cs"/>
        </a:defRPr>
      </a:pPr>
    </a:p>
  </c:tx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270123246918827"/>
          <c:y val="0.0567537456255473"/>
          <c:w val="0.273868568819001"/>
          <c:h val="0.915468476596675"/>
        </c:manualLayout>
      </c:layout>
      <c:barChart>
        <c:barDir val="bar"/>
        <c:grouping val="stacked"/>
        <c:varyColors val="0"/>
        <c:ser>
          <c:idx val="1"/>
          <c:order val="1"/>
          <c:tx>
            <c:strRef>
              <c:f>'[CoPQ type analysis (1).xlsx]Current month'!$K$61</c:f>
              <c:strCache>
                <c:ptCount val="1"/>
                <c:pt idx="0">
                  <c:v>Ttl cost ($)</c:v>
                </c:pt>
              </c:strCache>
            </c:strRef>
          </c:tx>
          <c:spPr>
            <a:solidFill>
              <a:srgbClr val="D9B3FF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0822202401156264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.0718373611754798"/>
                  <c:y val="0.00388433318946914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0.0682809015070299"/>
                  <c:y val="-7.95708400501249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0.0894622588244638"/>
                  <c:y val="0.00388433318946914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0.0955893389336318"/>
                  <c:y val="0.0090147400853594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9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'[CoPQ type analysis (1).xlsx]Current month'!$I$62:$I$66</c:f>
              <c:strCache>
                <c:ptCount val="5"/>
                <c:pt idx="0">
                  <c:v>NIKE DUNK LOW RETRO SE</c:v>
                </c:pt>
                <c:pt idx="1">
                  <c:v>W NIKE AIR WINFLO 12 GTX</c:v>
                </c:pt>
                <c:pt idx="2">
                  <c:v>AIR WINFLO 11 GTX</c:v>
                </c:pt>
                <c:pt idx="3">
                  <c:v>NIKE DUNK LOW RETRO</c:v>
                </c:pt>
                <c:pt idx="4">
                  <c:v>NIKE AIR WINFLO 12 GTX</c:v>
                </c:pt>
              </c:strCache>
            </c:strRef>
          </c:cat>
          <c:val>
            <c:numRef>
              <c:f>'[CoPQ type analysis (1).xlsx]Current month'!$K$62:$K$66</c:f>
              <c:numCache>
                <c:formatCode>"$"#,##0.00</c:formatCode>
                <c:ptCount val="5"/>
                <c:pt idx="0">
                  <c:v>21.28</c:v>
                </c:pt>
                <c:pt idx="1">
                  <c:v>23.98</c:v>
                </c:pt>
                <c:pt idx="2">
                  <c:v>27.04</c:v>
                </c:pt>
                <c:pt idx="3">
                  <c:v>33.05</c:v>
                </c:pt>
                <c:pt idx="4">
                  <c:v>86.16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-553801328"/>
        <c:axId val="-553812752"/>
        <c:extLst>
          <c:ext xmlns:c15="http://schemas.microsoft.com/office/drawing/2012/chart" uri="{02D57815-91ED-43cb-92C2-25804820EDAC}">
            <c15:filteredBa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'[CoPQ type analysis (1).xlsx]Current month'!$J$61</c15:sqref>
                        </c15:formulaRef>
                      </c:ext>
                    </c:extLst>
                    <c:strCache>
                      <c:ptCount val="1"/>
                      <c:pt idx="0">
                        <c:v>Defect Qty</c:v>
                      </c:pt>
                    </c:strCache>
                  </c:strRef>
                </c:tx>
                <c:spPr>
                  <a:solidFill>
                    <a:srgbClr val="009999"/>
                  </a:solidFill>
                  <a:ln>
                    <a:noFill/>
                  </a:ln>
                  <a:effectLst/>
                </c:spPr>
                <c:invertIfNegative val="0"/>
                <c:dLbls>
                  <c:dLbl>
                    <c:idx val="0"/>
                    <c:layout>
                      <c:manualLayout>
                        <c:x val="0.0243402700302612"/>
                        <c:y val="0"/>
                      </c:manualLayout>
                    </c:layout>
                    <c:numFmt formatCode="General" sourceLinked="1"/>
                    <c:spPr>
                      <a:noFill/>
                      <a:ln>
                        <a:noFill/>
                      </a:ln>
                      <a:effectLst/>
                    </c:spPr>
                    <c:txPr>
                      <a:bodyPr rot="0" spcFirstLastPara="1" vertOverflow="ellipsis" vert="horz" wrap="square" lIns="38100" tIns="19050" rIns="38100" bIns="19050" anchor="ctr" anchorCtr="1">
                        <a:noAutofit/>
                      </a:bodyPr>
                      <a:lstStyle/>
                      <a:p>
                        <a:pPr>
                          <a:defRPr lang="en-US" sz="700" b="1" i="0" u="none" strike="noStrike" kern="1200" baseline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pPr>
                      </a:p>
                    </c:txPr>
                    <c:dLblPos val="ctr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xmlns:c15="http://schemas.microsoft.com/office/drawing/2012/chart" uri="{CE6537A1-D6FC-4f65-9D91-7224C49458BB}">
                        <c15:layout>
                          <c:manualLayout>
                            <c:w val="0.0498604774949393"/>
                            <c:h val="0.112717355643045"/>
                          </c:manualLayout>
                        </c15:layout>
                      </c:ext>
                    </c:extLst>
                  </c:dLbl>
                  <c:dLbl>
                    <c:idx val="1"/>
                    <c:layout>
                      <c:manualLayout>
                        <c:x val="0.0213266914527455"/>
                        <c:y val="0"/>
                      </c:manualLayout>
                    </c:layout>
                    <c:dLblPos val="ctr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xmlns:c15="http://schemas.microsoft.com/office/drawing/2012/chart" uri="{CE6537A1-D6FC-4f65-9D91-7224C49458BB}">
                        <c15:layout/>
                      </c:ext>
                    </c:extLst>
                  </c:dLbl>
                  <c:dLbl>
                    <c:idx val="2"/>
                    <c:layout>
                      <c:manualLayout>
                        <c:x val="0.0141808458321711"/>
                        <c:y val="-7.95708400501249e-17"/>
                      </c:manualLayout>
                    </c:layout>
                    <c:dLblPos val="ctr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xmlns:c15="http://schemas.microsoft.com/office/drawing/2012/chart" uri="{CE6537A1-D6FC-4f65-9D91-7224C49458BB}">
                        <c15:layout/>
                      </c:ext>
                    </c:extLst>
                  </c:dLbl>
                  <c:dLbl>
                    <c:idx val="3"/>
                    <c:layout>
                      <c:manualLayout>
                        <c:x val="0.0154460603138893"/>
                        <c:y val="0.0277777777777777"/>
                      </c:manualLayout>
                    </c:layout>
                    <c:dLblPos val="ctr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xmlns:c15="http://schemas.microsoft.com/office/drawing/2012/chart" uri="{CE6537A1-D6FC-4f65-9D91-7224C49458BB}">
                        <c15:layout/>
                      </c:ext>
                    </c:extLst>
                  </c:dLbl>
                  <c:dLbl>
                    <c:idx val="4"/>
                    <c:layout>
                      <c:manualLayout>
                        <c:x val="0.0174339814666024"/>
                        <c:y val="0.0086803732866725"/>
                      </c:manualLayout>
                    </c:layout>
                    <c:dLblPos val="ctr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xmlns:c15="http://schemas.microsoft.com/office/drawing/2012/chart" uri="{CE6537A1-D6FC-4f65-9D91-7224C49458BB}">
                        <c15:layout/>
                      </c:ext>
                    </c:extLst>
                  </c:dLbl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lang="en-US" sz="700" b="1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</a:p>
                  </c:txPr>
                  <c:dLblPos val="inBase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xmlns:c15="http://schemas.microsoft.com/office/drawing/2012/chart" uri="{CE6537A1-D6FC-4f65-9D91-7224C49458BB}">
                      <c15:layout/>
                      <c15:showLeaderLines val="0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ullRef>
                          <c15:sqref/>
                        </c15:fullRef>
                        <c15:formulaRef>
                          <c15:sqref>'[CoPQ type analysis (1).xlsx]Current month'!$I$62:$I$66</c15:sqref>
                        </c15:formulaRef>
                      </c:ext>
                    </c:extLst>
                    <c:strCache>
                      <c:ptCount val="5"/>
                      <c:pt idx="0">
                        <c:v>NIKE DUNK LOW RETRO SE</c:v>
                      </c:pt>
                      <c:pt idx="1">
                        <c:v>W NIKE AIR WINFLO 12 GTX</c:v>
                      </c:pt>
                      <c:pt idx="2">
                        <c:v>AIR WINFLO 11 GTX</c:v>
                      </c:pt>
                      <c:pt idx="3">
                        <c:v>NIKE DUNK LOW RETRO</c:v>
                      </c:pt>
                      <c:pt idx="4">
                        <c:v>NIKE AIR WINFLO 12 GTX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{1,1,1,1.5,3}</c15:sqref>
                        </c15:formulaRef>
                      </c:ext>
                    </c:extLst>
                    <c:numCache>
                      <c:formatCode>0.0</c:formatCode>
                      <c:ptCount val="5"/>
                      <c:pt idx="0">
                        <c:v>1</c:v>
                      </c:pt>
                      <c:pt idx="1">
                        <c:v>1</c:v>
                      </c:pt>
                      <c:pt idx="2">
                        <c:v>1</c:v>
                      </c:pt>
                      <c:pt idx="3">
                        <c:v>1.5</c:v>
                      </c:pt>
                      <c:pt idx="4">
                        <c:v>3</c:v>
                      </c:pt>
                    </c:numCache>
                  </c:numRef>
                </c:val>
              </c15:ser>
            </c15:filteredBarSeries>
          </c:ext>
        </c:extLst>
      </c:barChart>
      <c:catAx>
        <c:axId val="-55380132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7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553812752"/>
        <c:crosses val="autoZero"/>
        <c:auto val="1"/>
        <c:lblAlgn val="ctr"/>
        <c:lblOffset val="100"/>
        <c:noMultiLvlLbl val="0"/>
      </c:catAx>
      <c:valAx>
        <c:axId val="-553812752"/>
        <c:scaling>
          <c:orientation val="minMax"/>
          <c:max val="2000"/>
          <c:min val="0"/>
        </c:scaling>
        <c:delete val="0"/>
        <c:axPos val="b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&quot;$&quot;#,##0.00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-5538013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"/>
          <c:y val="0"/>
          <c:w val="0.358816955401804"/>
          <c:h val="0.099127159886264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700" b="1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noFill/>
      <a:round/>
    </a:ln>
    <a:effectLst>
      <a:glow rad="63500">
        <a:schemeClr val="accent3">
          <a:satMod val="175000"/>
          <a:alpha val="40000"/>
        </a:schemeClr>
      </a:glow>
    </a:effectLst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273639062794634"/>
          <c:y val="0.0714997083697871"/>
          <c:w val="0.471988566691719"/>
          <c:h val="0.915468476596675"/>
        </c:manualLayout>
      </c:layout>
      <c:barChart>
        <c:barDir val="bar"/>
        <c:grouping val="stacked"/>
        <c:varyColors val="0"/>
        <c:ser>
          <c:idx val="1"/>
          <c:order val="1"/>
          <c:tx>
            <c:strRef>
              <c:f>'[CoPQ type analysis (1).xlsx]Current month'!$Q$61</c:f>
              <c:strCache>
                <c:ptCount val="1"/>
                <c:pt idx="0">
                  <c:v>Ttl cost ($)</c:v>
                </c:pt>
              </c:strCache>
            </c:strRef>
          </c:tx>
          <c:spPr>
            <a:solidFill>
              <a:srgbClr val="D9B3FF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070596570780785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.0879990716761935"/>
                  <c:y val="-0.0014435695538057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0.088665858102582"/>
                  <c:y val="-0.0133078156897055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0.0952172355811341"/>
                  <c:y val="-0.0159135316418781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0.109507173867685"/>
                  <c:y val="0.00608194808982211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9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'[CoPQ type analysis (1).xlsx]Current month'!$O$62:$O$66</c:f>
              <c:strCache>
                <c:ptCount val="5"/>
                <c:pt idx="0">
                  <c:v>NIKE EBERNON LOW</c:v>
                </c:pt>
                <c:pt idx="1">
                  <c:v>WMNS NIKE INITIATOR</c:v>
                </c:pt>
                <c:pt idx="2">
                  <c:v>NIKE INITIATOR</c:v>
                </c:pt>
                <c:pt idx="3">
                  <c:v>NIKE AIR MAX SC</c:v>
                </c:pt>
                <c:pt idx="4">
                  <c:v>NIKE EBERNON LOW PREM</c:v>
                </c:pt>
              </c:strCache>
            </c:strRef>
          </c:cat>
          <c:val>
            <c:numRef>
              <c:f>'[CoPQ type analysis (1).xlsx]Current month'!$Q$62:$Q$66</c:f>
              <c:numCache>
                <c:formatCode>"$"#,##0.00</c:formatCode>
                <c:ptCount val="5"/>
                <c:pt idx="0">
                  <c:v>392.12</c:v>
                </c:pt>
                <c:pt idx="1">
                  <c:v>592.77</c:v>
                </c:pt>
                <c:pt idx="2">
                  <c:v>782.75</c:v>
                </c:pt>
                <c:pt idx="3">
                  <c:v>831.2</c:v>
                </c:pt>
                <c:pt idx="4">
                  <c:v>919.43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-553805136"/>
        <c:axId val="-553829072"/>
        <c:extLst>
          <c:ext xmlns:c15="http://schemas.microsoft.com/office/drawing/2012/chart" uri="{02D57815-91ED-43cb-92C2-25804820EDAC}">
            <c15:filteredBa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'[CoPQ type analysis (1).xlsx]Current month'!$P$61</c15:sqref>
                        </c15:formulaRef>
                      </c:ext>
                    </c:extLst>
                    <c:strCache>
                      <c:ptCount val="1"/>
                      <c:pt idx="0">
                        <c:v>Defect Qty</c:v>
                      </c:pt>
                    </c:strCache>
                  </c:strRef>
                </c:tx>
                <c:spPr>
                  <a:solidFill>
                    <a:srgbClr val="009999"/>
                  </a:solidFill>
                  <a:ln>
                    <a:noFill/>
                  </a:ln>
                  <a:effectLst/>
                </c:spPr>
                <c:invertIfNegative val="0"/>
                <c:dLbls>
                  <c:dLbl>
                    <c:idx val="0"/>
                    <c:layout>
                      <c:manualLayout>
                        <c:x val="0.022196749899821"/>
                        <c:y val="0"/>
                      </c:manualLayout>
                    </c:layout>
                    <c:dLblPos val="ctr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xmlns:c15="http://schemas.microsoft.com/office/drawing/2012/chart" uri="{CE6537A1-D6FC-4f65-9D91-7224C49458BB}">
                        <c15:layout/>
                      </c:ext>
                    </c:extLst>
                  </c:dLbl>
                  <c:dLbl>
                    <c:idx val="1"/>
                    <c:layout>
                      <c:manualLayout>
                        <c:x val="0.0210642473715159"/>
                        <c:y val="-0.00925925925925934"/>
                      </c:manualLayout>
                    </c:layout>
                    <c:dLblPos val="ctr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xmlns:c15="http://schemas.microsoft.com/office/drawing/2012/chart" uri="{CE6537A1-D6FC-4f65-9D91-7224C49458BB}">
                        <c15:layout/>
                      </c:ext>
                    </c:extLst>
                  </c:dLbl>
                  <c:dLbl>
                    <c:idx val="2"/>
                    <c:layout>
                      <c:manualLayout>
                        <c:x val="0.024529889467701"/>
                        <c:y val="-0.0138888888888889"/>
                      </c:manualLayout>
                    </c:layout>
                    <c:numFmt formatCode="General" sourceLinked="1"/>
                    <c:spPr>
                      <a:noFill/>
                      <a:ln>
                        <a:noFill/>
                      </a:ln>
                      <a:effectLst/>
                    </c:spPr>
                    <c:txPr>
                      <a:bodyPr rot="0" spcFirstLastPara="1" vertOverflow="ellipsis" vert="horz" wrap="square" lIns="38100" tIns="19050" rIns="38100" bIns="19050" anchor="ctr" anchorCtr="1">
                        <a:noAutofit/>
                      </a:bodyPr>
                      <a:lstStyle/>
                      <a:p>
                        <a:pPr>
                          <a:defRPr lang="en-US" sz="700" b="1" i="0" u="none" strike="noStrike" kern="1200" baseline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pPr>
                      </a:p>
                    </c:txPr>
                    <c:dLblPos val="ctr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xmlns:c15="http://schemas.microsoft.com/office/drawing/2012/chart" uri="{CE6537A1-D6FC-4f65-9D91-7224C49458BB}">
                        <c15:layout>
                          <c:manualLayout>
                            <c:w val="0.0505633243272527"/>
                            <c:h val="0.116157771945174"/>
                          </c:manualLayout>
                        </c15:layout>
                      </c:ext>
                    </c:extLst>
                  </c:dLbl>
                  <c:dLbl>
                    <c:idx val="3"/>
                    <c:layout>
                      <c:manualLayout>
                        <c:x val="0.0214848940963292"/>
                        <c:y val="-0.00983814523184602"/>
                      </c:manualLayout>
                    </c:layout>
                    <c:dLblPos val="ctr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xmlns:c15="http://schemas.microsoft.com/office/drawing/2012/chart" uri="{CE6537A1-D6FC-4f65-9D91-7224C49458BB}">
                        <c15:layout/>
                      </c:ext>
                    </c:extLst>
                  </c:dLbl>
                  <c:dLbl>
                    <c:idx val="4"/>
                    <c:layout>
                      <c:manualLayout>
                        <c:x val="0.0263215503900187"/>
                        <c:y val="-2.12188906800333e-17"/>
                      </c:manualLayout>
                    </c:layout>
                    <c:dLblPos val="ctr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xmlns:c15="http://schemas.microsoft.com/office/drawing/2012/chart" uri="{CE6537A1-D6FC-4f65-9D91-7224C49458BB}">
                        <c15:layout/>
                      </c:ext>
                    </c:extLst>
                  </c:dLbl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lang="en-US" sz="700" b="1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</a:p>
                  </c:txPr>
                  <c:dLblPos val="inBase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xmlns:c15="http://schemas.microsoft.com/office/drawing/2012/chart" uri="{CE6537A1-D6FC-4f65-9D91-7224C49458BB}">
                      <c15:layout/>
                      <c15:showLeaderLines val="0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ullRef>
                          <c15:sqref/>
                        </c15:fullRef>
                        <c15:formulaRef>
                          <c15:sqref>'[CoPQ type analysis (1).xlsx]Current month'!$O$62:$O$66</c15:sqref>
                        </c15:formulaRef>
                      </c:ext>
                    </c:extLst>
                    <c:strCache>
                      <c:ptCount val="5"/>
                      <c:pt idx="0">
                        <c:v>NIKE EBERNON LOW</c:v>
                      </c:pt>
                      <c:pt idx="1">
                        <c:v>WMNS NIKE INITIATOR</c:v>
                      </c:pt>
                      <c:pt idx="2">
                        <c:v>NIKE INITIATOR</c:v>
                      </c:pt>
                      <c:pt idx="3">
                        <c:v>NIKE AIR MAX SC</c:v>
                      </c:pt>
                      <c:pt idx="4">
                        <c:v>NIKE EBERNON LOW PREM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{25.5,33,43.5,49.5,57}</c15:sqref>
                        </c15:formulaRef>
                      </c:ext>
                    </c:extLst>
                    <c:numCache>
                      <c:formatCode>#,##0.0</c:formatCode>
                      <c:ptCount val="5"/>
                      <c:pt idx="0">
                        <c:v>25.5</c:v>
                      </c:pt>
                      <c:pt idx="1">
                        <c:v>33</c:v>
                      </c:pt>
                      <c:pt idx="2">
                        <c:v>43.5</c:v>
                      </c:pt>
                      <c:pt idx="3">
                        <c:v>49.5</c:v>
                      </c:pt>
                      <c:pt idx="4">
                        <c:v>57</c:v>
                      </c:pt>
                    </c:numCache>
                  </c:numRef>
                </c:val>
              </c15:ser>
            </c15:filteredBarSeries>
          </c:ext>
        </c:extLst>
      </c:barChart>
      <c:catAx>
        <c:axId val="-55380513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7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553829072"/>
        <c:crosses val="autoZero"/>
        <c:auto val="1"/>
        <c:lblAlgn val="ctr"/>
        <c:lblOffset val="100"/>
        <c:noMultiLvlLbl val="0"/>
      </c:catAx>
      <c:valAx>
        <c:axId val="-553829072"/>
        <c:scaling>
          <c:orientation val="minMax"/>
          <c:max val="4000"/>
          <c:min val="0"/>
        </c:scaling>
        <c:delete val="0"/>
        <c:axPos val="b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&quot;$&quot;#,##0.00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-553805136"/>
        <c:crosses val="autoZero"/>
        <c:crossBetween val="between"/>
        <c:majorUnit val="500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"/>
          <c:y val="0"/>
          <c:w val="0.365119956198715"/>
          <c:h val="0.12551604877515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700" b="1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noFill/>
      <a:round/>
    </a:ln>
    <a:effectLst>
      <a:glow rad="63500">
        <a:schemeClr val="accent3">
          <a:satMod val="175000"/>
          <a:alpha val="40000"/>
        </a:schemeClr>
      </a:glow>
    </a:effectLst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274245853196922"/>
          <c:y val="0.0890556640394681"/>
          <c:w val="0.617176218853015"/>
          <c:h val="0.898107365485564"/>
        </c:manualLayout>
      </c:layout>
      <c:barChart>
        <c:barDir val="bar"/>
        <c:grouping val="stacked"/>
        <c:varyColors val="0"/>
        <c:ser>
          <c:idx val="1"/>
          <c:order val="1"/>
          <c:tx>
            <c:strRef>
              <c:f>'[CoPQ type analysis (1).xlsx]Current month'!$W$61</c:f>
              <c:strCache>
                <c:ptCount val="1"/>
                <c:pt idx="0">
                  <c:v>Ttl cost ($)</c:v>
                </c:pt>
              </c:strCache>
            </c:strRef>
          </c:tx>
          <c:spPr>
            <a:solidFill>
              <a:srgbClr val="D9B3FF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0963718820861678"/>
                  <c:y val="-0.0092592592592592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.0935374149659864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0.0935374149659864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0.0850340136054421"/>
                  <c:y val="0.0092592592592592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0.0992063492063492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9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'[CoPQ type analysis (1).xlsx]Current month'!$U$62:$U$66</c:f>
              <c:strCache>
                <c:ptCount val="5"/>
                <c:pt idx="0">
                  <c:v>AIR JORDAN 1 MID SE  (GS)</c:v>
                </c:pt>
                <c:pt idx="1">
                  <c:v>JORDAN 1 MID SE UNI (PS)</c:v>
                </c:pt>
                <c:pt idx="2">
                  <c:v>AIR JORDAN 1 MID SE (GS)</c:v>
                </c:pt>
                <c:pt idx="3">
                  <c:v>AIR JORDAN 1 LOW</c:v>
                </c:pt>
                <c:pt idx="4">
                  <c:v>AIR JORDAN 1 LOW SE (GS)</c:v>
                </c:pt>
              </c:strCache>
            </c:strRef>
          </c:cat>
          <c:val>
            <c:numRef>
              <c:f>'[CoPQ type analysis (1).xlsx]Current month'!$W$62:$W$66</c:f>
              <c:numCache>
                <c:formatCode>"$"#,##0.00</c:formatCode>
                <c:ptCount val="5"/>
                <c:pt idx="0">
                  <c:v>45.04</c:v>
                </c:pt>
                <c:pt idx="1">
                  <c:v>53.04</c:v>
                </c:pt>
                <c:pt idx="2">
                  <c:v>67.6</c:v>
                </c:pt>
                <c:pt idx="3">
                  <c:v>113.85</c:v>
                </c:pt>
                <c:pt idx="4">
                  <c:v>116.93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-553826896"/>
        <c:axId val="-553828528"/>
        <c:extLst>
          <c:ext xmlns:c15="http://schemas.microsoft.com/office/drawing/2012/chart" uri="{02D57815-91ED-43cb-92C2-25804820EDAC}">
            <c15:filteredBa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'[CoPQ type analysis (1).xlsx]Current month'!$V$61</c15:sqref>
                        </c15:formulaRef>
                      </c:ext>
                    </c:extLst>
                    <c:strCache>
                      <c:ptCount val="1"/>
                      <c:pt idx="0">
                        <c:v>Defect Qty</c:v>
                      </c:pt>
                    </c:strCache>
                  </c:strRef>
                </c:tx>
                <c:spPr>
                  <a:solidFill>
                    <a:schemeClr val="accent1"/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lang="en-US" sz="700" b="1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</a:p>
                  </c:txPr>
                  <c:dLblPos val="inBase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xmlns:c15="http://schemas.microsoft.com/office/drawing/2012/chart" uri="{CE6537A1-D6FC-4f65-9D91-7224C49458BB}">
                      <c15:layout/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ullRef>
                          <c15:sqref/>
                        </c15:fullRef>
                        <c15:formulaRef>
                          <c15:sqref>'[CoPQ type analysis (1).xlsx]Current month'!$U$62:$U$66</c15:sqref>
                        </c15:formulaRef>
                      </c:ext>
                    </c:extLst>
                    <c:strCache>
                      <c:ptCount val="5"/>
                      <c:pt idx="0">
                        <c:v>AIR JORDAN 1 MID SE  (GS)</c:v>
                      </c:pt>
                      <c:pt idx="1">
                        <c:v>JORDAN 1 MID SE UNI (PS)</c:v>
                      </c:pt>
                      <c:pt idx="2">
                        <c:v>AIR JORDAN 1 MID SE (GS)</c:v>
                      </c:pt>
                      <c:pt idx="3">
                        <c:v>AIR JORDAN 1 LOW</c:v>
                      </c:pt>
                      <c:pt idx="4">
                        <c:v>AIR JORDAN 1 LOW SE (GS)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{2,3,3,5.5,5.5}</c15:sqref>
                        </c15:formulaRef>
                      </c:ext>
                    </c:extLst>
                    <c:numCache>
                      <c:formatCode>#,##0.0</c:formatCode>
                      <c:ptCount val="5"/>
                      <c:pt idx="0">
                        <c:v>2</c:v>
                      </c:pt>
                      <c:pt idx="1">
                        <c:v>3</c:v>
                      </c:pt>
                      <c:pt idx="2">
                        <c:v>3</c:v>
                      </c:pt>
                      <c:pt idx="3">
                        <c:v>5.5</c:v>
                      </c:pt>
                      <c:pt idx="4">
                        <c:v>5.5</c:v>
                      </c:pt>
                    </c:numCache>
                  </c:numRef>
                </c:val>
              </c15:ser>
            </c15:filteredBarSeries>
          </c:ext>
        </c:extLst>
      </c:barChart>
      <c:catAx>
        <c:axId val="-55382689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7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553828528"/>
        <c:crosses val="autoZero"/>
        <c:auto val="1"/>
        <c:lblAlgn val="ctr"/>
        <c:lblOffset val="100"/>
        <c:noMultiLvlLbl val="0"/>
      </c:catAx>
      <c:valAx>
        <c:axId val="-553828528"/>
        <c:scaling>
          <c:orientation val="minMax"/>
          <c:max val="2000"/>
          <c:min val="0"/>
        </c:scaling>
        <c:delete val="0"/>
        <c:axPos val="b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&quot;$&quot;#,##0.00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-5538268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"/>
          <c:y val="0"/>
          <c:w val="0.262385951756031"/>
          <c:h val="0.13388378536016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700" b="1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bg1">
          <a:lumMod val="85000"/>
        </a:schemeClr>
      </a:solidFill>
      <a:round/>
    </a:ln>
    <a:effectLst>
      <a:glow rad="63500">
        <a:schemeClr val="accent3">
          <a:satMod val="175000"/>
          <a:alpha val="40000"/>
        </a:schemeClr>
      </a:glow>
    </a:effectLst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72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720"/>
              <a:t>Top 3 Defect</a:t>
            </a:r>
            <a:endParaRPr sz="720"/>
          </a:p>
        </c:rich>
      </c:tx>
      <c:layout>
        <c:manualLayout>
          <c:xMode val="edge"/>
          <c:yMode val="edge"/>
          <c:x val="0.0699394754539341"/>
          <c:y val="0.137061403508772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0.0461990760184796"/>
          <c:y val="0.269179004037685"/>
          <c:w val="0.858672826543469"/>
          <c:h val="0.571377299237326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'[FTT_Combined_Report_new.xlsx]Top Defects Summary'!$B$2</c:f>
              <c:strCache>
                <c:ptCount val="1"/>
                <c:pt idx="0">
                  <c:v>C/X-ray</c:v>
                </c:pt>
              </c:strCache>
            </c:strRef>
          </c:tx>
          <c:spPr>
            <a:solidFill>
              <a:srgbClr val="9BE38D"/>
            </a:solidFill>
            <a:ln>
              <a:noFill/>
              <a:prstDash val="solid"/>
            </a:ln>
          </c:spPr>
          <c:invertIfNegative val="0"/>
          <c:dLbls>
            <c:numFmt formatCode="0.00%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600" b="1" i="0" u="none" strike="noStrike" kern="1200" baseline="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'[FTT_Combined_Report_new.xlsx]Top Defects Summary'!$A$3:$A$5</c:f>
              <c:strCache>
                <c:ptCount val="3"/>
                <c:pt idx="0">
                  <c:v>NIKE AIR WINFLO 12</c:v>
                </c:pt>
                <c:pt idx="1">
                  <c:v>AIR JORDAN 1 LOW SE (GS)</c:v>
                </c:pt>
                <c:pt idx="2">
                  <c:v>JORDAN SPIZIKE LOW (GS)</c:v>
                </c:pt>
              </c:strCache>
            </c:strRef>
          </c:cat>
          <c:val>
            <c:numRef>
              <c:f>'[FTT_Combined_Report_new.xlsx]Top Defects Summary'!$B$3:$B$5</c:f>
              <c:numCache>
                <c:formatCode>0.00%</c:formatCode>
                <c:ptCount val="3"/>
                <c:pt idx="0">
                  <c:v>0.461538461538462</c:v>
                </c:pt>
              </c:numCache>
            </c:numRef>
          </c:val>
        </c:ser>
        <c:ser>
          <c:idx val="1"/>
          <c:order val="1"/>
          <c:tx>
            <c:strRef>
              <c:f>'[FTT_Combined_Report_new.xlsx]Top Defects Summary'!$C$2</c:f>
              <c:strCache>
                <c:ptCount val="1"/>
                <c:pt idx="0">
                  <c:v>C/Off-center</c:v>
                </c:pt>
              </c:strCache>
            </c:strRef>
          </c:tx>
          <c:spPr>
            <a:solidFill>
              <a:srgbClr val="F6FF9F"/>
            </a:solidFill>
            <a:ln>
              <a:noFill/>
              <a:prstDash val="solid"/>
            </a:ln>
          </c:spPr>
          <c:invertIfNegative val="0"/>
          <c:dLbls>
            <c:numFmt formatCode="0.00%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600" b="1" i="0" u="none" strike="noStrike" kern="1200" baseline="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'[FTT_Combined_Report_new.xlsx]Top Defects Summary'!$A$3:$A$5</c:f>
              <c:strCache>
                <c:ptCount val="3"/>
                <c:pt idx="0">
                  <c:v>NIKE AIR WINFLO 12</c:v>
                </c:pt>
                <c:pt idx="1">
                  <c:v>AIR JORDAN 1 LOW SE (GS)</c:v>
                </c:pt>
                <c:pt idx="2">
                  <c:v>JORDAN SPIZIKE LOW (GS)</c:v>
                </c:pt>
              </c:strCache>
            </c:strRef>
          </c:cat>
          <c:val>
            <c:numRef>
              <c:f>'[FTT_Combined_Report_new.xlsx]Top Defects Summary'!$C$3:$C$5</c:f>
              <c:numCache>
                <c:formatCode>General</c:formatCode>
                <c:ptCount val="3"/>
                <c:pt idx="2" c:formatCode="0.00%">
                  <c:v>0.571428571428571</c:v>
                </c:pt>
              </c:numCache>
            </c:numRef>
          </c:val>
        </c:ser>
        <c:ser>
          <c:idx val="2"/>
          <c:order val="2"/>
          <c:tx>
            <c:strRef>
              <c:f>'[FTT_Combined_Report_new.xlsx]Top Defects Summary'!$D$2</c:f>
              <c:strCache>
                <c:ptCount val="1"/>
                <c:pt idx="0">
                  <c:v>C/Bond gap / Rat hole</c:v>
                </c:pt>
              </c:strCache>
            </c:strRef>
          </c:tx>
          <c:spPr>
            <a:solidFill>
              <a:srgbClr val="5B9BD5"/>
            </a:solidFill>
            <a:ln>
              <a:noFill/>
              <a:prstDash val="solid"/>
            </a:ln>
          </c:spPr>
          <c:invertIfNegative val="0"/>
          <c:dLbls>
            <c:numFmt formatCode="0.00%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600" b="1" i="0" u="none" strike="noStrike" kern="1200" baseline="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'[FTT_Combined_Report_new.xlsx]Top Defects Summary'!$A$3:$A$5</c:f>
              <c:strCache>
                <c:ptCount val="3"/>
                <c:pt idx="0">
                  <c:v>NIKE AIR WINFLO 12</c:v>
                </c:pt>
                <c:pt idx="1">
                  <c:v>AIR JORDAN 1 LOW SE (GS)</c:v>
                </c:pt>
                <c:pt idx="2">
                  <c:v>JORDAN SPIZIKE LOW (GS)</c:v>
                </c:pt>
              </c:strCache>
            </c:strRef>
          </c:cat>
          <c:val>
            <c:numRef>
              <c:f>'[FTT_Combined_Report_new.xlsx]Top Defects Summary'!$D$3:$D$5</c:f>
              <c:numCache>
                <c:formatCode>General</c:formatCode>
                <c:ptCount val="3"/>
                <c:pt idx="1" c:formatCode="0.00%">
                  <c:v>0.333333333333333</c:v>
                </c:pt>
                <c:pt idx="2" c:formatCode="0.00%">
                  <c:v>0.142857142857143</c:v>
                </c:pt>
              </c:numCache>
            </c:numRef>
          </c:val>
        </c:ser>
        <c:ser>
          <c:idx val="3"/>
          <c:order val="3"/>
          <c:tx>
            <c:strRef>
              <c:f>'[FTT_Combined_Report_new.xlsx]Top Defects Summary'!$E$2</c:f>
              <c:strCache>
                <c:ptCount val="1"/>
                <c:pt idx="0">
                  <c:v>C/Delamination</c:v>
                </c:pt>
              </c:strCache>
            </c:strRef>
          </c:tx>
          <c:spPr>
            <a:solidFill>
              <a:srgbClr val="EBBAFE"/>
            </a:solidFill>
            <a:ln>
              <a:noFill/>
              <a:prstDash val="solid"/>
            </a:ln>
          </c:spPr>
          <c:invertIfNegative val="0"/>
          <c:dLbls>
            <c:numFmt formatCode="0.00%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600" b="1" i="0" u="none" strike="noStrike" kern="1200" baseline="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'[FTT_Combined_Report_new.xlsx]Top Defects Summary'!$A$3:$A$5</c:f>
              <c:strCache>
                <c:ptCount val="3"/>
                <c:pt idx="0">
                  <c:v>NIKE AIR WINFLO 12</c:v>
                </c:pt>
                <c:pt idx="1">
                  <c:v>AIR JORDAN 1 LOW SE (GS)</c:v>
                </c:pt>
                <c:pt idx="2">
                  <c:v>JORDAN SPIZIKE LOW (GS)</c:v>
                </c:pt>
              </c:strCache>
            </c:strRef>
          </c:cat>
          <c:val>
            <c:numRef>
              <c:f>'[FTT_Combined_Report_new.xlsx]Top Defects Summary'!$E$3:$E$5</c:f>
              <c:numCache>
                <c:formatCode>0.00%</c:formatCode>
                <c:ptCount val="3"/>
                <c:pt idx="0">
                  <c:v>0.230769230769231</c:v>
                </c:pt>
              </c:numCache>
            </c:numRef>
          </c:val>
        </c:ser>
        <c:ser>
          <c:idx val="4"/>
          <c:order val="4"/>
          <c:tx>
            <c:strRef>
              <c:f>'[FTT_Combined_Report_new.xlsx]Top Defects Summary'!$F$2</c:f>
              <c:strCache>
                <c:ptCount val="1"/>
                <c:pt idx="0">
                  <c:v>C/Jump / Broken / Loose Stitch</c:v>
                </c:pt>
              </c:strCache>
            </c:strRef>
          </c:tx>
          <c:spPr>
            <a:solidFill>
              <a:srgbClr val="543C90"/>
            </a:solidFill>
            <a:ln>
              <a:noFill/>
              <a:prstDash val="solid"/>
            </a:ln>
          </c:spPr>
          <c:invertIfNegative val="0"/>
          <c:dLbls>
            <c:numFmt formatCode="0.00%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600" b="1" i="0" u="none" strike="noStrike" kern="1200" baseline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'[FTT_Combined_Report_new.xlsx]Top Defects Summary'!$A$3:$A$5</c:f>
              <c:strCache>
                <c:ptCount val="3"/>
                <c:pt idx="0">
                  <c:v>NIKE AIR WINFLO 12</c:v>
                </c:pt>
                <c:pt idx="1">
                  <c:v>AIR JORDAN 1 LOW SE (GS)</c:v>
                </c:pt>
                <c:pt idx="2">
                  <c:v>JORDAN SPIZIKE LOW (GS)</c:v>
                </c:pt>
              </c:strCache>
            </c:strRef>
          </c:cat>
          <c:val>
            <c:numRef>
              <c:f>'[FTT_Combined_Report_new.xlsx]Top Defects Summary'!$F$3:$F$5</c:f>
              <c:numCache>
                <c:formatCode>General</c:formatCode>
                <c:ptCount val="3"/>
                <c:pt idx="2" c:formatCode="0.00%">
                  <c:v>0.285714285714286</c:v>
                </c:pt>
              </c:numCache>
            </c:numRef>
          </c:val>
        </c:ser>
        <c:ser>
          <c:idx val="5"/>
          <c:order val="5"/>
          <c:tx>
            <c:strRef>
              <c:f>'[FTT_Combined_Report_new.xlsx]Top Defects Summary'!$G$2</c:f>
              <c:strCache>
                <c:ptCount val="1"/>
                <c:pt idx="0">
                  <c:v>C/Alignment L+R Symmetry</c:v>
                </c:pt>
              </c:strCache>
            </c:strRef>
          </c:tx>
          <c:spPr>
            <a:solidFill>
              <a:srgbClr val="B5C99A"/>
            </a:solidFill>
            <a:ln>
              <a:noFill/>
              <a:prstDash val="solid"/>
            </a:ln>
          </c:spPr>
          <c:invertIfNegative val="0"/>
          <c:dLbls>
            <c:numFmt formatCode="0.00%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600" b="1" i="0" u="none" strike="noStrike" kern="1200" baseline="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'[FTT_Combined_Report_new.xlsx]Top Defects Summary'!$A$3:$A$5</c:f>
              <c:strCache>
                <c:ptCount val="3"/>
                <c:pt idx="0">
                  <c:v>NIKE AIR WINFLO 12</c:v>
                </c:pt>
                <c:pt idx="1">
                  <c:v>AIR JORDAN 1 LOW SE (GS)</c:v>
                </c:pt>
                <c:pt idx="2">
                  <c:v>JORDAN SPIZIKE LOW (GS)</c:v>
                </c:pt>
              </c:strCache>
            </c:strRef>
          </c:cat>
          <c:val>
            <c:numRef>
              <c:f>'[FTT_Combined_Report_new.xlsx]Top Defects Summary'!$G$3:$G$5</c:f>
              <c:numCache>
                <c:formatCode>0.00%</c:formatCode>
                <c:ptCount val="3"/>
                <c:pt idx="0">
                  <c:v>0.153846153846154</c:v>
                </c:pt>
              </c:numCache>
            </c:numRef>
          </c:val>
        </c:ser>
        <c:ser>
          <c:idx val="6"/>
          <c:order val="6"/>
          <c:tx>
            <c:strRef>
              <c:f>'[FTT_Combined_Report_new.xlsx]Top Defects Summary'!$H$2</c:f>
              <c:strCache>
                <c:ptCount val="1"/>
                <c:pt idx="0">
                  <c:v>C/Color / Paint migration, bleeding</c:v>
                </c:pt>
              </c:strCache>
            </c:strRef>
          </c:tx>
          <c:spPr>
            <a:solidFill>
              <a:srgbClr val="D27110"/>
            </a:solidFill>
            <a:ln>
              <a:noFill/>
              <a:prstDash val="solid"/>
            </a:ln>
          </c:spPr>
          <c:invertIfNegative val="0"/>
          <c:dLbls>
            <c:numFmt formatCode="0.00%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600" b="1" i="0" u="none" strike="noStrike" kern="1200" baseline="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'[FTT_Combined_Report_new.xlsx]Top Defects Summary'!$A$3:$A$5</c:f>
              <c:strCache>
                <c:ptCount val="3"/>
                <c:pt idx="0">
                  <c:v>NIKE AIR WINFLO 12</c:v>
                </c:pt>
                <c:pt idx="1">
                  <c:v>AIR JORDAN 1 LOW SE (GS)</c:v>
                </c:pt>
                <c:pt idx="2">
                  <c:v>JORDAN SPIZIKE LOW (GS)</c:v>
                </c:pt>
              </c:strCache>
            </c:strRef>
          </c:cat>
          <c:val>
            <c:numRef>
              <c:f>'[FTT_Combined_Report_new.xlsx]Top Defects Summary'!$H$3:$H$5</c:f>
              <c:numCache>
                <c:formatCode>General</c:formatCode>
                <c:ptCount val="3"/>
                <c:pt idx="1" c:formatCode="0.00%">
                  <c:v>0.111111111111111</c:v>
                </c:pt>
              </c:numCache>
            </c:numRef>
          </c:val>
        </c:ser>
        <c:ser>
          <c:idx val="7"/>
          <c:order val="7"/>
          <c:tx>
            <c:strRef>
              <c:f>'[FTT_Combined_Report_new.xlsx]Top Defects Summary'!$I$2</c:f>
              <c:strCache>
                <c:ptCount val="1"/>
                <c:pt idx="0">
                  <c:v>C/Holes quality</c:v>
                </c:pt>
              </c:strCache>
            </c:strRef>
          </c:tx>
          <c:spPr>
            <a:solidFill>
              <a:srgbClr val="5F9EA0"/>
            </a:solidFill>
            <a:ln>
              <a:noFill/>
              <a:prstDash val="solid"/>
            </a:ln>
          </c:spPr>
          <c:invertIfNegative val="0"/>
          <c:dLbls>
            <c:numFmt formatCode="0.00%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600" b="1" i="0" u="none" strike="noStrike" kern="1200" baseline="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'[FTT_Combined_Report_new.xlsx]Top Defects Summary'!$A$3:$A$5</c:f>
              <c:strCache>
                <c:ptCount val="3"/>
                <c:pt idx="0">
                  <c:v>NIKE AIR WINFLO 12</c:v>
                </c:pt>
                <c:pt idx="1">
                  <c:v>AIR JORDAN 1 LOW SE (GS)</c:v>
                </c:pt>
                <c:pt idx="2">
                  <c:v>JORDAN SPIZIKE LOW (GS)</c:v>
                </c:pt>
              </c:strCache>
            </c:strRef>
          </c:cat>
          <c:val>
            <c:numRef>
              <c:f>'[FTT_Combined_Report_new.xlsx]Top Defects Summary'!$I$3:$I$5</c:f>
              <c:numCache>
                <c:formatCode>General</c:formatCode>
                <c:ptCount val="3"/>
                <c:pt idx="1" c:formatCode="0.00%">
                  <c:v>0.111111111111111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0"/>
        <c:axId val="100"/>
      </c:barChart>
      <c:catAx>
        <c:axId val="1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100"/>
        <c:crosses val="autoZero"/>
        <c:auto val="1"/>
        <c:lblAlgn val="ctr"/>
        <c:lblOffset val="100"/>
        <c:noMultiLvlLbl val="0"/>
      </c:catAx>
      <c:valAx>
        <c:axId val="100"/>
        <c:scaling>
          <c:orientation val="minMax"/>
        </c:scaling>
        <c:delete val="1"/>
        <c:axPos val="l"/>
        <c:numFmt formatCode="0.00%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10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lang="en-US" sz="600"/>
      </a:pPr>
    </a:p>
  </c:txPr>
  <c:externalData r:id="rId1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72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720"/>
              <a:t>Top 3 Defect</a:t>
            </a:r>
            <a:endParaRPr sz="720"/>
          </a:p>
        </c:rich>
      </c:tx>
      <c:layout>
        <c:manualLayout>
          <c:xMode val="edge"/>
          <c:yMode val="edge"/>
          <c:x val="0.0809762316823383"/>
          <c:y val="0.0755685979790678"/>
        </c:manualLayout>
      </c:layout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'[FTT_Combined_Report_v2.xlsx]Top Defects Summary'!$B$8</c:f>
              <c:strCache>
                <c:ptCount val="1"/>
                <c:pt idx="0">
                  <c:v>C/Material damaged</c:v>
                </c:pt>
              </c:strCache>
            </c:strRef>
          </c:tx>
          <c:spPr>
            <a:solidFill>
              <a:srgbClr val="2C8869"/>
            </a:solidFill>
            <a:ln>
              <a:noFill/>
              <a:prstDash val="solid"/>
            </a:ln>
          </c:spPr>
          <c:invertIfNegative val="0"/>
          <c:dLbls>
            <c:numFmt formatCode="0.00%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600" b="1" i="0" u="none" strike="noStrike" kern="1200" baseline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'[FTT_Combined_Report_v2.xlsx]Top Defects Summary'!$A$9:$A$11</c:f>
              <c:strCache>
                <c:ptCount val="3"/>
                <c:pt idx="0">
                  <c:v>NIKE AIR WINFLO 12 GTX</c:v>
                </c:pt>
                <c:pt idx="1">
                  <c:v>NIKE DUNK LOW RETRO</c:v>
                </c:pt>
                <c:pt idx="2">
                  <c:v>AIR WINFLO 11 GTX</c:v>
                </c:pt>
              </c:strCache>
            </c:strRef>
          </c:cat>
          <c:val>
            <c:numRef>
              <c:f>'[FTT_Combined_Report_v2.xlsx]Top Defects Summary'!$B$9:$B$11</c:f>
              <c:numCache>
                <c:formatCode>0.00%</c:formatCode>
                <c:ptCount val="3"/>
                <c:pt idx="0">
                  <c:v>0.333333333333333</c:v>
                </c:pt>
                <c:pt idx="1">
                  <c:v>1</c:v>
                </c:pt>
              </c:numCache>
            </c:numRef>
          </c:val>
        </c:ser>
        <c:ser>
          <c:idx val="1"/>
          <c:order val="1"/>
          <c:tx>
            <c:strRef>
              <c:f>'[FTT_Combined_Report_v2.xlsx]Top Defects Summary'!$C$8</c:f>
              <c:strCache>
                <c:ptCount val="1"/>
                <c:pt idx="0">
                  <c:v>C/Other defects</c:v>
                </c:pt>
              </c:strCache>
            </c:strRef>
          </c:tx>
          <c:spPr>
            <a:solidFill>
              <a:srgbClr val="C7BF6F"/>
            </a:solidFill>
            <a:ln>
              <a:noFill/>
              <a:prstDash val="solid"/>
            </a:ln>
          </c:spPr>
          <c:invertIfNegative val="0"/>
          <c:dLbls>
            <c:numFmt formatCode="0.00%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600" b="1" i="0" u="none" strike="noStrike" kern="1200" baseline="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'[FTT_Combined_Report_v2.xlsx]Top Defects Summary'!$A$9:$A$11</c:f>
              <c:strCache>
                <c:ptCount val="3"/>
                <c:pt idx="0">
                  <c:v>NIKE AIR WINFLO 12 GTX</c:v>
                </c:pt>
                <c:pt idx="1">
                  <c:v>NIKE DUNK LOW RETRO</c:v>
                </c:pt>
                <c:pt idx="2">
                  <c:v>AIR WINFLO 11 GTX</c:v>
                </c:pt>
              </c:strCache>
            </c:strRef>
          </c:cat>
          <c:val>
            <c:numRef>
              <c:f>'[FTT_Combined_Report_v2.xlsx]Top Defects Summary'!$C$9:$C$11</c:f>
              <c:numCache>
                <c:formatCode>0.00%</c:formatCode>
                <c:ptCount val="3"/>
                <c:pt idx="0">
                  <c:v>0.333333333333333</c:v>
                </c:pt>
              </c:numCache>
            </c:numRef>
          </c:val>
        </c:ser>
        <c:ser>
          <c:idx val="2"/>
          <c:order val="2"/>
          <c:tx>
            <c:strRef>
              <c:f>'[FTT_Combined_Report_v2.xlsx]Top Defects Summary'!$D$8</c:f>
              <c:strCache>
                <c:ptCount val="1"/>
                <c:pt idx="0">
                  <c:v>C/Accessories defect</c:v>
                </c:pt>
              </c:strCache>
            </c:strRef>
          </c:tx>
          <c:spPr>
            <a:solidFill>
              <a:srgbClr val="4472C4"/>
            </a:solidFill>
            <a:ln>
              <a:noFill/>
              <a:prstDash val="solid"/>
            </a:ln>
          </c:spPr>
          <c:invertIfNegative val="0"/>
          <c:dLbls>
            <c:numFmt formatCode="0.00%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600" b="1" i="0" u="none" strike="noStrike" kern="1200" baseline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'[FTT_Combined_Report_v2.xlsx]Top Defects Summary'!$A$9:$A$11</c:f>
              <c:strCache>
                <c:ptCount val="3"/>
                <c:pt idx="0">
                  <c:v>NIKE AIR WINFLO 12 GTX</c:v>
                </c:pt>
                <c:pt idx="1">
                  <c:v>NIKE DUNK LOW RETRO</c:v>
                </c:pt>
                <c:pt idx="2">
                  <c:v>AIR WINFLO 11 GTX</c:v>
                </c:pt>
              </c:strCache>
            </c:strRef>
          </c:cat>
          <c:val>
            <c:numRef>
              <c:f>'[FTT_Combined_Report_v2.xlsx]Top Defects Summary'!$D$9:$D$11</c:f>
              <c:numCache>
                <c:formatCode>0.00%</c:formatCode>
                <c:ptCount val="3"/>
                <c:pt idx="0">
                  <c:v>0.166666666666667</c:v>
                </c:pt>
              </c:numCache>
            </c:numRef>
          </c:val>
        </c:ser>
        <c:ser>
          <c:idx val="3"/>
          <c:order val="3"/>
          <c:tx>
            <c:strRef>
              <c:f>'[FTT_Combined_Report_v2.xlsx]Top Defects Summary'!$E$8</c:f>
              <c:strCache>
                <c:ptCount val="1"/>
                <c:pt idx="0">
                  <c:v>C/Interior defect</c:v>
                </c:pt>
              </c:strCache>
            </c:strRef>
          </c:tx>
          <c:spPr>
            <a:solidFill>
              <a:srgbClr val="ED7D31"/>
            </a:solidFill>
            <a:ln>
              <a:noFill/>
              <a:prstDash val="solid"/>
            </a:ln>
          </c:spPr>
          <c:invertIfNegative val="0"/>
          <c:dLbls>
            <c:numFmt formatCode="0.00%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600" b="1" i="0" u="none" strike="noStrike" kern="1200" baseline="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'[FTT_Combined_Report_v2.xlsx]Top Defects Summary'!$A$9:$A$11</c:f>
              <c:strCache>
                <c:ptCount val="3"/>
                <c:pt idx="0">
                  <c:v>NIKE AIR WINFLO 12 GTX</c:v>
                </c:pt>
                <c:pt idx="1">
                  <c:v>NIKE DUNK LOW RETRO</c:v>
                </c:pt>
                <c:pt idx="2">
                  <c:v>AIR WINFLO 11 GTX</c:v>
                </c:pt>
              </c:strCache>
            </c:strRef>
          </c:cat>
          <c:val>
            <c:numRef>
              <c:f>'[FTT_Combined_Report_v2.xlsx]Top Defects Summary'!$E$9:$E$11</c:f>
              <c:numCache>
                <c:formatCode>General</c:formatCode>
                <c:ptCount val="3"/>
                <c:pt idx="2" c:formatCode="0.00%">
                  <c:v>0.5</c:v>
                </c:pt>
              </c:numCache>
            </c:numRef>
          </c:val>
        </c:ser>
        <c:ser>
          <c:idx val="4"/>
          <c:order val="4"/>
          <c:tx>
            <c:strRef>
              <c:f>'[FTT_Combined_Report_v2.xlsx]Top Defects Summary'!$F$8</c:f>
              <c:strCache>
                <c:ptCount val="1"/>
                <c:pt idx="0">
                  <c:v>C/Off-center</c:v>
                </c:pt>
              </c:strCache>
            </c:strRef>
          </c:tx>
          <c:spPr>
            <a:solidFill>
              <a:srgbClr val="F6FF9F"/>
            </a:solidFill>
            <a:ln>
              <a:noFill/>
              <a:prstDash val="solid"/>
            </a:ln>
          </c:spPr>
          <c:invertIfNegative val="0"/>
          <c:dLbls>
            <c:numFmt formatCode="0.00%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600" b="1" i="0" u="none" strike="noStrike" kern="1200" baseline="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'[FTT_Combined_Report_v2.xlsx]Top Defects Summary'!$A$9:$A$11</c:f>
              <c:strCache>
                <c:ptCount val="3"/>
                <c:pt idx="0">
                  <c:v>NIKE AIR WINFLO 12 GTX</c:v>
                </c:pt>
                <c:pt idx="1">
                  <c:v>NIKE DUNK LOW RETRO</c:v>
                </c:pt>
                <c:pt idx="2">
                  <c:v>AIR WINFLO 11 GTX</c:v>
                </c:pt>
              </c:strCache>
            </c:strRef>
          </c:cat>
          <c:val>
            <c:numRef>
              <c:f>'[FTT_Combined_Report_v2.xlsx]Top Defects Summary'!$F$9:$F$11</c:f>
              <c:numCache>
                <c:formatCode>General</c:formatCode>
                <c:ptCount val="3"/>
                <c:pt idx="2" c:formatCode="0.00%">
                  <c:v>0.5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0"/>
        <c:axId val="100"/>
      </c:barChart>
      <c:catAx>
        <c:axId val="1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100"/>
        <c:crosses val="autoZero"/>
        <c:auto val="1"/>
        <c:lblAlgn val="ctr"/>
        <c:lblOffset val="100"/>
        <c:noMultiLvlLbl val="0"/>
      </c:catAx>
      <c:valAx>
        <c:axId val="100"/>
        <c:scaling>
          <c:orientation val="minMax"/>
        </c:scaling>
        <c:delete val="1"/>
        <c:axPos val="l"/>
        <c:numFmt formatCode="0.00%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10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lang="en-US" sz="600"/>
      </a:pPr>
    </a:p>
  </c:txPr>
  <c:externalData r:id="rId1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72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720"/>
              <a:t>Top 3 Defect</a:t>
            </a:r>
            <a:endParaRPr sz="720"/>
          </a:p>
        </c:rich>
      </c:tx>
      <c:layout>
        <c:manualLayout>
          <c:xMode val="edge"/>
          <c:yMode val="edge"/>
          <c:x val="0.116002795248078"/>
          <c:y val="0.055045871559633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0.044114921223355"/>
          <c:y val="0.171641791044776"/>
          <c:w val="0.918443002780352"/>
          <c:h val="0.726349024110218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'[FTT_Combined_Report_v2.xlsx]Top Defects Summary'!$B$14</c:f>
              <c:strCache>
                <c:ptCount val="1"/>
                <c:pt idx="0">
                  <c:v>C/Material damaged</c:v>
                </c:pt>
              </c:strCache>
            </c:strRef>
          </c:tx>
          <c:spPr>
            <a:solidFill>
              <a:srgbClr val="2C8869"/>
            </a:solidFill>
            <a:ln>
              <a:noFill/>
              <a:prstDash val="solid"/>
            </a:ln>
          </c:spPr>
          <c:invertIfNegative val="0"/>
          <c:dLbls>
            <c:numFmt formatCode="0.00%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600" b="1" i="0" u="none" strike="noStrike" kern="1200" baseline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'[FTT_Combined_Report_v2.xlsx]Top Defects Summary'!$A$15:$A$17</c:f>
              <c:strCache>
                <c:ptCount val="3"/>
                <c:pt idx="0">
                  <c:v>NIKE EBERNON LOW PREM</c:v>
                </c:pt>
                <c:pt idx="1">
                  <c:v>NIKE AIR MAX SC</c:v>
                </c:pt>
                <c:pt idx="2">
                  <c:v>NIKE INITIATOR</c:v>
                </c:pt>
              </c:strCache>
            </c:strRef>
          </c:cat>
          <c:val>
            <c:numRef>
              <c:f>'[FTT_Combined_Report_v2.xlsx]Top Defects Summary'!$B$15:$B$17</c:f>
              <c:numCache>
                <c:formatCode>0.00%</c:formatCode>
                <c:ptCount val="3"/>
                <c:pt idx="0">
                  <c:v>0.261261261261261</c:v>
                </c:pt>
                <c:pt idx="1">
                  <c:v>0.666666666666667</c:v>
                </c:pt>
                <c:pt idx="2">
                  <c:v>0.35632183908046</c:v>
                </c:pt>
              </c:numCache>
            </c:numRef>
          </c:val>
        </c:ser>
        <c:ser>
          <c:idx val="1"/>
          <c:order val="1"/>
          <c:tx>
            <c:strRef>
              <c:f>'[FTT_Combined_Report_v2.xlsx]Top Defects Summary'!$C$14</c:f>
              <c:strCache>
                <c:ptCount val="1"/>
                <c:pt idx="0">
                  <c:v>C/Jump / Broken / Loose Stitch</c:v>
                </c:pt>
              </c:strCache>
            </c:strRef>
          </c:tx>
          <c:spPr>
            <a:solidFill>
              <a:srgbClr val="543C90"/>
            </a:solidFill>
            <a:ln>
              <a:noFill/>
              <a:prstDash val="solid"/>
            </a:ln>
          </c:spPr>
          <c:invertIfNegative val="0"/>
          <c:dLbls>
            <c:numFmt formatCode="0.00%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600" b="1" i="0" u="none" strike="noStrike" kern="1200" baseline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'[FTT_Combined_Report_v2.xlsx]Top Defects Summary'!$A$15:$A$17</c:f>
              <c:strCache>
                <c:ptCount val="3"/>
                <c:pt idx="0">
                  <c:v>NIKE EBERNON LOW PREM</c:v>
                </c:pt>
                <c:pt idx="1">
                  <c:v>NIKE AIR MAX SC</c:v>
                </c:pt>
                <c:pt idx="2">
                  <c:v>NIKE INITIATOR</c:v>
                </c:pt>
              </c:strCache>
            </c:strRef>
          </c:cat>
          <c:val>
            <c:numRef>
              <c:f>'[FTT_Combined_Report_v2.xlsx]Top Defects Summary'!$C$15:$C$17</c:f>
              <c:numCache>
                <c:formatCode>0.00%</c:formatCode>
                <c:ptCount val="3"/>
                <c:pt idx="0">
                  <c:v>0.342342342342342</c:v>
                </c:pt>
                <c:pt idx="1">
                  <c:v>0.0707070707070707</c:v>
                </c:pt>
              </c:numCache>
            </c:numRef>
          </c:val>
        </c:ser>
        <c:ser>
          <c:idx val="2"/>
          <c:order val="2"/>
          <c:tx>
            <c:strRef>
              <c:f>'[FTT_Combined_Report_v2.xlsx]Top Defects Summary'!$D$14</c:f>
              <c:strCache>
                <c:ptCount val="1"/>
                <c:pt idx="0">
                  <c:v>C/Off-center</c:v>
                </c:pt>
              </c:strCache>
            </c:strRef>
          </c:tx>
          <c:spPr>
            <a:solidFill>
              <a:srgbClr val="F6FF9F"/>
            </a:solidFill>
            <a:ln>
              <a:noFill/>
              <a:prstDash val="solid"/>
            </a:ln>
          </c:spPr>
          <c:invertIfNegative val="0"/>
          <c:dLbls>
            <c:numFmt formatCode="0.00%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600" b="1" i="0" u="none" strike="noStrike" kern="1200" baseline="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'[FTT_Combined_Report_v2.xlsx]Top Defects Summary'!$A$15:$A$17</c:f>
              <c:strCache>
                <c:ptCount val="3"/>
                <c:pt idx="0">
                  <c:v>NIKE EBERNON LOW PREM</c:v>
                </c:pt>
                <c:pt idx="1">
                  <c:v>NIKE AIR MAX SC</c:v>
                </c:pt>
                <c:pt idx="2">
                  <c:v>NIKE INITIATOR</c:v>
                </c:pt>
              </c:strCache>
            </c:strRef>
          </c:cat>
          <c:val>
            <c:numRef>
              <c:f>'[FTT_Combined_Report_v2.xlsx]Top Defects Summary'!$D$15:$D$17</c:f>
              <c:numCache>
                <c:formatCode>0.00%</c:formatCode>
                <c:ptCount val="3"/>
                <c:pt idx="0">
                  <c:v>0.153153153153153</c:v>
                </c:pt>
                <c:pt idx="1">
                  <c:v>0.141414141414141</c:v>
                </c:pt>
                <c:pt idx="2">
                  <c:v>0.0919540229885057</c:v>
                </c:pt>
              </c:numCache>
            </c:numRef>
          </c:val>
        </c:ser>
        <c:ser>
          <c:idx val="3"/>
          <c:order val="3"/>
          <c:tx>
            <c:strRef>
              <c:f>'[FTT_Combined_Report_v2.xlsx]Top Defects Summary'!$E$14</c:f>
              <c:strCache>
                <c:ptCount val="1"/>
                <c:pt idx="0">
                  <c:v>C/Other defects</c:v>
                </c:pt>
              </c:strCache>
            </c:strRef>
          </c:tx>
          <c:spPr>
            <a:solidFill>
              <a:srgbClr val="C7BF6F"/>
            </a:solidFill>
            <a:ln>
              <a:noFill/>
              <a:prstDash val="solid"/>
            </a:ln>
          </c:spPr>
          <c:invertIfNegative val="0"/>
          <c:dLbls>
            <c:numFmt formatCode="0.00%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600" b="1" i="0" u="none" strike="noStrike" kern="1200" baseline="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'[FTT_Combined_Report_v2.xlsx]Top Defects Summary'!$A$15:$A$17</c:f>
              <c:strCache>
                <c:ptCount val="3"/>
                <c:pt idx="0">
                  <c:v>NIKE EBERNON LOW PREM</c:v>
                </c:pt>
                <c:pt idx="1">
                  <c:v>NIKE AIR MAX SC</c:v>
                </c:pt>
                <c:pt idx="2">
                  <c:v>NIKE INITIATOR</c:v>
                </c:pt>
              </c:strCache>
            </c:strRef>
          </c:cat>
          <c:val>
            <c:numRef>
              <c:f>'[FTT_Combined_Report_v2.xlsx]Top Defects Summary'!$E$15:$E$17</c:f>
              <c:numCache>
                <c:formatCode>General</c:formatCode>
                <c:ptCount val="3"/>
                <c:pt idx="2" c:formatCode="0.00%">
                  <c:v>0.28735632183908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0"/>
        <c:axId val="100"/>
      </c:barChart>
      <c:catAx>
        <c:axId val="1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100"/>
        <c:crosses val="autoZero"/>
        <c:auto val="1"/>
        <c:lblAlgn val="ctr"/>
        <c:lblOffset val="100"/>
        <c:noMultiLvlLbl val="0"/>
      </c:catAx>
      <c:valAx>
        <c:axId val="100"/>
        <c:scaling>
          <c:orientation val="minMax"/>
        </c:scaling>
        <c:delete val="1"/>
        <c:axPos val="l"/>
        <c:numFmt formatCode="0.00%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10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lang="en-US" sz="600"/>
      </a:pPr>
    </a:p>
  </c:txPr>
  <c:externalData r:id="rId1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72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720"/>
              <a:t>Top 3 Defect</a:t>
            </a:r>
            <a:endParaRPr sz="720"/>
          </a:p>
        </c:rich>
      </c:tx>
      <c:layout>
        <c:manualLayout>
          <c:xMode val="edge"/>
          <c:yMode val="edge"/>
          <c:x val="0.0908066132264529"/>
          <c:y val="0.0831911262798635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0.0809619238476954"/>
          <c:y val="0.33703071672355"/>
          <c:w val="0.871442885771543"/>
          <c:h val="0.317662116040956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'[FTT_Combined_Report_v2.xlsx]Top Defects Summary'!$B$20</c:f>
              <c:strCache>
                <c:ptCount val="1"/>
                <c:pt idx="0">
                  <c:v>C/Material damaged</c:v>
                </c:pt>
              </c:strCache>
            </c:strRef>
          </c:tx>
          <c:spPr>
            <a:solidFill>
              <a:srgbClr val="2C8869"/>
            </a:solidFill>
            <a:ln>
              <a:noFill/>
              <a:prstDash val="solid"/>
            </a:ln>
          </c:spPr>
          <c:invertIfNegative val="0"/>
          <c:dLbls>
            <c:numFmt formatCode="0.00%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600" b="1" i="0" u="none" strike="noStrike" kern="1200" baseline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'[FTT_Combined_Report_v2.xlsx]Top Defects Summary'!$A$21:$A$23</c:f>
              <c:strCache>
                <c:ptCount val="3"/>
                <c:pt idx="0">
                  <c:v>AIR JORDAN 1 LOW SE (GS)</c:v>
                </c:pt>
                <c:pt idx="1">
                  <c:v>AIR JORDAN 1 LOW</c:v>
                </c:pt>
                <c:pt idx="2">
                  <c:v>AIR JORDAN 1 MID SE (GS)</c:v>
                </c:pt>
              </c:strCache>
            </c:strRef>
          </c:cat>
          <c:val>
            <c:numRef>
              <c:f>'[FTT_Combined_Report_v2.xlsx]Top Defects Summary'!$B$21:$B$23</c:f>
              <c:numCache>
                <c:formatCode>0.00%</c:formatCode>
                <c:ptCount val="3"/>
                <c:pt idx="0">
                  <c:v>0.285714285714286</c:v>
                </c:pt>
                <c:pt idx="1">
                  <c:v>0.666666666666667</c:v>
                </c:pt>
              </c:numCache>
            </c:numRef>
          </c:val>
        </c:ser>
        <c:ser>
          <c:idx val="1"/>
          <c:order val="1"/>
          <c:tx>
            <c:strRef>
              <c:f>'[FTT_Combined_Report_v2.xlsx]Top Defects Summary'!$C$20</c:f>
              <c:strCache>
                <c:ptCount val="1"/>
                <c:pt idx="0">
                  <c:v>B/Material damaged</c:v>
                </c:pt>
              </c:strCache>
            </c:strRef>
          </c:tx>
          <c:spPr>
            <a:solidFill>
              <a:srgbClr val="FAB8A0"/>
            </a:solidFill>
            <a:ln>
              <a:noFill/>
              <a:prstDash val="solid"/>
            </a:ln>
          </c:spPr>
          <c:invertIfNegative val="0"/>
          <c:dLbls>
            <c:numFmt formatCode="0.00%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600" b="1" i="0" u="none" strike="noStrike" kern="1200" baseline="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'[FTT_Combined_Report_v2.xlsx]Top Defects Summary'!$A$21:$A$23</c:f>
              <c:strCache>
                <c:ptCount val="3"/>
                <c:pt idx="0">
                  <c:v>AIR JORDAN 1 LOW SE (GS)</c:v>
                </c:pt>
                <c:pt idx="1">
                  <c:v>AIR JORDAN 1 LOW</c:v>
                </c:pt>
                <c:pt idx="2">
                  <c:v>AIR JORDAN 1 MID SE (GS)</c:v>
                </c:pt>
              </c:strCache>
            </c:strRef>
          </c:cat>
          <c:val>
            <c:numRef>
              <c:f>'[FTT_Combined_Report_v2.xlsx]Top Defects Summary'!$C$21:$C$23</c:f>
              <c:numCache>
                <c:formatCode>General</c:formatCode>
                <c:ptCount val="3"/>
                <c:pt idx="1" c:formatCode="0.00%">
                  <c:v>0.222222222222222</c:v>
                </c:pt>
                <c:pt idx="2" c:formatCode="0.00%">
                  <c:v>0.25</c:v>
                </c:pt>
              </c:numCache>
            </c:numRef>
          </c:val>
        </c:ser>
        <c:ser>
          <c:idx val="2"/>
          <c:order val="2"/>
          <c:tx>
            <c:strRef>
              <c:f>'[FTT_Combined_Report_v2.xlsx]Top Defects Summary'!$D$20</c:f>
              <c:strCache>
                <c:ptCount val="1"/>
                <c:pt idx="0">
                  <c:v>B/Holes quality</c:v>
                </c:pt>
              </c:strCache>
            </c:strRef>
          </c:tx>
          <c:spPr>
            <a:solidFill>
              <a:srgbClr val="B09360"/>
            </a:solidFill>
            <a:ln>
              <a:noFill/>
              <a:prstDash val="solid"/>
            </a:ln>
          </c:spPr>
          <c:invertIfNegative val="0"/>
          <c:dLbls>
            <c:numFmt formatCode="0.00%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600" b="1" i="0" u="none" strike="noStrike" kern="1200" baseline="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'[FTT_Combined_Report_v2.xlsx]Top Defects Summary'!$A$21:$A$23</c:f>
              <c:strCache>
                <c:ptCount val="3"/>
                <c:pt idx="0">
                  <c:v>AIR JORDAN 1 LOW SE (GS)</c:v>
                </c:pt>
                <c:pt idx="1">
                  <c:v>AIR JORDAN 1 LOW</c:v>
                </c:pt>
                <c:pt idx="2">
                  <c:v>AIR JORDAN 1 MID SE (GS)</c:v>
                </c:pt>
              </c:strCache>
            </c:strRef>
          </c:cat>
          <c:val>
            <c:numRef>
              <c:f>'[FTT_Combined_Report_v2.xlsx]Top Defects Summary'!$D$21:$D$23</c:f>
              <c:numCache>
                <c:formatCode>0.00%</c:formatCode>
                <c:ptCount val="3"/>
                <c:pt idx="0">
                  <c:v>0.285714285714286</c:v>
                </c:pt>
              </c:numCache>
            </c:numRef>
          </c:val>
        </c:ser>
        <c:ser>
          <c:idx val="3"/>
          <c:order val="3"/>
          <c:tx>
            <c:strRef>
              <c:f>'[FTT_Combined_Report_v2.xlsx]Top Defects Summary'!$E$20</c:f>
              <c:strCache>
                <c:ptCount val="1"/>
                <c:pt idx="0">
                  <c:v>B/Off-center</c:v>
                </c:pt>
              </c:strCache>
            </c:strRef>
          </c:tx>
          <c:spPr>
            <a:solidFill>
              <a:srgbClr val="998AF2"/>
            </a:solidFill>
            <a:ln>
              <a:noFill/>
              <a:prstDash val="solid"/>
            </a:ln>
          </c:spPr>
          <c:invertIfNegative val="0"/>
          <c:dLbls>
            <c:numFmt formatCode="0.00%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600" b="1" i="0" u="none" strike="noStrike" kern="1200" baseline="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'[FTT_Combined_Report_v2.xlsx]Top Defects Summary'!$A$21:$A$23</c:f>
              <c:strCache>
                <c:ptCount val="3"/>
                <c:pt idx="0">
                  <c:v>AIR JORDAN 1 LOW SE (GS)</c:v>
                </c:pt>
                <c:pt idx="1">
                  <c:v>AIR JORDAN 1 LOW</c:v>
                </c:pt>
                <c:pt idx="2">
                  <c:v>AIR JORDAN 1 MID SE (GS)</c:v>
                </c:pt>
              </c:strCache>
            </c:strRef>
          </c:cat>
          <c:val>
            <c:numRef>
              <c:f>'[FTT_Combined_Report_v2.xlsx]Top Defects Summary'!$E$21:$E$23</c:f>
              <c:numCache>
                <c:formatCode>0.00%</c:formatCode>
                <c:ptCount val="3"/>
                <c:pt idx="0">
                  <c:v>0.285714285714286</c:v>
                </c:pt>
              </c:numCache>
            </c:numRef>
          </c:val>
        </c:ser>
        <c:ser>
          <c:idx val="4"/>
          <c:order val="4"/>
          <c:tx>
            <c:strRef>
              <c:f>'[FTT_Combined_Report_v2.xlsx]Top Defects Summary'!$F$20</c:f>
              <c:strCache>
                <c:ptCount val="1"/>
                <c:pt idx="0">
                  <c:v>C/Other defects</c:v>
                </c:pt>
              </c:strCache>
            </c:strRef>
          </c:tx>
          <c:spPr>
            <a:solidFill>
              <a:srgbClr val="C7BF6F"/>
            </a:solidFill>
            <a:ln>
              <a:noFill/>
              <a:prstDash val="solid"/>
            </a:ln>
          </c:spPr>
          <c:invertIfNegative val="0"/>
          <c:dLbls>
            <c:numFmt formatCode="0.00%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600" b="1" i="0" u="none" strike="noStrike" kern="1200" baseline="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'[FTT_Combined_Report_v2.xlsx]Top Defects Summary'!$A$21:$A$23</c:f>
              <c:strCache>
                <c:ptCount val="3"/>
                <c:pt idx="0">
                  <c:v>AIR JORDAN 1 LOW SE (GS)</c:v>
                </c:pt>
                <c:pt idx="1">
                  <c:v>AIR JORDAN 1 LOW</c:v>
                </c:pt>
                <c:pt idx="2">
                  <c:v>AIR JORDAN 1 MID SE (GS)</c:v>
                </c:pt>
              </c:strCache>
            </c:strRef>
          </c:cat>
          <c:val>
            <c:numRef>
              <c:f>'[FTT_Combined_Report_v2.xlsx]Top Defects Summary'!$F$21:$F$23</c:f>
              <c:numCache>
                <c:formatCode>General</c:formatCode>
                <c:ptCount val="3"/>
                <c:pt idx="1" c:formatCode="0.00%">
                  <c:v>0.111111111111111</c:v>
                </c:pt>
                <c:pt idx="2" c:formatCode="0.00%">
                  <c:v>0.25</c:v>
                </c:pt>
              </c:numCache>
            </c:numRef>
          </c:val>
        </c:ser>
        <c:ser>
          <c:idx val="5"/>
          <c:order val="5"/>
          <c:tx>
            <c:strRef>
              <c:f>'[FTT_Combined_Report_v2.xlsx]Top Defects Summary'!$G$20</c:f>
              <c:strCache>
                <c:ptCount val="1"/>
                <c:pt idx="0">
                  <c:v>B/Paint surface quality</c:v>
                </c:pt>
              </c:strCache>
            </c:strRef>
          </c:tx>
          <c:spPr>
            <a:solidFill>
              <a:srgbClr val="D28EBD"/>
            </a:solidFill>
            <a:ln>
              <a:noFill/>
              <a:prstDash val="solid"/>
            </a:ln>
          </c:spPr>
          <c:invertIfNegative val="0"/>
          <c:dLbls>
            <c:numFmt formatCode="0.00%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600" b="1" i="0" u="none" strike="noStrike" kern="1200" baseline="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'[FTT_Combined_Report_v2.xlsx]Top Defects Summary'!$A$21:$A$23</c:f>
              <c:strCache>
                <c:ptCount val="3"/>
                <c:pt idx="0">
                  <c:v>AIR JORDAN 1 LOW SE (GS)</c:v>
                </c:pt>
                <c:pt idx="1">
                  <c:v>AIR JORDAN 1 LOW</c:v>
                </c:pt>
                <c:pt idx="2">
                  <c:v>AIR JORDAN 1 MID SE (GS)</c:v>
                </c:pt>
              </c:strCache>
            </c:strRef>
          </c:cat>
          <c:val>
            <c:numRef>
              <c:f>'[FTT_Combined_Report_v2.xlsx]Top Defects Summary'!$G$21:$G$23</c:f>
              <c:numCache>
                <c:formatCode>General</c:formatCode>
                <c:ptCount val="3"/>
                <c:pt idx="2" c:formatCode="0.00%">
                  <c:v>0.25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0"/>
        <c:axId val="100"/>
      </c:barChart>
      <c:catAx>
        <c:axId val="1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100"/>
        <c:crosses val="autoZero"/>
        <c:auto val="1"/>
        <c:lblAlgn val="ctr"/>
        <c:lblOffset val="100"/>
        <c:noMultiLvlLbl val="0"/>
      </c:catAx>
      <c:valAx>
        <c:axId val="100"/>
        <c:scaling>
          <c:orientation val="minMax"/>
        </c:scaling>
        <c:delete val="1"/>
        <c:axPos val="l"/>
        <c:numFmt formatCode="0.00%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10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lang="en-US" sz="600"/>
      </a:pPr>
    </a:p>
  </c:txPr>
  <c:externalData r:id="rId1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156166196905995"/>
          <c:y val="0.189297899598727"/>
          <c:w val="0.706622342359296"/>
          <c:h val="0.573802311956541"/>
        </c:manualLayout>
      </c:layout>
      <c:pieChart>
        <c:varyColors val="1"/>
        <c:ser>
          <c:idx val="0"/>
          <c:order val="0"/>
          <c:tx>
            <c:strRef>
              <c:f>'[CoPQ type analysis (1).xlsx]Current month'!$F$69</c:f>
              <c:strCache>
                <c:ptCount val="1"/>
                <c:pt idx="0">
                  <c:v>Ttl cost ($)</c:v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rgbClr val="3366FF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rgbClr val="33CCFF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rgbClr val="C9C9C9"/>
              </a:solidFill>
              <a:ln w="19050">
                <a:solidFill>
                  <a:srgbClr val="A5A5A5">
                    <a:lumMod val="60000"/>
                    <a:lumOff val="40000"/>
                  </a:srgbClr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tx2">
                  <a:lumMod val="20000"/>
                  <a:lumOff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"/>
            <c:bubble3D val="0"/>
            <c:spPr>
              <a:solidFill>
                <a:srgbClr val="9DC3E6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dLbl>
              <c:idx val="0"/>
              <c:layout>
                <c:manualLayout>
                  <c:x val="-2.08255682473091e-7"/>
                  <c:y val="0.142342213370958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58110444527767"/>
                      <c:h val="0.257284458760837"/>
                    </c:manualLayout>
                  </c15:layout>
                </c:ext>
              </c:extLst>
            </c:dLbl>
            <c:dLbl>
              <c:idx val="1"/>
              <c:layout>
                <c:manualLayout>
                  <c:x val="-0.085978835978836"/>
                  <c:y val="-0.153226159230096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57142857142857"/>
                      <c:h val="0.176767676767677"/>
                    </c:manualLayout>
                  </c15:layout>
                </c:ext>
              </c:extLst>
            </c:dLbl>
            <c:dLbl>
              <c:idx val="2"/>
              <c:layout>
                <c:manualLayout>
                  <c:x val="0"/>
                  <c:y val="-0.0369730772289828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5218253968254"/>
                      <c:h val="0.227272727272727"/>
                    </c:manualLayout>
                  </c15:layout>
                </c:ext>
              </c:extLst>
            </c:dLbl>
            <c:dLbl>
              <c:idx val="3"/>
              <c:layout>
                <c:manualLayout>
                  <c:x val="2.60384118651835e-7"/>
                  <c:y val="0.0880495406824147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66620839061784"/>
                      <c:h val="0.255864252763859"/>
                    </c:manualLayout>
                  </c15:layout>
                </c:ext>
              </c:extLst>
            </c:dLbl>
            <c:dLbl>
              <c:idx val="4"/>
              <c:layout>
                <c:manualLayout>
                  <c:x val="0.132422770070408"/>
                  <c:y val="0.0378790364272648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43436237137025"/>
                      <c:h val="0.170956613377873"/>
                    </c:manualLayout>
                  </c15:layout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9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bestFit"/>
            <c:showLegendKey val="0"/>
            <c:showVal val="1"/>
            <c:showCatName val="1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'[CoPQ type analysis (1).xlsx]Current month'!$C$70:$C$74</c:f>
              <c:strCache>
                <c:ptCount val="5"/>
                <c:pt idx="0">
                  <c:v>Factory 4</c:v>
                </c:pt>
                <c:pt idx="1">
                  <c:v>Factory 1</c:v>
                </c:pt>
                <c:pt idx="2">
                  <c:v>Factory 3</c:v>
                </c:pt>
                <c:pt idx="3">
                  <c:v>OS</c:v>
                </c:pt>
                <c:pt idx="4">
                  <c:v>Factory Sandals</c:v>
                </c:pt>
              </c:strCache>
            </c:strRef>
          </c:cat>
          <c:val>
            <c:numRef>
              <c:f>'[CoPQ type analysis (1).xlsx]Current month'!$F$70:$F$74</c:f>
              <c:numCache>
                <c:formatCode>"$"#,##0.00</c:formatCode>
                <c:ptCount val="5"/>
                <c:pt idx="0">
                  <c:v>505.98</c:v>
                </c:pt>
                <c:pt idx="1">
                  <c:v>452.77</c:v>
                </c:pt>
                <c:pt idx="2">
                  <c:v>397.74</c:v>
                </c:pt>
                <c:pt idx="3">
                  <c:v>178.01</c:v>
                </c:pt>
                <c:pt idx="4">
                  <c:v>118.65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0134486974921086"/>
          <c:y val="0.179188538932633"/>
          <c:w val="0.972430340671284"/>
          <c:h val="0.613989501312336"/>
        </c:manualLayout>
      </c:layout>
      <c:barChart>
        <c:barDir val="col"/>
        <c:grouping val="clustered"/>
        <c:varyColors val="0"/>
        <c:ser>
          <c:idx val="2"/>
          <c:order val="2"/>
          <c:tx>
            <c:strRef>
              <c:f>'[CoPQ type analysis (1).xlsx]Current month'!$F$78</c:f>
              <c:strCache>
                <c:ptCount val="1"/>
                <c:pt idx="0">
                  <c:v>Ttl cost ($)</c:v>
                </c:pt>
              </c:strCache>
            </c:strRef>
          </c:tx>
          <c:spPr>
            <a:solidFill>
              <a:srgbClr val="33CCFF"/>
            </a:solidFill>
            <a:ln>
              <a:solidFill>
                <a:srgbClr val="33CCFF"/>
              </a:solidFill>
            </a:ln>
            <a:effectLst/>
          </c:spPr>
          <c:invertIfNegative val="0"/>
          <c:dLbls>
            <c:dLbl>
              <c:idx val="0"/>
              <c:layout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73875661375661"/>
                      <c:h val="0.125166666666667"/>
                    </c:manualLayout>
                  </c15:layout>
                </c:ext>
              </c:extLst>
            </c:dLbl>
            <c:dLbl>
              <c:idx val="1"/>
              <c:layout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41567199933342"/>
                      <c:h val="0.138722222222222"/>
                    </c:manualLayout>
                  </c15:layout>
                </c:ext>
              </c:extLst>
            </c:dLbl>
            <c:dLbl>
              <c:idx val="2"/>
              <c:layout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98150231221097"/>
                      <c:h val="0.138722222222222"/>
                    </c:manualLayout>
                  </c15:layout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9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'[CoPQ type analysis (1).xlsx]Current month'!$C$79:$C$81</c:f>
              <c:strCache>
                <c:ptCount val="3"/>
                <c:pt idx="0">
                  <c:v>JORDAN TRUE FLIGHT MS</c:v>
                </c:pt>
                <c:pt idx="1">
                  <c:v>NIKE SB FORCE 58</c:v>
                </c:pt>
                <c:pt idx="2">
                  <c:v>NIKE AIR WINFLO 12</c:v>
                </c:pt>
              </c:strCache>
            </c:strRef>
          </c:cat>
          <c:val>
            <c:numRef>
              <c:f>'[CoPQ type analysis (1).xlsx]Current month'!$F$79:$F$81</c:f>
              <c:numCache>
                <c:formatCode>"$"#,##0.00</c:formatCode>
                <c:ptCount val="3"/>
                <c:pt idx="0">
                  <c:v>152.42</c:v>
                </c:pt>
                <c:pt idx="1">
                  <c:v>111.42</c:v>
                </c:pt>
                <c:pt idx="2">
                  <c:v>110.53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1034043120"/>
        <c:axId val="-1034066512"/>
        <c:extLst>
          <c:ext xmlns:c15="http://schemas.microsoft.com/office/drawing/2012/chart" uri="{02D57815-91ED-43cb-92C2-25804820EDAC}">
            <c15:filteredBa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'[CoPQ type analysis (1).xlsx]Current month'!$D$78</c15:sqref>
                        </c15:formulaRef>
                      </c:ext>
                    </c:extLst>
                    <c:strCache>
                      <c:ptCount val="1"/>
                      <c:pt idx="0">
                        <c:v>Defective Qty(Pair)</c:v>
                      </c:pt>
                    </c:strCache>
                  </c:strRef>
                </c:tx>
                <c:spPr>
                  <a:solidFill>
                    <a:srgbClr val="33CCFF"/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0" vertOverflow="ellipsis" vert="horz" wrap="square" lIns="38100" tIns="19050" rIns="38100" bIns="19050" anchor="ctr" anchorCtr="1"/>
                    <a:lstStyle/>
                    <a:p>
                      <a:pPr>
                        <a:defRPr lang="en-US" sz="900" b="1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</a:p>
                  </c:txPr>
                  <c:dLblPos val="ctr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xmlns:c15="http://schemas.microsoft.com/office/drawing/2012/chart" uri="{CE6537A1-D6FC-4f65-9D91-7224C49458BB}">
                      <c15:layout/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ullRef>
                          <c15:sqref/>
                        </c15:fullRef>
                        <c15:formulaRef>
                          <c15:sqref>'[CoPQ type analysis (1).xlsx]Current month'!$C$79:$C$81</c15:sqref>
                        </c15:formulaRef>
                      </c:ext>
                    </c:extLst>
                    <c:strCache>
                      <c:ptCount val="3"/>
                      <c:pt idx="0">
                        <c:v>JORDAN TRUE FLIGHT MS</c:v>
                      </c:pt>
                      <c:pt idx="1">
                        <c:v>NIKE SB FORCE 58</c:v>
                      </c:pt>
                      <c:pt idx="2">
                        <c:v>NIKE AIR WINFLO 12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{11189,1843,3307}</c15:sqref>
                        </c15:formulaRef>
                      </c:ext>
                    </c:extLst>
                    <c:numCache>
                      <c:formatCode>#,##0</c:formatCode>
                      <c:ptCount val="3"/>
                      <c:pt idx="0">
                        <c:v>11189</c:v>
                      </c:pt>
                      <c:pt idx="1">
                        <c:v>1843</c:v>
                      </c:pt>
                      <c:pt idx="2">
                        <c:v>3307</c:v>
                      </c:pt>
                    </c:numCache>
                  </c:numRef>
                </c:val>
              </c15:ser>
            </c15:filteredBarSeries>
            <c15:filteredBarSeries>
              <c15:ser>
                <c:idx val="1"/>
                <c:order val="1"/>
                <c:tx>
                  <c:strRef>
                    <c:extLst>
                      <c:ext uri="{02D57815-91ED-43cb-92C2-25804820EDAC}">
                        <c15:formulaRef>
                          <c15:sqref>'[CoPQ type analysis (1).xlsx]Current month'!$E$78</c15:sqref>
                        </c15:formulaRef>
                      </c:ext>
                    </c:extLst>
                    <c:strCache>
                      <c:ptCount val="1"/>
                      <c:pt idx="0">
                        <c:v>Working hours</c:v>
                      </c:pt>
                    </c:strCache>
                  </c:strRef>
                </c:tx>
                <c:spPr>
                  <a:solidFill>
                    <a:srgbClr val="7030A0"/>
                  </a:solidFill>
                  <a:ln>
                    <a:noFill/>
                  </a:ln>
                  <a:effectLst/>
                </c:spPr>
                <c:invertIfNegative val="0"/>
                <c:dLbls>
                  <c:dLbl>
                    <c:idx val="2"/>
                    <c:layout>
                      <c:manualLayout>
                        <c:x val="0.0529100529100528"/>
                        <c:y val="-0.0498307086614173"/>
                      </c:manualLayout>
                    </c:layout>
                    <c:dLblPos val="ctr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xmlns:c15="http://schemas.microsoft.com/office/drawing/2012/chart" uri="{CE6537A1-D6FC-4f65-9D91-7224C49458BB}">
                        <c15:layout/>
                      </c:ext>
                    </c:extLst>
                  </c:dLbl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0" vertOverflow="ellipsis" vert="horz" wrap="square" lIns="38100" tIns="19050" rIns="38100" bIns="19050" anchor="ctr" anchorCtr="1"/>
                    <a:lstStyle/>
                    <a:p>
                      <a:pPr>
                        <a:defRPr lang="en-US" sz="900" b="1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</a:p>
                  </c:txPr>
                  <c:dLblPos val="inBase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xmlns:c15="http://schemas.microsoft.com/office/drawing/2012/chart" uri="{CE6537A1-D6FC-4f65-9D91-7224C49458BB}">
                      <c15:layout/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ullRef>
                          <c15:sqref/>
                        </c15:fullRef>
                        <c15:formulaRef>
                          <c15:sqref>'[CoPQ type analysis (1).xlsx]Current month'!$C$79:$C$81</c15:sqref>
                        </c15:formulaRef>
                      </c:ext>
                    </c:extLst>
                    <c:strCache>
                      <c:ptCount val="3"/>
                      <c:pt idx="0">
                        <c:v>JORDAN TRUE FLIGHT MS</c:v>
                      </c:pt>
                      <c:pt idx="1">
                        <c:v>NIKE SB FORCE 58</c:v>
                      </c:pt>
                      <c:pt idx="2">
                        <c:v>NIKE AIR WINFLO 12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{41.5,8.8,6}</c15:sqref>
                        </c15:formulaRef>
                      </c:ext>
                    </c:extLst>
                    <c:numCache>
                      <c:formatCode>General</c:formatCode>
                      <c:ptCount val="3"/>
                      <c:pt idx="0">
                        <c:v>41.5</c:v>
                      </c:pt>
                      <c:pt idx="1">
                        <c:v>8.8</c:v>
                      </c:pt>
                      <c:pt idx="2">
                        <c:v>6</c:v>
                      </c:pt>
                    </c:numCache>
                  </c:numRef>
                </c:val>
              </c15:ser>
            </c15:filteredBarSeries>
          </c:ext>
        </c:extLst>
      </c:barChart>
      <c:catAx>
        <c:axId val="-10340431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1034066512"/>
        <c:crosses val="autoZero"/>
        <c:auto val="1"/>
        <c:lblAlgn val="ctr"/>
        <c:lblOffset val="100"/>
        <c:noMultiLvlLbl val="0"/>
      </c:catAx>
      <c:valAx>
        <c:axId val="-1034066512"/>
        <c:scaling>
          <c:orientation val="minMax"/>
          <c:max val="1500"/>
          <c:min val="0"/>
        </c:scaling>
        <c:delete val="0"/>
        <c:axPos val="l"/>
        <c:numFmt formatCode="&quot;$&quot;#,##0.00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-10340431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"/>
          <c:y val="0.00278241513633834"/>
          <c:w val="0.341910906969962"/>
          <c:h val="0.08033027121609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7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0134486974921086"/>
          <c:y val="0.173568241469816"/>
          <c:w val="0.972430340671284"/>
          <c:h val="0.627143919510061"/>
        </c:manualLayout>
      </c:layout>
      <c:barChart>
        <c:barDir val="col"/>
        <c:grouping val="clustered"/>
        <c:varyColors val="0"/>
        <c:ser>
          <c:idx val="2"/>
          <c:order val="2"/>
          <c:tx>
            <c:strRef>
              <c:f>'[CoPQ type analysis (1).xlsx]Current month'!$L$78</c:f>
              <c:strCache>
                <c:ptCount val="1"/>
                <c:pt idx="0">
                  <c:v>Ttl cost ($)</c:v>
                </c:pt>
              </c:strCache>
            </c:strRef>
          </c:tx>
          <c:spPr>
            <a:solidFill>
              <a:srgbClr val="33CCFF"/>
            </a:solidFill>
            <a:ln>
              <a:solidFill>
                <a:srgbClr val="33CCFF"/>
              </a:solidFill>
            </a:ln>
            <a:effectLst/>
          </c:spPr>
          <c:invertIfNegative val="0"/>
          <c:dLbls>
            <c:dLbl>
              <c:idx val="0"/>
              <c:layout/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lang="en-US" sz="9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456322725284339"/>
                      <c:h val="0.119791077868188"/>
                    </c:manualLayout>
                  </c15:layout>
                </c:ext>
              </c:extLst>
            </c:dLbl>
            <c:dLbl>
              <c:idx val="1"/>
              <c:layout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76181524827472"/>
                      <c:h val="0.125349042395016"/>
                    </c:manualLayout>
                  </c15:layout>
                </c:ext>
              </c:extLst>
            </c:dLbl>
            <c:dLbl>
              <c:idx val="2"/>
              <c:layout/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lang="en-US" sz="9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84027777777778"/>
                      <c:h val="0.0962715637173066"/>
                    </c:manualLayout>
                  </c15:layout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9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'[CoPQ type analysis (1).xlsx]Current month'!$I$79:$I$81</c:f>
              <c:strCache>
                <c:ptCount val="3"/>
                <c:pt idx="0">
                  <c:v>W NIKE AIR WINFLO 12 GTX</c:v>
                </c:pt>
                <c:pt idx="1">
                  <c:v>W AIR WINFLO 11 GTX</c:v>
                </c:pt>
                <c:pt idx="2">
                  <c:v>NIKE AIR MAX EXCEE</c:v>
                </c:pt>
              </c:strCache>
            </c:strRef>
          </c:cat>
          <c:val>
            <c:numRef>
              <c:f>'[CoPQ type analysis (1).xlsx]Current month'!$L$79:$L$81</c:f>
              <c:numCache>
                <c:formatCode>"$"#,##0.00</c:formatCode>
                <c:ptCount val="3"/>
                <c:pt idx="0">
                  <c:v>233.37</c:v>
                </c:pt>
                <c:pt idx="1">
                  <c:v>100.13</c:v>
                </c:pt>
                <c:pt idx="2">
                  <c:v>95.04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1034068688"/>
        <c:axId val="-1034058352"/>
        <c:extLst>
          <c:ext xmlns:c15="http://schemas.microsoft.com/office/drawing/2012/chart" uri="{02D57815-91ED-43cb-92C2-25804820EDAC}">
            <c15:filteredBa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'[CoPQ type analysis (1).xlsx]Current month'!$J$78</c15:sqref>
                        </c15:formulaRef>
                      </c:ext>
                    </c:extLst>
                    <c:strCache>
                      <c:ptCount val="1"/>
                      <c:pt idx="0">
                        <c:v>Defective Qty(Pair)</c:v>
                      </c:pt>
                    </c:strCache>
                  </c:strRef>
                </c:tx>
                <c:spPr>
                  <a:solidFill>
                    <a:srgbClr val="33CCFF"/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lang="en-US" sz="900" b="1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</a:p>
                  </c:txPr>
                  <c:dLblPos val="ctr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xmlns:c15="http://schemas.microsoft.com/office/drawing/2012/chart" uri="{CE6537A1-D6FC-4f65-9D91-7224C49458BB}">
                      <c15:layout/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ullRef>
                          <c15:sqref/>
                        </c15:fullRef>
                        <c15:formulaRef>
                          <c15:sqref>'[CoPQ type analysis (1).xlsx]Current month'!$I$79:$I$81</c15:sqref>
                        </c15:formulaRef>
                      </c:ext>
                    </c:extLst>
                    <c:strCache>
                      <c:ptCount val="3"/>
                      <c:pt idx="0">
                        <c:v>W NIKE AIR WINFLO 12 GTX</c:v>
                      </c:pt>
                      <c:pt idx="1">
                        <c:v>W AIR WINFLO 11 GTX</c:v>
                      </c:pt>
                      <c:pt idx="2">
                        <c:v>NIKE AIR MAX EXCEE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{4766,1072,1632}</c15:sqref>
                        </c15:formulaRef>
                      </c:ext>
                    </c:extLst>
                    <c:numCache>
                      <c:formatCode>#,##0</c:formatCode>
                      <c:ptCount val="3"/>
                      <c:pt idx="0">
                        <c:v>4766</c:v>
                      </c:pt>
                      <c:pt idx="1">
                        <c:v>1072</c:v>
                      </c:pt>
                      <c:pt idx="2">
                        <c:v>1632</c:v>
                      </c:pt>
                    </c:numCache>
                  </c:numRef>
                </c:val>
              </c15:ser>
            </c15:filteredBarSeries>
            <c15:filteredBarSeries>
              <c15:ser>
                <c:idx val="1"/>
                <c:order val="1"/>
                <c:tx>
                  <c:strRef>
                    <c:extLst>
                      <c:ext uri="{02D57815-91ED-43cb-92C2-25804820EDAC}">
                        <c15:formulaRef>
                          <c15:sqref>'[CoPQ type analysis (1).xlsx]Current month'!$K$78</c15:sqref>
                        </c15:formulaRef>
                      </c:ext>
                    </c:extLst>
                    <c:strCache>
                      <c:ptCount val="1"/>
                      <c:pt idx="0">
                        <c:v>Working hours</c:v>
                      </c:pt>
                    </c:strCache>
                  </c:strRef>
                </c:tx>
                <c:spPr>
                  <a:solidFill>
                    <a:srgbClr val="7030A0"/>
                  </a:solidFill>
                  <a:ln>
                    <a:noFill/>
                  </a:ln>
                  <a:effectLst/>
                </c:spPr>
                <c:invertIfNegative val="0"/>
                <c:dLbls>
                  <c:dLbl>
                    <c:idx val="0"/>
                    <c:layout>
                      <c:manualLayout>
                        <c:x val="0"/>
                        <c:y val="-0.027432860541848"/>
                      </c:manualLayout>
                    </c:layout>
                    <c:dLblPos val="ctr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xmlns:c15="http://schemas.microsoft.com/office/drawing/2012/chart" uri="{CE6537A1-D6FC-4f65-9D91-7224C49458BB}">
                        <c15:layout/>
                      </c:ext>
                    </c:extLst>
                  </c:dLbl>
                  <c:dLbl>
                    <c:idx val="2"/>
                    <c:layout/>
                    <c:numFmt formatCode="General" sourceLinked="1"/>
                    <c:spPr>
                      <a:noFill/>
                      <a:ln>
                        <a:noFill/>
                      </a:ln>
                      <a:effectLst/>
                    </c:spPr>
                    <c:txPr>
                      <a:bodyPr rot="0" spcFirstLastPara="1" vertOverflow="ellipsis" vert="horz" wrap="square" lIns="38100" tIns="19050" rIns="38100" bIns="19050" anchor="ctr" anchorCtr="1">
                        <a:noAutofit/>
                      </a:bodyPr>
                      <a:lstStyle/>
                      <a:p>
                        <a:pPr>
                          <a:defRPr lang="en-US" sz="900" b="1" i="0" u="none" strike="noStrike" kern="1200" baseline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pPr>
                      </a:p>
                    </c:txPr>
                    <c:dLblPos val="inBase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xmlns:c15="http://schemas.microsoft.com/office/drawing/2012/chart" uri="{CE6537A1-D6FC-4f65-9D91-7224C49458BB}">
                        <c15:layout>
                          <c:manualLayout>
                            <c:w val="0.135978835978836"/>
                            <c:h val="0.0388057742782152"/>
                          </c:manualLayout>
                        </c15:layout>
                      </c:ext>
                    </c:extLst>
                  </c:dLbl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lang="en-US" sz="900" b="1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</a:p>
                  </c:txPr>
                  <c:dLblPos val="inBase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xmlns:c15="http://schemas.microsoft.com/office/drawing/2012/chart" uri="{CE6537A1-D6FC-4f65-9D91-7224C49458BB}">
                      <c15:layout/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ullRef>
                          <c15:sqref/>
                        </c15:fullRef>
                        <c15:formulaRef>
                          <c15:sqref>'[CoPQ type analysis (1).xlsx]Current month'!$I$79:$I$81</c15:sqref>
                        </c15:formulaRef>
                      </c:ext>
                    </c:extLst>
                    <c:strCache>
                      <c:ptCount val="3"/>
                      <c:pt idx="0">
                        <c:v>W NIKE AIR WINFLO 12 GTX</c:v>
                      </c:pt>
                      <c:pt idx="1">
                        <c:v>W AIR WINFLO 11 GTX</c:v>
                      </c:pt>
                      <c:pt idx="2">
                        <c:v>NIKE AIR MAX EXCEE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{40,13.5,7}</c15:sqref>
                        </c15:formulaRef>
                      </c:ext>
                    </c:extLst>
                    <c:numCache>
                      <c:formatCode>General</c:formatCode>
                      <c:ptCount val="3"/>
                      <c:pt idx="0">
                        <c:v>40</c:v>
                      </c:pt>
                      <c:pt idx="1">
                        <c:v>13.5</c:v>
                      </c:pt>
                      <c:pt idx="2">
                        <c:v>7</c:v>
                      </c:pt>
                    </c:numCache>
                  </c:numRef>
                </c:val>
              </c15:ser>
            </c15:filteredBarSeries>
          </c:ext>
        </c:extLst>
      </c:barChart>
      <c:catAx>
        <c:axId val="-10340686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1034058352"/>
        <c:crosses val="autoZero"/>
        <c:auto val="1"/>
        <c:lblAlgn val="ctr"/>
        <c:lblOffset val="100"/>
        <c:noMultiLvlLbl val="0"/>
      </c:catAx>
      <c:valAx>
        <c:axId val="-1034058352"/>
        <c:scaling>
          <c:orientation val="minMax"/>
          <c:max val="3000"/>
          <c:min val="0"/>
        </c:scaling>
        <c:delete val="0"/>
        <c:axPos val="l"/>
        <c:numFmt formatCode="&quot;$&quot;#,##0.00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-103406868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0354166666666667"/>
          <c:y val="0.00834724540901502"/>
          <c:w val="0.341910906969962"/>
          <c:h val="0.08033027121609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7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156166196905995"/>
          <c:y val="0.189297899598727"/>
          <c:w val="0.706622342359296"/>
          <c:h val="0.573802311956541"/>
        </c:manualLayout>
      </c:layout>
      <c:pieChart>
        <c:varyColors val="1"/>
        <c:ser>
          <c:idx val="0"/>
          <c:order val="0"/>
          <c:tx>
            <c:strRef>
              <c:f>'[CoPQ type analysis (1).xlsx]Current month'!$L$69</c:f>
              <c:strCache>
                <c:ptCount val="1"/>
                <c:pt idx="0">
                  <c:v>Ttl cost ($)</c:v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rgbClr val="3366FF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rgbClr val="33CCFF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rgbClr val="9DC3E6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dLbl>
              <c:idx val="0"/>
              <c:layout>
                <c:manualLayout>
                  <c:x val="-0.0595437603048545"/>
                  <c:y val="-0.171435000211333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99306243805748"/>
                      <c:h val="0.294248490625993"/>
                    </c:manualLayout>
                  </c15:layout>
                </c:ext>
              </c:extLst>
            </c:dLbl>
            <c:dLbl>
              <c:idx val="1"/>
              <c:layout>
                <c:manualLayout>
                  <c:x val="0"/>
                  <c:y val="0.0112662819578876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52299040688058"/>
                      <c:h val="0.227344490053679"/>
                    </c:manualLayout>
                  </c15:layout>
                </c:ext>
              </c:extLst>
            </c:dLbl>
            <c:dLbl>
              <c:idx val="2"/>
              <c:layout>
                <c:manualLayout>
                  <c:x val="0.0260718163539088"/>
                  <c:y val="0.0573203810681285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63609961424356"/>
                      <c:h val="0.231926684882735"/>
                    </c:manualLayout>
                  </c15:layout>
                </c:ext>
              </c:extLst>
            </c:dLbl>
            <c:dLbl>
              <c:idx val="3"/>
              <c:layout>
                <c:manualLayout>
                  <c:x val="0.144309376147697"/>
                  <c:y val="0.00157878118092832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14257360238174"/>
                      <c:h val="0.296431954531102"/>
                    </c:manualLayout>
                  </c15:layout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9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bestFit"/>
            <c:showLegendKey val="0"/>
            <c:showVal val="1"/>
            <c:showCatName val="1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'[CoPQ type analysis (1).xlsx]Current month'!$I$70:$I$73</c:f>
              <c:strCache>
                <c:ptCount val="4"/>
                <c:pt idx="0">
                  <c:v>Factory 5</c:v>
                </c:pt>
                <c:pt idx="1">
                  <c:v>Factory 1</c:v>
                </c:pt>
                <c:pt idx="2">
                  <c:v>Factory 3</c:v>
                </c:pt>
              </c:strCache>
            </c:strRef>
          </c:cat>
          <c:val>
            <c:numRef>
              <c:f>'[CoPQ type analysis (1).xlsx]Current month'!$L$70:$L$73</c:f>
              <c:numCache>
                <c:formatCode>"$"#,##0.00</c:formatCode>
                <c:ptCount val="4"/>
                <c:pt idx="0">
                  <c:v>472.82</c:v>
                </c:pt>
                <c:pt idx="1">
                  <c:v>254.74</c:v>
                </c:pt>
                <c:pt idx="2">
                  <c:v>102.85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140550652464123"/>
          <c:y val="0.182224441063554"/>
          <c:w val="0.706622342359296"/>
          <c:h val="0.573802311956541"/>
        </c:manualLayout>
      </c:layout>
      <c:pieChart>
        <c:varyColors val="1"/>
        <c:ser>
          <c:idx val="0"/>
          <c:order val="0"/>
          <c:tx>
            <c:strRef>
              <c:f>'[CoPQ type analysis (1).xlsx]Current month'!$AP$69</c:f>
              <c:strCache>
                <c:ptCount val="1"/>
                <c:pt idx="0">
                  <c:v>Ttl cost ($)</c:v>
                </c:pt>
              </c:strCache>
            </c:strRef>
          </c:tx>
          <c:spPr>
            <a:ln w="19050">
              <a:noFill/>
            </a:ln>
          </c:spPr>
          <c:explosion val="0"/>
          <c:dPt>
            <c:idx val="0"/>
            <c:bubble3D val="0"/>
            <c:spPr>
              <a:solidFill>
                <a:srgbClr val="3366FF"/>
              </a:solidFill>
              <a:ln w="19050">
                <a:noFill/>
              </a:ln>
              <a:effectLst/>
            </c:spPr>
          </c:dPt>
          <c:dLbls>
            <c:dLbl>
              <c:idx val="0"/>
              <c:layout>
                <c:manualLayout>
                  <c:x val="0.0108661417322835"/>
                  <c:y val="-0.401828369468705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59858772406301"/>
                      <c:h val="0.260515139030406"/>
                    </c:manualLayout>
                  </c15:layout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9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bestFit"/>
            <c:showLegendKey val="0"/>
            <c:showVal val="1"/>
            <c:showCatName val="1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'[CoPQ type analysis (1).xlsx]Current month'!$AM$70</c:f>
              <c:strCache>
                <c:ptCount val="1"/>
                <c:pt idx="0">
                  <c:v>Factory 1</c:v>
                </c:pt>
              </c:strCache>
            </c:strRef>
          </c:cat>
          <c:val>
            <c:numRef>
              <c:f>'[CoPQ type analysis (1).xlsx]Current month'!$AP$70</c:f>
              <c:numCache>
                <c:formatCode>"$"#,##0.00</c:formatCode>
                <c:ptCount val="1"/>
                <c:pt idx="0">
                  <c:v>91.92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3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346571261925593"/>
          <c:y val="0.229188538932633"/>
          <c:w val="0.943136274632338"/>
          <c:h val="0.52618416447944"/>
        </c:manualLayout>
      </c:layout>
      <c:barChart>
        <c:barDir val="col"/>
        <c:grouping val="clustered"/>
        <c:varyColors val="0"/>
        <c:ser>
          <c:idx val="2"/>
          <c:order val="2"/>
          <c:tx>
            <c:strRef>
              <c:f>'[CoPQ type analysis (1).xlsx]Current month'!$AP$78</c:f>
              <c:strCache>
                <c:ptCount val="1"/>
                <c:pt idx="0">
                  <c:v>Ttl cost ($)</c:v>
                </c:pt>
              </c:strCache>
            </c:strRef>
          </c:tx>
          <c:spPr>
            <a:solidFill>
              <a:srgbClr val="33CCFF"/>
            </a:solidFill>
            <a:ln>
              <a:solidFill>
                <a:srgbClr val="33CCFF"/>
              </a:solidFill>
            </a:ln>
            <a:effectLst/>
          </c:spPr>
          <c:invertIfNegative val="0"/>
          <c:dLbls>
            <c:dLbl>
              <c:idx val="0"/>
              <c:layout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01514224257449"/>
                      <c:h val="0.125375626043406"/>
                    </c:manualLayout>
                  </c15:layout>
                </c:ext>
              </c:extLst>
            </c:dLbl>
            <c:dLbl>
              <c:idx val="1"/>
              <c:layout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3723515109413"/>
                      <c:h val="0.12409571508069"/>
                    </c:manualLayout>
                  </c15:layout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8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'[CoPQ type analysis (1).xlsx]Current month'!$AM$79:$AM$81</c:f>
              <c:strCache>
                <c:ptCount val="3"/>
                <c:pt idx="0">
                  <c:v>BENASSI JDI</c:v>
                </c:pt>
                <c:pt idx="1">
                  <c:v>NIKE AIR MAX EXCEE</c:v>
                </c:pt>
                <c:pt idx="2">
                  <c:v>NIKE DUNK LOW RETRO SE - FQ8249</c:v>
                </c:pt>
              </c:strCache>
            </c:strRef>
          </c:cat>
          <c:val>
            <c:numRef>
              <c:f>'[CoPQ type analysis (1).xlsx]Current month'!$AP$79:$AP$81</c:f>
              <c:numCache>
                <c:formatCode>"$"#,##0.00</c:formatCode>
                <c:ptCount val="3"/>
                <c:pt idx="0">
                  <c:v>61.62</c:v>
                </c:pt>
                <c:pt idx="1">
                  <c:v>15.41</c:v>
                </c:pt>
                <c:pt idx="2">
                  <c:v>7.7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602765264"/>
        <c:axId val="602752208"/>
        <c:extLst>
          <c:ext xmlns:c15="http://schemas.microsoft.com/office/drawing/2012/chart" uri="{02D57815-91ED-43cb-92C2-25804820EDAC}">
            <c15:filteredBa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'[CoPQ type analysis (1).xlsx]Current month'!$AN$78</c15:sqref>
                        </c15:formulaRef>
                      </c:ext>
                    </c:extLst>
                    <c:strCache>
                      <c:ptCount val="1"/>
                      <c:pt idx="0">
                        <c:v>Defective Qty(Pair)</c:v>
                      </c:pt>
                    </c:strCache>
                  </c:strRef>
                </c:tx>
                <c:spPr>
                  <a:solidFill>
                    <a:srgbClr val="33CCFF"/>
                  </a:solidFill>
                  <a:ln>
                    <a:noFill/>
                  </a:ln>
                  <a:effectLst/>
                </c:spPr>
                <c:invertIfNegative val="0"/>
                <c:dLbls>
                  <c:dLbl>
                    <c:idx val="0"/>
                    <c:layout/>
                    <c:dLblPos val="ctr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xmlns:c15="http://schemas.microsoft.com/office/drawing/2012/chart" uri="{CE6537A1-D6FC-4f65-9D91-7224C49458BB}">
                        <c15:layout>
                          <c:manualLayout>
                            <c:w val="0.246990228394262"/>
                            <c:h val="0.138953811908737"/>
                          </c:manualLayout>
                        </c15:layout>
                      </c:ext>
                    </c:extLst>
                  </c:dLbl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lang="en-US" sz="900" b="1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</a:p>
                  </c:txPr>
                  <c:dLblPos val="ctr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xmlns:c15="http://schemas.microsoft.com/office/drawing/2012/chart" uri="{CE6537A1-D6FC-4f65-9D91-7224C49458BB}">
                      <c15:layout/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ullRef>
                          <c15:sqref/>
                        </c15:fullRef>
                        <c15:formulaRef>
                          <c15:sqref>'[CoPQ type analysis (1).xlsx]Current month'!$AM$79:$AM$81</c15:sqref>
                        </c15:formulaRef>
                      </c:ext>
                    </c:extLst>
                    <c:strCache>
                      <c:ptCount val="3"/>
                      <c:pt idx="0">
                        <c:v>BENASSI JDI</c:v>
                      </c:pt>
                      <c:pt idx="1">
                        <c:v>NIKE AIR MAX EXCEE</c:v>
                      </c:pt>
                      <c:pt idx="2">
                        <c:v>NIKE DUNK LOW RETRO SE - FQ8249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{3075,1160,512}</c15:sqref>
                        </c15:formulaRef>
                      </c:ext>
                    </c:extLst>
                    <c:numCache>
                      <c:formatCode>#,##0</c:formatCode>
                      <c:ptCount val="3"/>
                      <c:pt idx="0">
                        <c:v>3075</c:v>
                      </c:pt>
                      <c:pt idx="1">
                        <c:v>1160</c:v>
                      </c:pt>
                      <c:pt idx="2">
                        <c:v>512</c:v>
                      </c:pt>
                    </c:numCache>
                  </c:numRef>
                </c:val>
              </c15:ser>
            </c15:filteredBarSeries>
            <c15:filteredBarSeries>
              <c15:ser>
                <c:idx val="1"/>
                <c:order val="1"/>
                <c:tx>
                  <c:strRef>
                    <c:extLst>
                      <c:ext uri="{02D57815-91ED-43cb-92C2-25804820EDAC}">
                        <c15:formulaRef>
                          <c15:sqref>'[CoPQ type analysis (1).xlsx]Current month'!$AO$78</c15:sqref>
                        </c15:formulaRef>
                      </c:ext>
                    </c:extLst>
                    <c:strCache>
                      <c:ptCount val="1"/>
                      <c:pt idx="0">
                        <c:v>Working hours</c:v>
                      </c:pt>
                    </c:strCache>
                  </c:strRef>
                </c:tx>
                <c:spPr>
                  <a:solidFill>
                    <a:srgbClr val="7030A0"/>
                  </a:solidFill>
                  <a:ln>
                    <a:noFill/>
                  </a:ln>
                  <a:effectLst/>
                </c:spPr>
                <c:invertIfNegative val="0"/>
                <c:dLbls>
                  <c:dLbl>
                    <c:idx val="0"/>
                    <c:layout>
                      <c:manualLayout>
                        <c:x val="-1.51563504857381e-17"/>
                        <c:y val="-0.0443687664041995"/>
                      </c:manualLayout>
                    </c:layout>
                    <c:dLblPos val="ctr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xmlns:c15="http://schemas.microsoft.com/office/drawing/2012/chart" uri="{CE6537A1-D6FC-4f65-9D91-7224C49458BB}">
                        <c15:layout/>
                      </c:ext>
                    </c:extLst>
                  </c:dLbl>
                  <c:dLbl>
                    <c:idx val="1"/>
                    <c:layout>
                      <c:manualLayout>
                        <c:x val="0.0330687830687831"/>
                        <c:y val="-0.0499391951006124"/>
                      </c:manualLayout>
                    </c:layout>
                    <c:dLblPos val="ctr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xmlns:c15="http://schemas.microsoft.com/office/drawing/2012/chart" uri="{CE6537A1-D6FC-4f65-9D91-7224C49458BB}">
                        <c15:layout/>
                      </c:ext>
                    </c:extLst>
                  </c:dLbl>
                  <c:dLbl>
                    <c:idx val="2"/>
                    <c:layout>
                      <c:manualLayout>
                        <c:x val="0"/>
                        <c:y val="-0.0388328958880141"/>
                      </c:manualLayout>
                    </c:layout>
                    <c:dLblPos val="ctr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xmlns:c15="http://schemas.microsoft.com/office/drawing/2012/chart" uri="{CE6537A1-D6FC-4f65-9D91-7224C49458BB}">
                        <c15:layout/>
                      </c:ext>
                    </c:extLst>
                  </c:dLbl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lang="en-US" sz="900" b="1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</a:p>
                  </c:txPr>
                  <c:dLblPos val="inBase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xmlns:c15="http://schemas.microsoft.com/office/drawing/2012/chart" uri="{CE6537A1-D6FC-4f65-9D91-7224C49458BB}">
                      <c15:layout/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ullRef>
                          <c15:sqref/>
                        </c15:fullRef>
                        <c15:formulaRef>
                          <c15:sqref>'[CoPQ type analysis (1).xlsx]Current month'!$AM$79:$AM$81</c15:sqref>
                        </c15:formulaRef>
                      </c:ext>
                    </c:extLst>
                    <c:strCache>
                      <c:ptCount val="3"/>
                      <c:pt idx="0">
                        <c:v>BENASSI JDI</c:v>
                      </c:pt>
                      <c:pt idx="1">
                        <c:v>NIKE AIR MAX EXCEE</c:v>
                      </c:pt>
                      <c:pt idx="2">
                        <c:v>NIKE DUNK LOW RETRO SE - FQ8249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{24,6,3}</c15:sqref>
                        </c15:formulaRef>
                      </c:ext>
                    </c:extLst>
                    <c:numCache>
                      <c:formatCode>General</c:formatCode>
                      <c:ptCount val="3"/>
                      <c:pt idx="0">
                        <c:v>24</c:v>
                      </c:pt>
                      <c:pt idx="1">
                        <c:v>6</c:v>
                      </c:pt>
                      <c:pt idx="2">
                        <c:v>3</c:v>
                      </c:pt>
                    </c:numCache>
                  </c:numRef>
                </c:val>
              </c15:ser>
            </c15:filteredBarSeries>
          </c:ext>
        </c:extLst>
      </c:barChart>
      <c:catAx>
        <c:axId val="6027652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602752208"/>
        <c:crosses val="autoZero"/>
        <c:auto val="1"/>
        <c:lblAlgn val="ctr"/>
        <c:lblOffset val="100"/>
        <c:noMultiLvlLbl val="0"/>
      </c:catAx>
      <c:valAx>
        <c:axId val="602752208"/>
        <c:scaling>
          <c:orientation val="minMax"/>
          <c:max val="500"/>
          <c:min val="0"/>
        </c:scaling>
        <c:delete val="0"/>
        <c:axPos val="l"/>
        <c:numFmt formatCode="&quot;$&quot;#,##0.00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60276526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"/>
          <c:y val="0.00278241513633834"/>
          <c:w val="0.341910906969962"/>
          <c:h val="0.08033027121609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7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3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0271238642246032"/>
          <c:y val="0.306783817902173"/>
          <c:w val="0.949330045339972"/>
          <c:h val="0.604848240871808"/>
        </c:manualLayout>
      </c:layout>
      <c:barChart>
        <c:barDir val="col"/>
        <c:grouping val="clustered"/>
        <c:varyColors val="0"/>
        <c:ser>
          <c:idx val="2"/>
          <c:order val="2"/>
          <c:tx>
            <c:strRef>
              <c:f>'[CoPQ type analysis (1).xlsx]Current month'!$R$78</c:f>
              <c:strCache>
                <c:ptCount val="1"/>
                <c:pt idx="0">
                  <c:v>Ttl cost ($)</c:v>
                </c:pt>
              </c:strCache>
            </c:strRef>
          </c:tx>
          <c:spPr>
            <a:solidFill>
              <a:srgbClr val="33CCFF"/>
            </a:solidFill>
            <a:ln>
              <a:solidFill>
                <a:srgbClr val="33CCFF"/>
              </a:solidFill>
            </a:ln>
            <a:effectLst/>
          </c:spPr>
          <c:invertIfNegative val="0"/>
          <c:dLbls>
            <c:dLbl>
              <c:idx val="0"/>
              <c:layout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06640237859267"/>
                      <c:h val="0.12520144484579"/>
                    </c:manualLayout>
                  </c15:layout>
                </c:ext>
              </c:extLst>
            </c:dLbl>
            <c:dLbl>
              <c:idx val="1"/>
              <c:layout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47175421209118"/>
                      <c:h val="0.12520144484579"/>
                    </c:manualLayout>
                  </c15:layout>
                </c:ext>
              </c:extLst>
            </c:dLbl>
            <c:dLbl>
              <c:idx val="2"/>
              <c:layout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70851054420972"/>
                      <c:h val="0.12520144484579"/>
                    </c:manualLayout>
                  </c15:layout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9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'[CoPQ type analysis (1).xlsx]Current month'!$O$79:$O$81</c:f>
              <c:strCache>
                <c:ptCount val="3"/>
                <c:pt idx="0">
                  <c:v>NIKE EBERNON LOW                        </c:v>
                </c:pt>
                <c:pt idx="1">
                  <c:v>NIKE EBERNON LOW PREM</c:v>
                </c:pt>
                <c:pt idx="2">
                  <c:v>NIKE INITIATOR</c:v>
                </c:pt>
              </c:strCache>
            </c:strRef>
          </c:cat>
          <c:val>
            <c:numRef>
              <c:f>'[CoPQ type analysis (1).xlsx]Current month'!$R$79:$R$81</c:f>
              <c:numCache>
                <c:formatCode>"$"#,##0.00</c:formatCode>
                <c:ptCount val="3"/>
                <c:pt idx="0">
                  <c:v>533.88</c:v>
                </c:pt>
                <c:pt idx="1">
                  <c:v>465.71</c:v>
                </c:pt>
                <c:pt idx="2">
                  <c:v>322.64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1034067600"/>
        <c:axId val="-1034045840"/>
        <c:extLst>
          <c:ext xmlns:c15="http://schemas.microsoft.com/office/drawing/2012/chart" uri="{02D57815-91ED-43cb-92C2-25804820EDAC}">
            <c15:filteredBa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'[CoPQ type analysis (1).xlsx]Current month'!$P$78</c15:sqref>
                        </c15:formulaRef>
                      </c:ext>
                    </c:extLst>
                    <c:strCache>
                      <c:ptCount val="1"/>
                      <c:pt idx="0">
                        <c:v>Defective Qty(Pair)</c:v>
                      </c:pt>
                    </c:strCache>
                  </c:strRef>
                </c:tx>
                <c:spPr>
                  <a:solidFill>
                    <a:srgbClr val="33CCFF"/>
                  </a:solidFill>
                  <a:ln>
                    <a:noFill/>
                  </a:ln>
                  <a:effectLst/>
                </c:spPr>
                <c:invertIfNegative val="0"/>
                <c:dLbls>
                  <c:dLbl>
                    <c:idx val="0"/>
                    <c:layout/>
                    <c:dLblPos val="outEnd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xmlns:c15="http://schemas.microsoft.com/office/drawing/2012/chart" uri="{CE6537A1-D6FC-4f65-9D91-7224C49458BB}">
                        <c15:layout>
                          <c:manualLayout>
                            <c:w val="0.261380905186653"/>
                            <c:h val="0.138760766879689"/>
                          </c:manualLayout>
                        </c15:layout>
                      </c:ext>
                    </c:extLst>
                  </c:dLbl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0" vertOverflow="ellipsis" vert="horz" wrap="square" lIns="38100" tIns="19050" rIns="38100" bIns="19050" anchor="ctr" anchorCtr="1"/>
                    <a:lstStyle/>
                    <a:p>
                      <a:pPr>
                        <a:defRPr lang="en-US" sz="900" b="1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xmlns:c15="http://schemas.microsoft.com/office/drawing/2012/chart" uri="{CE6537A1-D6FC-4f65-9D91-7224C49458BB}">
                      <c15:layout/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ullRef>
                          <c15:sqref/>
                        </c15:fullRef>
                        <c15:formulaRef>
                          <c15:sqref>'[CoPQ type analysis (1).xlsx]Current month'!$O$79:$O$81</c15:sqref>
                        </c15:formulaRef>
                      </c:ext>
                    </c:extLst>
                    <c:strCache>
                      <c:ptCount val="3"/>
                      <c:pt idx="0">
                        <c:v>NIKE EBERNON LOW                        </c:v>
                      </c:pt>
                      <c:pt idx="1">
                        <c:v>NIKE EBERNON LOW PREM</c:v>
                      </c:pt>
                      <c:pt idx="2">
                        <c:v>NIKE INITIATOR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{8338,8002,7577}</c15:sqref>
                        </c15:formulaRef>
                      </c:ext>
                    </c:extLst>
                    <c:numCache>
                      <c:formatCode>#,##0</c:formatCode>
                      <c:ptCount val="3"/>
                      <c:pt idx="0">
                        <c:v>8338</c:v>
                      </c:pt>
                      <c:pt idx="1">
                        <c:v>8002</c:v>
                      </c:pt>
                      <c:pt idx="2">
                        <c:v>7577</c:v>
                      </c:pt>
                    </c:numCache>
                  </c:numRef>
                </c:val>
              </c15:ser>
            </c15:filteredBarSeries>
            <c15:filteredBarSeries>
              <c15:ser>
                <c:idx val="1"/>
                <c:order val="1"/>
                <c:tx>
                  <c:strRef>
                    <c:extLst>
                      <c:ext uri="{02D57815-91ED-43cb-92C2-25804820EDAC}">
                        <c15:formulaRef>
                          <c15:sqref>'[CoPQ type analysis (1).xlsx]Current month'!$Q$78</c15:sqref>
                        </c15:formulaRef>
                      </c:ext>
                    </c:extLst>
                    <c:strCache>
                      <c:ptCount val="1"/>
                      <c:pt idx="0">
                        <c:v>Working hours</c:v>
                      </c:pt>
                    </c:strCache>
                  </c:strRef>
                </c:tx>
                <c:spPr>
                  <a:solidFill>
                    <a:srgbClr val="7030A0"/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0" vertOverflow="ellipsis" vert="horz" wrap="square" lIns="38100" tIns="19050" rIns="38100" bIns="19050" anchor="ctr" anchorCtr="1"/>
                    <a:lstStyle/>
                    <a:p>
                      <a:pPr>
                        <a:defRPr lang="en-US" sz="900" b="1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xmlns:c15="http://schemas.microsoft.com/office/drawing/2012/chart" uri="{CE6537A1-D6FC-4f65-9D91-7224C49458BB}">
                      <c15:layout/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ullRef>
                          <c15:sqref/>
                        </c15:fullRef>
                        <c15:formulaRef>
                          <c15:sqref>'[CoPQ type analysis (1).xlsx]Current month'!$O$79:$O$81</c15:sqref>
                        </c15:formulaRef>
                      </c:ext>
                    </c:extLst>
                    <c:strCache>
                      <c:ptCount val="3"/>
                      <c:pt idx="0">
                        <c:v>NIKE EBERNON LOW                        </c:v>
                      </c:pt>
                      <c:pt idx="1">
                        <c:v>NIKE EBERNON LOW PREM</c:v>
                      </c:pt>
                      <c:pt idx="2">
                        <c:v>NIKE INITIATOR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{32.7,34.5,29}</c15:sqref>
                        </c15:formulaRef>
                      </c:ext>
                    </c:extLst>
                    <c:numCache>
                      <c:formatCode>General</c:formatCode>
                      <c:ptCount val="3"/>
                      <c:pt idx="0">
                        <c:v>32.7</c:v>
                      </c:pt>
                      <c:pt idx="1">
                        <c:v>34.5</c:v>
                      </c:pt>
                      <c:pt idx="2">
                        <c:v>29</c:v>
                      </c:pt>
                    </c:numCache>
                  </c:numRef>
                </c:val>
              </c15:ser>
            </c15:filteredBarSeries>
          </c:ext>
        </c:extLst>
      </c:barChart>
      <c:catAx>
        <c:axId val="-10340676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1034045840"/>
        <c:crosses val="autoZero"/>
        <c:auto val="1"/>
        <c:lblAlgn val="ctr"/>
        <c:lblOffset val="100"/>
        <c:noMultiLvlLbl val="0"/>
      </c:catAx>
      <c:valAx>
        <c:axId val="-1034045840"/>
        <c:scaling>
          <c:orientation val="minMax"/>
          <c:max val="3000"/>
          <c:min val="0"/>
        </c:scaling>
        <c:delete val="0"/>
        <c:axPos val="l"/>
        <c:numFmt formatCode="&quot;$&quot;#,##0.00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-103406760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0100233879051119"/>
          <c:y val="0.00834724540901502"/>
          <c:w val="0.324286669319952"/>
          <c:h val="0.080352591380370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7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3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17826334208224"/>
          <c:y val="0.207340467899896"/>
          <c:w val="0.706622342359296"/>
          <c:h val="0.573802311956541"/>
        </c:manualLayout>
      </c:layout>
      <c:pieChart>
        <c:varyColors val="1"/>
        <c:ser>
          <c:idx val="0"/>
          <c:order val="0"/>
          <c:tx>
            <c:strRef>
              <c:f>'[CoPQ type analysis (1).xlsx]Current month'!$R$69</c:f>
              <c:strCache>
                <c:ptCount val="1"/>
                <c:pt idx="0">
                  <c:v>Ttl cost ($)</c:v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rgbClr val="3366FF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rgbClr val="33CCFF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dLbl>
              <c:idx val="0"/>
              <c:layout>
                <c:manualLayout>
                  <c:x val="-7.89491928622334e-17"/>
                  <c:y val="-0.249658018111935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419269418794134"/>
                      <c:h val="0.198487724975547"/>
                    </c:manualLayout>
                  </c15:layout>
                </c:ext>
              </c:extLst>
            </c:dLbl>
            <c:dLbl>
              <c:idx val="1"/>
              <c:layout>
                <c:manualLayout>
                  <c:x val="0.114997083697871"/>
                  <c:y val="0.0946972182454466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03129825026624"/>
                      <c:h val="0.25880593917645"/>
                    </c:manualLayout>
                  </c15:layout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9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bestFit"/>
            <c:showLegendKey val="0"/>
            <c:showVal val="1"/>
            <c:showCatName val="1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'[CoPQ type analysis (1).xlsx]Current month'!$O$70:$O$71</c:f>
              <c:strCache>
                <c:ptCount val="2"/>
                <c:pt idx="0">
                  <c:v>Factory 3</c:v>
                </c:pt>
                <c:pt idx="1">
                  <c:v>Factory 1</c:v>
                </c:pt>
              </c:strCache>
            </c:strRef>
          </c:cat>
          <c:val>
            <c:numRef>
              <c:f>'[CoPQ type analysis (1).xlsx]Current month'!$R$70:$R$71</c:f>
              <c:numCache>
                <c:formatCode>"$"#,##0.00</c:formatCode>
                <c:ptCount val="2"/>
                <c:pt idx="0">
                  <c:v>1179.22</c:v>
                </c:pt>
                <c:pt idx="1">
                  <c:v>597.21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4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0374144510429754"/>
          <c:y val="0.445711297757689"/>
          <c:w val="0.960166896878227"/>
          <c:h val="0.463753054763681"/>
        </c:manualLayout>
      </c:layout>
      <c:barChart>
        <c:barDir val="col"/>
        <c:grouping val="clustered"/>
        <c:varyColors val="0"/>
        <c:ser>
          <c:idx val="2"/>
          <c:order val="2"/>
          <c:tx>
            <c:strRef>
              <c:f>'[CoPQ type analysis (1).xlsx]Current month'!$X$78</c:f>
              <c:strCache>
                <c:ptCount val="1"/>
                <c:pt idx="0">
                  <c:v>Ttl cost ($)</c:v>
                </c:pt>
              </c:strCache>
            </c:strRef>
          </c:tx>
          <c:spPr>
            <a:solidFill>
              <a:srgbClr val="33CCFF"/>
            </a:solidFill>
            <a:ln>
              <a:solidFill>
                <a:srgbClr val="33CCFF"/>
              </a:solidFill>
            </a:ln>
            <a:effectLst/>
          </c:spPr>
          <c:invertIfNegative val="0"/>
          <c:dLbls>
            <c:dLbl>
              <c:idx val="0"/>
              <c:layout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70650020464055"/>
                      <c:h val="0.138924349250046"/>
                    </c:manualLayout>
                  </c15:layout>
                </c:ext>
              </c:extLst>
            </c:dLbl>
            <c:dLbl>
              <c:idx val="1"/>
              <c:layout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05913445655765"/>
                      <c:h val="0.138858397365532"/>
                    </c:manualLayout>
                  </c15:layout>
                </c:ext>
              </c:extLst>
            </c:dLbl>
            <c:dLbl>
              <c:idx val="2"/>
              <c:layout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75157181169995"/>
                      <c:h val="0.138760766879689"/>
                    </c:manualLayout>
                  </c15:layout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9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'[CoPQ type analysis (1).xlsx]Current month'!$U$79:$U$81</c:f>
              <c:strCache>
                <c:ptCount val="3"/>
                <c:pt idx="0">
                  <c:v>JORDAN 1 LOW ALT (PS)</c:v>
                </c:pt>
                <c:pt idx="1">
                  <c:v>AIR JORDAN 1 LOW</c:v>
                </c:pt>
                <c:pt idx="2">
                  <c:v>W NIKE COURT VISION LO NN</c:v>
                </c:pt>
              </c:strCache>
            </c:strRef>
          </c:cat>
          <c:val>
            <c:numRef>
              <c:f>'[CoPQ type analysis (1).xlsx]Current month'!$X$79:$X$81</c:f>
              <c:numCache>
                <c:formatCode>"$"#,##0.00</c:formatCode>
                <c:ptCount val="3"/>
                <c:pt idx="0">
                  <c:v>442.38</c:v>
                </c:pt>
                <c:pt idx="1">
                  <c:v>274.05</c:v>
                </c:pt>
                <c:pt idx="2">
                  <c:v>253.75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1034056176"/>
        <c:axId val="-1034055632"/>
        <c:extLst>
          <c:ext xmlns:c15="http://schemas.microsoft.com/office/drawing/2012/chart" uri="{02D57815-91ED-43cb-92C2-25804820EDAC}">
            <c15:filteredBa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'[CoPQ type analysis (1).xlsx]Current month'!$V$78</c15:sqref>
                        </c15:formulaRef>
                      </c:ext>
                    </c:extLst>
                    <c:strCache>
                      <c:ptCount val="1"/>
                      <c:pt idx="0">
                        <c:v>Defective Qty(Pair)</c:v>
                      </c:pt>
                    </c:strCache>
                  </c:strRef>
                </c:tx>
                <c:spPr>
                  <a:solidFill>
                    <a:srgbClr val="33CCFF"/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lang="en-US" sz="900" b="1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</a:p>
                  </c:txPr>
                  <c:dLblPos val="ctr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xmlns:c15="http://schemas.microsoft.com/office/drawing/2012/chart" uri="{CE6537A1-D6FC-4f65-9D91-7224C49458BB}">
                      <c15:layout/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ullRef>
                          <c15:sqref/>
                        </c15:fullRef>
                        <c15:formulaRef>
                          <c15:sqref>'[CoPQ type analysis (1).xlsx]Current month'!$U$79:$U$81</c15:sqref>
                        </c15:formulaRef>
                      </c:ext>
                    </c:extLst>
                    <c:strCache>
                      <c:ptCount val="3"/>
                      <c:pt idx="0">
                        <c:v>JORDAN 1 LOW ALT (PS)</c:v>
                      </c:pt>
                      <c:pt idx="1">
                        <c:v>AIR JORDAN 1 LOW</c:v>
                      </c:pt>
                      <c:pt idx="2">
                        <c:v>W NIKE COURT VISION LO NN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{1780,7083,5707}</c15:sqref>
                        </c15:formulaRef>
                      </c:ext>
                    </c:extLst>
                    <c:numCache>
                      <c:formatCode>#,##0</c:formatCode>
                      <c:ptCount val="3"/>
                      <c:pt idx="0">
                        <c:v>1780</c:v>
                      </c:pt>
                      <c:pt idx="1">
                        <c:v>7083</c:v>
                      </c:pt>
                      <c:pt idx="2">
                        <c:v>5707</c:v>
                      </c:pt>
                    </c:numCache>
                  </c:numRef>
                </c:val>
              </c15:ser>
            </c15:filteredBarSeries>
            <c15:filteredBarSeries>
              <c15:ser>
                <c:idx val="1"/>
                <c:order val="1"/>
                <c:tx>
                  <c:strRef>
                    <c:extLst>
                      <c:ext uri="{02D57815-91ED-43cb-92C2-25804820EDAC}">
                        <c15:formulaRef>
                          <c15:sqref>'[CoPQ type analysis (1).xlsx]Current month'!$W$78</c15:sqref>
                        </c15:formulaRef>
                      </c:ext>
                    </c:extLst>
                    <c:strCache>
                      <c:ptCount val="1"/>
                      <c:pt idx="0">
                        <c:v>Working hours</c:v>
                      </c:pt>
                    </c:strCache>
                  </c:strRef>
                </c:tx>
                <c:spPr>
                  <a:solidFill>
                    <a:srgbClr val="7030A0"/>
                  </a:solidFill>
                  <a:ln>
                    <a:noFill/>
                  </a:ln>
                  <a:effectLst/>
                </c:spPr>
                <c:invertIfNegative val="0"/>
                <c:dLbls>
                  <c:dLbl>
                    <c:idx val="0"/>
                    <c:layout>
                      <c:manualLayout>
                        <c:x val="-0.00668106690851781"/>
                        <c:y val="-0.038767690874825"/>
                      </c:manualLayout>
                    </c:layout>
                    <c:dLblPos val="ctr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xmlns:c15="http://schemas.microsoft.com/office/drawing/2012/chart" uri="{CE6537A1-D6FC-4f65-9D91-7224C49458BB}">
                        <c15:layout/>
                      </c:ext>
                    </c:extLst>
                  </c:dLbl>
                  <c:dLbl>
                    <c:idx val="1"/>
                    <c:layout>
                      <c:manualLayout>
                        <c:x val="-1.22484811701163e-16"/>
                        <c:y val="-0.0277376445344364"/>
                      </c:manualLayout>
                    </c:layout>
                    <c:dLblPos val="ctr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xmlns:c15="http://schemas.microsoft.com/office/drawing/2012/chart" uri="{CE6537A1-D6FC-4f65-9D91-7224C49458BB}">
                        <c15:layout/>
                      </c:ext>
                    </c:extLst>
                  </c:dLbl>
                  <c:dLbl>
                    <c:idx val="2"/>
                    <c:layout>
                      <c:manualLayout>
                        <c:x val="0"/>
                        <c:y val="-0.0341973895658214"/>
                      </c:manualLayout>
                    </c:layout>
                    <c:dLblPos val="ctr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xmlns:c15="http://schemas.microsoft.com/office/drawing/2012/chart" uri="{CE6537A1-D6FC-4f65-9D91-7224C49458BB}">
                        <c15:layout/>
                      </c:ext>
                    </c:extLst>
                  </c:dLbl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lang="en-US" sz="900" b="1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</a:p>
                  </c:txPr>
                  <c:dLblPos val="inBase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xmlns:c15="http://schemas.microsoft.com/office/drawing/2012/chart" uri="{CE6537A1-D6FC-4f65-9D91-7224C49458BB}">
                      <c15:layout/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ullRef>
                          <c15:sqref/>
                        </c15:fullRef>
                        <c15:formulaRef>
                          <c15:sqref>'[CoPQ type analysis (1).xlsx]Current month'!$U$79:$U$81</c15:sqref>
                        </c15:formulaRef>
                      </c:ext>
                    </c:extLst>
                    <c:strCache>
                      <c:ptCount val="3"/>
                      <c:pt idx="0">
                        <c:v>JORDAN 1 LOW ALT (PS)</c:v>
                      </c:pt>
                      <c:pt idx="1">
                        <c:v>AIR JORDAN 1 LOW</c:v>
                      </c:pt>
                      <c:pt idx="2">
                        <c:v>W NIKE COURT VISION LO NN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{109,68,81}</c15:sqref>
                        </c15:formulaRef>
                      </c:ext>
                    </c:extLst>
                    <c:numCache>
                      <c:formatCode>General</c:formatCode>
                      <c:ptCount val="3"/>
                      <c:pt idx="0">
                        <c:v>109</c:v>
                      </c:pt>
                      <c:pt idx="1">
                        <c:v>68</c:v>
                      </c:pt>
                      <c:pt idx="2">
                        <c:v>81</c:v>
                      </c:pt>
                    </c:numCache>
                  </c:numRef>
                </c:val>
              </c15:ser>
            </c15:filteredBarSeries>
          </c:ext>
        </c:extLst>
      </c:barChart>
      <c:catAx>
        <c:axId val="-10340561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1034055632"/>
        <c:crosses val="autoZero"/>
        <c:auto val="1"/>
        <c:lblAlgn val="ctr"/>
        <c:lblOffset val="100"/>
        <c:noMultiLvlLbl val="0"/>
      </c:catAx>
      <c:valAx>
        <c:axId val="-1034055632"/>
        <c:scaling>
          <c:orientation val="minMax"/>
          <c:max val="3000"/>
          <c:min val="0"/>
        </c:scaling>
        <c:delete val="0"/>
        <c:axPos val="l"/>
        <c:numFmt formatCode="&quot;$&quot;#,##0.00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-10340561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0100233879051119"/>
          <c:y val="0.00834724540901502"/>
          <c:w val="0.324286669319952"/>
          <c:h val="0.080352591380370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7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4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17826334208224"/>
          <c:y val="0.207340467899896"/>
          <c:w val="0.706622342359296"/>
          <c:h val="0.573802311956541"/>
        </c:manualLayout>
      </c:layout>
      <c:pieChart>
        <c:varyColors val="1"/>
        <c:ser>
          <c:idx val="0"/>
          <c:order val="0"/>
          <c:tx>
            <c:strRef>
              <c:f>'[CoPQ type analysis (1).xlsx]Current month'!$X$69</c:f>
              <c:strCache>
                <c:ptCount val="1"/>
                <c:pt idx="0">
                  <c:v>Ttl cost ($)</c:v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rgbClr val="3366FF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rgbClr val="33CCFF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rgbClr val="DBDBDB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dLbl>
              <c:idx val="0"/>
              <c:layout>
                <c:manualLayout>
                  <c:x val="-2.60384118651835e-7"/>
                  <c:y val="-0.00968327411867959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419269418794134"/>
                      <c:h val="0.198487724975547"/>
                    </c:manualLayout>
                  </c15:layout>
                </c:ext>
              </c:extLst>
            </c:dLbl>
            <c:dLbl>
              <c:idx val="1"/>
              <c:layout>
                <c:manualLayout>
                  <c:x val="0.121610840311628"/>
                  <c:y val="-0.167104167236437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03129825026624"/>
                      <c:h val="0.25880593917645"/>
                    </c:manualLayout>
                  </c15:layout>
                </c:ext>
              </c:extLst>
            </c:dLbl>
            <c:dLbl>
              <c:idx val="2"/>
              <c:layout>
                <c:manualLayout>
                  <c:x val="0.103467847769029"/>
                  <c:y val="0.0678101596823468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429657794676806"/>
                      <c:h val="0.198487724975547"/>
                    </c:manualLayout>
                  </c15:layout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9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bestFit"/>
            <c:showLegendKey val="0"/>
            <c:showVal val="1"/>
            <c:showCatName val="1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'[CoPQ type analysis (1).xlsx]Current month'!$U$70:$U$72</c:f>
              <c:strCache>
                <c:ptCount val="3"/>
                <c:pt idx="0">
                  <c:v>Factory 1</c:v>
                </c:pt>
                <c:pt idx="1">
                  <c:v>Factory 2</c:v>
                </c:pt>
                <c:pt idx="2">
                  <c:v>Factory 3</c:v>
                </c:pt>
              </c:strCache>
            </c:strRef>
          </c:cat>
          <c:val>
            <c:numRef>
              <c:f>'[CoPQ type analysis (1).xlsx]Current month'!$X$70:$X$72</c:f>
              <c:numCache>
                <c:formatCode>"$"#,##0.00</c:formatCode>
                <c:ptCount val="3"/>
                <c:pt idx="0">
                  <c:v>1175.21</c:v>
                </c:pt>
                <c:pt idx="1">
                  <c:v>885.08</c:v>
                </c:pt>
                <c:pt idx="2">
                  <c:v>716.59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4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169615440612922"/>
          <c:y val="0.213354605384973"/>
          <c:w val="0.706622342359296"/>
          <c:h val="0.573802311956541"/>
        </c:manualLayout>
      </c:layout>
      <c:pieChart>
        <c:varyColors val="1"/>
        <c:ser>
          <c:idx val="0"/>
          <c:order val="0"/>
          <c:tx>
            <c:strRef>
              <c:f>'[CoPQ type analysis (1).xlsx]Current month'!$AD$69</c:f>
              <c:strCache>
                <c:ptCount val="1"/>
                <c:pt idx="0">
                  <c:v>Ttl cost ($)</c:v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rgbClr val="3366FF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rgbClr val="33CCFF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dLbl>
              <c:idx val="0"/>
              <c:layout>
                <c:manualLayout>
                  <c:x val="-0.0682029943146584"/>
                  <c:y val="-0.155728207740849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12626565292839"/>
                      <c:h val="0.211750493071774"/>
                    </c:manualLayout>
                  </c15:layout>
                </c:ext>
              </c:extLst>
            </c:dLbl>
            <c:dLbl>
              <c:idx val="1"/>
              <c:layout>
                <c:manualLayout>
                  <c:x val="0.117342115822551"/>
                  <c:y val="0.0368643661694754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96039542045993"/>
                      <c:h val="0.211750493071774"/>
                    </c:manualLayout>
                  </c15:layout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9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bestFit"/>
            <c:showLegendKey val="0"/>
            <c:showVal val="1"/>
            <c:showCatName val="1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'[CoPQ type analysis (1).xlsx]Current month'!$AA$70:$AA$71</c:f>
              <c:strCache>
                <c:ptCount val="2"/>
                <c:pt idx="0">
                  <c:v>IP</c:v>
                </c:pt>
                <c:pt idx="1">
                  <c:v>OS</c:v>
                </c:pt>
              </c:strCache>
            </c:strRef>
          </c:cat>
          <c:val>
            <c:numRef>
              <c:f>'[CoPQ type analysis (1).xlsx]Current month'!$AD$70:$AD$71</c:f>
              <c:numCache>
                <c:formatCode>"$"#,##0.00</c:formatCode>
                <c:ptCount val="2"/>
                <c:pt idx="0">
                  <c:v>314.51</c:v>
                </c:pt>
                <c:pt idx="1">
                  <c:v>287.12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en-US" b="1"/>
      </a:pPr>
    </a:p>
  </c:txPr>
  <c:externalData r:id="rId1">
    <c:autoUpdate val="0"/>
  </c:externalData>
</c:chartSpace>
</file>

<file path=ppt/charts/chart4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0363267091613548"/>
          <c:y val="0.2458552055993"/>
          <c:w val="0.972430340671284"/>
          <c:h val="0.575100612423447"/>
        </c:manualLayout>
      </c:layout>
      <c:barChart>
        <c:barDir val="col"/>
        <c:grouping val="clustered"/>
        <c:varyColors val="0"/>
        <c:ser>
          <c:idx val="2"/>
          <c:order val="2"/>
          <c:tx>
            <c:strRef>
              <c:f>'[CoPQ type analysis (1).xlsx]Current month'!$AD$78</c:f>
              <c:strCache>
                <c:ptCount val="1"/>
                <c:pt idx="0">
                  <c:v>Ttl cost ($)</c:v>
                </c:pt>
              </c:strCache>
            </c:strRef>
          </c:tx>
          <c:spPr>
            <a:solidFill>
              <a:srgbClr val="33CCFF"/>
            </a:solidFill>
            <a:ln>
              <a:solidFill>
                <a:srgbClr val="33CCFF"/>
              </a:solidFill>
            </a:ln>
            <a:effectLst/>
          </c:spPr>
          <c:invertIfNegative val="0"/>
          <c:dLbls>
            <c:dLbl>
              <c:idx val="0"/>
              <c:layout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34193121693122"/>
                      <c:h val="0.125166666666667"/>
                    </c:manualLayout>
                  </c15:layout>
                </c:ext>
              </c:extLst>
            </c:dLbl>
            <c:dLbl>
              <c:idx val="1"/>
              <c:layout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27579365079365"/>
                      <c:h val="0.125166666666667"/>
                    </c:manualLayout>
                  </c15:layout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8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'[CoPQ type analysis (1).xlsx]Current month'!$AA$79:$AA$81</c:f>
              <c:strCache>
                <c:ptCount val="3"/>
                <c:pt idx="0">
                  <c:v>NIKE EBERNON MW</c:v>
                </c:pt>
                <c:pt idx="1">
                  <c:v>DOWN SHIFTER (Xcceleration)</c:v>
                </c:pt>
                <c:pt idx="2">
                  <c:v>JORDAN COURT CONNECT LOW (PS) </c:v>
                </c:pt>
              </c:strCache>
            </c:strRef>
          </c:cat>
          <c:val>
            <c:numRef>
              <c:f>'[CoPQ type analysis (1).xlsx]Current month'!$AD$79:$AD$81</c:f>
              <c:numCache>
                <c:formatCode>"$"#,##0.00</c:formatCode>
                <c:ptCount val="3"/>
                <c:pt idx="0">
                  <c:v>222.18</c:v>
                </c:pt>
                <c:pt idx="1">
                  <c:v>141.02</c:v>
                </c:pt>
                <c:pt idx="2">
                  <c:v>106.53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1034069776"/>
        <c:axId val="-1034071952"/>
        <c:extLst>
          <c:ext xmlns:c15="http://schemas.microsoft.com/office/drawing/2012/chart" uri="{02D57815-91ED-43cb-92C2-25804820EDAC}">
            <c15:filteredBa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'[CoPQ type analysis (1).xlsx]Current month'!$AB$78</c15:sqref>
                        </c15:formulaRef>
                      </c:ext>
                    </c:extLst>
                    <c:strCache>
                      <c:ptCount val="1"/>
                      <c:pt idx="0">
                        <c:v>Defective Qty(Pair)</c:v>
                      </c:pt>
                    </c:strCache>
                  </c:strRef>
                </c:tx>
                <c:spPr>
                  <a:solidFill>
                    <a:srgbClr val="33CCFF"/>
                  </a:solidFill>
                  <a:ln>
                    <a:noFill/>
                  </a:ln>
                  <a:effectLst/>
                </c:spPr>
                <c:invertIfNegative val="0"/>
                <c:dLbls>
                  <c:dLbl>
                    <c:idx val="0"/>
                    <c:layout/>
                    <c:dLblPos val="ctr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xmlns:c15="http://schemas.microsoft.com/office/drawing/2012/chart" uri="{CE6537A1-D6FC-4f65-9D91-7224C49458BB}">
                        <c15:layout>
                          <c:manualLayout>
                            <c:w val="0.241798941798942"/>
                            <c:h val="0.138722222222222"/>
                          </c:manualLayout>
                        </c15:layout>
                      </c:ext>
                    </c:extLst>
                  </c:dLbl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lang="en-US" sz="900" b="1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</a:p>
                  </c:txPr>
                  <c:dLblPos val="ctr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xmlns:c15="http://schemas.microsoft.com/office/drawing/2012/chart" uri="{CE6537A1-D6FC-4f65-9D91-7224C49458BB}">
                      <c15:layout/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ullRef>
                          <c15:sqref/>
                        </c15:fullRef>
                        <c15:formulaRef>
                          <c15:sqref>'[CoPQ type analysis (1).xlsx]Current month'!$AA$79:$AA$81</c15:sqref>
                        </c15:formulaRef>
                      </c:ext>
                    </c:extLst>
                    <c:strCache>
                      <c:ptCount val="3"/>
                      <c:pt idx="0">
                        <c:v>NIKE EBERNON MW</c:v>
                      </c:pt>
                      <c:pt idx="1">
                        <c:v>DOWN SHIFTER (Xcceleration)</c:v>
                      </c:pt>
                      <c:pt idx="2">
                        <c:v>JORDAN COURT CONNECT LOW (PS) 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{20486,11475,9615}</c15:sqref>
                        </c15:formulaRef>
                      </c:ext>
                    </c:extLst>
                    <c:numCache>
                      <c:formatCode>#,##0</c:formatCode>
                      <c:ptCount val="3"/>
                      <c:pt idx="0">
                        <c:v>20486</c:v>
                      </c:pt>
                      <c:pt idx="1">
                        <c:v>11475</c:v>
                      </c:pt>
                      <c:pt idx="2">
                        <c:v>9615</c:v>
                      </c:pt>
                    </c:numCache>
                  </c:numRef>
                </c:val>
              </c15:ser>
            </c15:filteredBarSeries>
            <c15:filteredBarSeries>
              <c15:ser>
                <c:idx val="1"/>
                <c:order val="1"/>
                <c:tx>
                  <c:strRef>
                    <c:extLst>
                      <c:ext uri="{02D57815-91ED-43cb-92C2-25804820EDAC}">
                        <c15:formulaRef>
                          <c15:sqref>'[CoPQ type analysis (1).xlsx]Current month'!$AC$78</c15:sqref>
                        </c15:formulaRef>
                      </c:ext>
                    </c:extLst>
                    <c:strCache>
                      <c:ptCount val="1"/>
                      <c:pt idx="0">
                        <c:v>Working hours</c:v>
                      </c:pt>
                    </c:strCache>
                  </c:strRef>
                </c:tx>
                <c:spPr>
                  <a:solidFill>
                    <a:srgbClr val="7030A0"/>
                  </a:solidFill>
                  <a:ln>
                    <a:noFill/>
                  </a:ln>
                  <a:effectLst/>
                </c:spPr>
                <c:invertIfNegative val="0"/>
                <c:dLbls>
                  <c:dLbl>
                    <c:idx val="0"/>
                    <c:layout>
                      <c:manualLayout>
                        <c:x val="-0.0198412698412699"/>
                        <c:y val="-0.0220835520559931"/>
                      </c:manualLayout>
                    </c:layout>
                    <c:dLblPos val="ctr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xmlns:c15="http://schemas.microsoft.com/office/drawing/2012/chart" uri="{CE6537A1-D6FC-4f65-9D91-7224C49458BB}">
                        <c15:layout/>
                      </c:ext>
                    </c:extLst>
                  </c:dLbl>
                  <c:dLbl>
                    <c:idx val="2"/>
                    <c:layout>
                      <c:manualLayout>
                        <c:x val="-1.27336948206098e-16"/>
                        <c:y val="-0.0410158663389114"/>
                      </c:manualLayout>
                    </c:layout>
                    <c:dLblPos val="ctr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xmlns:c15="http://schemas.microsoft.com/office/drawing/2012/chart" uri="{CE6537A1-D6FC-4f65-9D91-7224C49458BB}">
                        <c15:layout/>
                      </c:ext>
                    </c:extLst>
                  </c:dLbl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lang="en-US" sz="900" b="1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</a:p>
                  </c:txPr>
                  <c:dLblPos val="inBase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xmlns:c15="http://schemas.microsoft.com/office/drawing/2012/chart" uri="{CE6537A1-D6FC-4f65-9D91-7224C49458BB}">
                      <c15:layout/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ullRef>
                          <c15:sqref/>
                        </c15:fullRef>
                        <c15:formulaRef>
                          <c15:sqref>'[CoPQ type analysis (1).xlsx]Current month'!$AA$79:$AA$81</c15:sqref>
                        </c15:formulaRef>
                      </c:ext>
                    </c:extLst>
                    <c:strCache>
                      <c:ptCount val="3"/>
                      <c:pt idx="0">
                        <c:v>NIKE EBERNON MW</c:v>
                      </c:pt>
                      <c:pt idx="1">
                        <c:v>DOWN SHIFTER (Xcceleration)</c:v>
                      </c:pt>
                      <c:pt idx="2">
                        <c:v>JORDAN COURT CONNECT LOW (PS) 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{23.5,17,11.5}</c15:sqref>
                        </c15:formulaRef>
                      </c:ext>
                    </c:extLst>
                    <c:numCache>
                      <c:formatCode>General</c:formatCode>
                      <c:ptCount val="3"/>
                      <c:pt idx="0">
                        <c:v>23.5</c:v>
                      </c:pt>
                      <c:pt idx="1">
                        <c:v>17</c:v>
                      </c:pt>
                      <c:pt idx="2">
                        <c:v>11.5</c:v>
                      </c:pt>
                    </c:numCache>
                  </c:numRef>
                </c:val>
              </c15:ser>
            </c15:filteredBarSeries>
          </c:ext>
        </c:extLst>
      </c:barChart>
      <c:catAx>
        <c:axId val="-10340697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7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1034071952"/>
        <c:crosses val="autoZero"/>
        <c:auto val="1"/>
        <c:lblAlgn val="ctr"/>
        <c:lblOffset val="100"/>
        <c:noMultiLvlLbl val="0"/>
      </c:catAx>
      <c:valAx>
        <c:axId val="-1034071952"/>
        <c:scaling>
          <c:orientation val="minMax"/>
          <c:max val="1500"/>
          <c:min val="0"/>
        </c:scaling>
        <c:delete val="0"/>
        <c:axPos val="l"/>
        <c:numFmt formatCode="&quot;$&quot;#,##0.00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-1034069776"/>
        <c:crosses val="autoZero"/>
        <c:crossBetween val="between"/>
        <c:majorUnit val="500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"/>
          <c:y val="0.00278241513633834"/>
          <c:w val="0.341910906969962"/>
          <c:h val="0.08033027121609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7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4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00856195944237791"/>
          <c:y val="0.25651798397138"/>
          <c:w val="0.972430340671284"/>
          <c:h val="0.430581958157235"/>
        </c:manualLayout>
      </c:layout>
      <c:barChart>
        <c:barDir val="col"/>
        <c:grouping val="clustered"/>
        <c:varyColors val="0"/>
        <c:ser>
          <c:idx val="2"/>
          <c:order val="2"/>
          <c:tx>
            <c:strRef>
              <c:f>'[CoPQ type analysis (1).xlsx]Current month'!$F$95</c:f>
              <c:strCache>
                <c:ptCount val="1"/>
                <c:pt idx="0">
                  <c:v>Ttl cost ($)</c:v>
                </c:pt>
              </c:strCache>
            </c:strRef>
          </c:tx>
          <c:spPr>
            <a:solidFill>
              <a:srgbClr val="33CCFF"/>
            </a:solidFill>
            <a:ln>
              <a:solidFill>
                <a:srgbClr val="33CCFF"/>
              </a:solidFill>
            </a:ln>
            <a:effectLst/>
          </c:spPr>
          <c:invertIfNegative val="0"/>
          <c:dLbls>
            <c:dLbl>
              <c:idx val="0"/>
              <c:layout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52267432039375"/>
                      <c:h val="0.139031180400891"/>
                    </c:manualLayout>
                  </c15:layout>
                </c:ext>
              </c:extLst>
            </c:dLbl>
            <c:dLbl>
              <c:idx val="1"/>
              <c:layout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06722163627276"/>
                      <c:h val="0.189226277116251"/>
                    </c:manualLayout>
                  </c15:layout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9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'[CoPQ type analysis (1).xlsx]Current month'!$C$96:$C$98</c:f>
              <c:strCache>
                <c:ptCount val="3"/>
                <c:pt idx="0">
                  <c:v>JORDAN MVP 92 (PS) </c:v>
                </c:pt>
                <c:pt idx="1">
                  <c:v>JORDAN MVP 92 (TD) </c:v>
                </c:pt>
                <c:pt idx="2">
                  <c:v>JORDAN TRUE FLIGHT GS</c:v>
                </c:pt>
              </c:strCache>
            </c:strRef>
          </c:cat>
          <c:val>
            <c:numRef>
              <c:f>'[CoPQ type analysis (1).xlsx]Current month'!$F$96:$F$98</c:f>
              <c:numCache>
                <c:formatCode>"$"#,##0.00</c:formatCode>
                <c:ptCount val="3"/>
                <c:pt idx="0">
                  <c:v>166.55</c:v>
                </c:pt>
                <c:pt idx="1">
                  <c:v>275.69</c:v>
                </c:pt>
                <c:pt idx="2">
                  <c:v>425.83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1034037680"/>
        <c:axId val="-1034061616"/>
        <c:extLst>
          <c:ext xmlns:c15="http://schemas.microsoft.com/office/drawing/2012/chart" uri="{02D57815-91ED-43cb-92C2-25804820EDAC}">
            <c15:filteredBa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'[CoPQ type analysis (1).xlsx]Current month'!$D$95</c15:sqref>
                        </c15:formulaRef>
                      </c:ext>
                    </c:extLst>
                    <c:strCache>
                      <c:ptCount val="1"/>
                      <c:pt idx="0">
                        <c:v>Defective Qty(Pair)</c:v>
                      </c:pt>
                    </c:strCache>
                  </c:strRef>
                </c:tx>
                <c:spPr>
                  <a:solidFill>
                    <a:srgbClr val="33CCFF"/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0" vertOverflow="ellipsis" vert="horz" wrap="square" lIns="38100" tIns="19050" rIns="38100" bIns="19050" anchor="ctr" anchorCtr="1"/>
                    <a:lstStyle/>
                    <a:p>
                      <a:pPr>
                        <a:defRPr lang="en-US" sz="900" b="1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</a:p>
                  </c:txPr>
                  <c:dLblPos val="ctr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xmlns:c15="http://schemas.microsoft.com/office/drawing/2012/chart" uri="{CE6537A1-D6FC-4f65-9D91-7224C49458BB}">
                      <c15:layout/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ullRef>
                          <c15:sqref/>
                        </c15:fullRef>
                        <c15:formulaRef>
                          <c15:sqref>'[CoPQ type analysis (1).xlsx]Current month'!$C$96:$C$98</c15:sqref>
                        </c15:formulaRef>
                      </c:ext>
                    </c:extLst>
                    <c:strCache>
                      <c:ptCount val="3"/>
                      <c:pt idx="0">
                        <c:v>JORDAN MVP 92 (PS) </c:v>
                      </c:pt>
                      <c:pt idx="1">
                        <c:v>JORDAN MVP 92 (TD) </c:v>
                      </c:pt>
                      <c:pt idx="2">
                        <c:v>JORDAN TRUE FLIGHT GS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{6270,10480,11449}</c15:sqref>
                        </c15:formulaRef>
                      </c:ext>
                    </c:extLst>
                    <c:numCache>
                      <c:formatCode>#,##0</c:formatCode>
                      <c:ptCount val="3"/>
                      <c:pt idx="0">
                        <c:v>6270</c:v>
                      </c:pt>
                      <c:pt idx="1">
                        <c:v>10480</c:v>
                      </c:pt>
                      <c:pt idx="2">
                        <c:v>11449</c:v>
                      </c:pt>
                    </c:numCache>
                  </c:numRef>
                </c:val>
              </c15:ser>
            </c15:filteredBarSeries>
            <c15:filteredBarSeries>
              <c15:ser>
                <c:idx val="1"/>
                <c:order val="1"/>
                <c:tx>
                  <c:strRef>
                    <c:extLst>
                      <c:ext uri="{02D57815-91ED-43cb-92C2-25804820EDAC}">
                        <c15:formulaRef>
                          <c15:sqref>'[CoPQ type analysis (1).xlsx]Current month'!$E$95</c15:sqref>
                        </c15:formulaRef>
                      </c:ext>
                    </c:extLst>
                    <c:strCache>
                      <c:ptCount val="1"/>
                      <c:pt idx="0">
                        <c:v>Working hours</c:v>
                      </c:pt>
                    </c:strCache>
                  </c:strRef>
                </c:tx>
                <c:spPr>
                  <a:solidFill>
                    <a:srgbClr val="7030A0"/>
                  </a:solidFill>
                  <a:ln>
                    <a:noFill/>
                  </a:ln>
                  <a:effectLst/>
                </c:spPr>
                <c:invertIfNegative val="0"/>
                <c:dLbls>
                  <c:dLbl>
                    <c:idx val="0"/>
                    <c:layout>
                      <c:manualLayout>
                        <c:x val="0"/>
                        <c:y val="0.0338810655349596"/>
                      </c:manualLayout>
                    </c:layout>
                    <c:dLblPos val="ctr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xmlns:c15="http://schemas.microsoft.com/office/drawing/2012/chart" uri="{CE6537A1-D6FC-4f65-9D91-7224C49458BB}">
                        <c15:layout/>
                      </c:ext>
                    </c:extLst>
                  </c:dLbl>
                  <c:dLbl>
                    <c:idx val="1"/>
                    <c:layout>
                      <c:manualLayout>
                        <c:x val="0"/>
                        <c:y val="-0.0163000017536784"/>
                      </c:manualLayout>
                    </c:layout>
                    <c:dLblPos val="ctr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xmlns:c15="http://schemas.microsoft.com/office/drawing/2012/chart" uri="{CE6537A1-D6FC-4f65-9D91-7224C49458BB}">
                        <c15:layout/>
                      </c:ext>
                    </c:extLst>
                  </c:dLbl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0" vertOverflow="ellipsis" vert="horz" wrap="square" lIns="38100" tIns="19050" rIns="38100" bIns="19050" anchor="ctr" anchorCtr="1"/>
                    <a:lstStyle/>
                    <a:p>
                      <a:pPr>
                        <a:defRPr lang="en-US" sz="900" b="1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</a:p>
                  </c:txPr>
                  <c:dLblPos val="inBase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xmlns:c15="http://schemas.microsoft.com/office/drawing/2012/chart" uri="{CE6537A1-D6FC-4f65-9D91-7224C49458BB}">
                      <c15:layout/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ullRef>
                          <c15:sqref/>
                        </c15:fullRef>
                        <c15:formulaRef>
                          <c15:sqref>'[CoPQ type analysis (1).xlsx]Current month'!$C$96:$C$98</c15:sqref>
                        </c15:formulaRef>
                      </c:ext>
                    </c:extLst>
                    <c:strCache>
                      <c:ptCount val="3"/>
                      <c:pt idx="0">
                        <c:v>JORDAN MVP 92 (PS) </c:v>
                      </c:pt>
                      <c:pt idx="1">
                        <c:v>JORDAN MVP 92 (TD) </c:v>
                      </c:pt>
                      <c:pt idx="2">
                        <c:v>JORDAN TRUE FLIGHT GS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{37.1,53.5,58.5}</c15:sqref>
                        </c15:formulaRef>
                      </c:ext>
                    </c:extLst>
                    <c:numCache>
                      <c:formatCode>General</c:formatCode>
                      <c:ptCount val="3"/>
                      <c:pt idx="0">
                        <c:v>37.1</c:v>
                      </c:pt>
                      <c:pt idx="1">
                        <c:v>53.5</c:v>
                      </c:pt>
                      <c:pt idx="2">
                        <c:v>58.5</c:v>
                      </c:pt>
                    </c:numCache>
                  </c:numRef>
                </c:val>
              </c15:ser>
            </c15:filteredBarSeries>
          </c:ext>
        </c:extLst>
      </c:barChart>
      <c:catAx>
        <c:axId val="-10340376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vert="horz" wrap="square" anchor="ctr" anchorCtr="1"/>
          <a:lstStyle/>
          <a:p>
            <a:pPr>
              <a:defRPr lang="en-US" sz="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1034061616"/>
        <c:crosses val="autoZero"/>
        <c:auto val="1"/>
        <c:lblAlgn val="ctr"/>
        <c:lblOffset val="100"/>
        <c:noMultiLvlLbl val="0"/>
      </c:catAx>
      <c:valAx>
        <c:axId val="-1034061616"/>
        <c:scaling>
          <c:orientation val="minMax"/>
          <c:max val="3000"/>
          <c:min val="0"/>
        </c:scaling>
        <c:delete val="0"/>
        <c:axPos val="l"/>
        <c:numFmt formatCode="&quot;$&quot;#,##0.00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-10340376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000249728626942755"/>
          <c:y val="0.00218552163162232"/>
          <c:w val="0.2526341752664"/>
          <c:h val="0.080509180506111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7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4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156166196905995"/>
          <c:y val="0.189297899598727"/>
          <c:w val="0.706622342359296"/>
          <c:h val="0.573802311956541"/>
        </c:manualLayout>
      </c:layout>
      <c:pieChart>
        <c:varyColors val="1"/>
        <c:ser>
          <c:idx val="0"/>
          <c:order val="0"/>
          <c:tx>
            <c:strRef>
              <c:f>'[CoPQ type analysis (1).xlsx]Current month'!$F$87</c:f>
              <c:strCache>
                <c:ptCount val="1"/>
                <c:pt idx="0">
                  <c:v>Ttl cost ($)</c:v>
                </c:pt>
              </c:strCache>
            </c:strRef>
          </c:tx>
          <c:spPr>
            <a:ln w="19050">
              <a:noFill/>
            </a:ln>
          </c:spPr>
          <c:explosion val="0"/>
          <c:dPt>
            <c:idx val="0"/>
            <c:bubble3D val="0"/>
            <c:spPr>
              <a:solidFill>
                <a:srgbClr val="3366FF"/>
              </a:solidFill>
              <a:ln w="19050">
                <a:noFill/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noFill/>
              </a:ln>
              <a:effectLst/>
            </c:spPr>
          </c:dPt>
          <c:dLbls>
            <c:dLbl>
              <c:idx val="0"/>
              <c:layout>
                <c:manualLayout>
                  <c:x val="0.315588910761155"/>
                  <c:y val="-0.226371609798775"/>
                </c:manualLayout>
              </c:layout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lang="en-US" sz="10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74872665534805"/>
                      <c:h val="0.2191894127378"/>
                    </c:manualLayout>
                  </c15:layout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bestFit"/>
            <c:showLegendKey val="0"/>
            <c:showVal val="1"/>
            <c:showCatName val="1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'[CoPQ type analysis (1).xlsx]Current month'!$C$88:$C$89</c:f>
              <c:strCache>
                <c:ptCount val="2"/>
                <c:pt idx="0">
                  <c:v>OS</c:v>
                </c:pt>
              </c:strCache>
            </c:strRef>
          </c:cat>
          <c:val>
            <c:numRef>
              <c:f>'[CoPQ type analysis (1).xlsx]Current month'!$F$88:$F$89</c:f>
              <c:numCache>
                <c:formatCode>"$"#,##0.00</c:formatCode>
                <c:ptCount val="2"/>
                <c:pt idx="0">
                  <c:v>3070.46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6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4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156166196905995"/>
          <c:y val="0.189297899598727"/>
          <c:w val="0.706622342359296"/>
          <c:h val="0.573802311956541"/>
        </c:manualLayout>
      </c:layout>
      <c:pieChart>
        <c:varyColors val="1"/>
        <c:ser>
          <c:idx val="0"/>
          <c:order val="0"/>
          <c:tx>
            <c:strRef>
              <c:f>'[CoPQ type analysis (1).xlsx]Current month'!$L$87</c:f>
              <c:strCache>
                <c:ptCount val="1"/>
                <c:pt idx="0">
                  <c:v>Ttl cost ($)</c:v>
                </c:pt>
              </c:strCache>
            </c:strRef>
          </c:tx>
          <c:spPr>
            <a:ln w="19050">
              <a:noFill/>
            </a:ln>
          </c:spPr>
          <c:explosion val="0"/>
          <c:dPt>
            <c:idx val="0"/>
            <c:bubble3D val="0"/>
            <c:spPr>
              <a:solidFill>
                <a:srgbClr val="3366FF"/>
              </a:solidFill>
              <a:ln w="19050">
                <a:noFill/>
              </a:ln>
              <a:effectLst/>
            </c:spPr>
          </c:dPt>
          <c:dLbls>
            <c:dLbl>
              <c:idx val="0"/>
              <c:layout>
                <c:manualLayout>
                  <c:x val="-0.000679117147708042"/>
                  <c:y val="-0.408050730631376"/>
                </c:manualLayout>
              </c:layout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lang="en-US" sz="10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74872665534805"/>
                      <c:h val="0.2191894127378"/>
                    </c:manualLayout>
                  </c15:layout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bestFit"/>
            <c:showLegendKey val="0"/>
            <c:showVal val="1"/>
            <c:showCatName val="1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'[CoPQ type analysis (1).xlsx]Current month'!$I$88</c:f>
              <c:strCache>
                <c:ptCount val="1"/>
                <c:pt idx="0">
                  <c:v>OS</c:v>
                </c:pt>
              </c:strCache>
            </c:strRef>
          </c:cat>
          <c:val>
            <c:numRef>
              <c:f>'[CoPQ type analysis (1).xlsx]Current month'!$L$88</c:f>
              <c:numCache>
                <c:formatCode>"$"#,##0.00</c:formatCode>
                <c:ptCount val="1"/>
                <c:pt idx="0">
                  <c:v>2280.95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4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0134486838477351"/>
          <c:y val="0.207681603117172"/>
          <c:w val="0.972430340671284"/>
          <c:h val="0.44632849087574"/>
        </c:manualLayout>
      </c:layout>
      <c:barChart>
        <c:barDir val="col"/>
        <c:grouping val="clustered"/>
        <c:varyColors val="0"/>
        <c:ser>
          <c:idx val="2"/>
          <c:order val="2"/>
          <c:tx>
            <c:strRef>
              <c:f>'[CoPQ type analysis (1).xlsx]Current month'!$L$95</c:f>
              <c:strCache>
                <c:ptCount val="1"/>
                <c:pt idx="0">
                  <c:v>Ttl cost ($)</c:v>
                </c:pt>
              </c:strCache>
            </c:strRef>
          </c:tx>
          <c:spPr>
            <a:solidFill>
              <a:srgbClr val="33CCFF"/>
            </a:solidFill>
            <a:ln>
              <a:solidFill>
                <a:srgbClr val="33CCFF"/>
              </a:solidFill>
            </a:ln>
            <a:effectLst/>
          </c:spPr>
          <c:invertIfNegative val="0"/>
          <c:dLbls>
            <c:dLbl>
              <c:idx val="0"/>
              <c:layout/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lang="en-US" sz="9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45633152634418"/>
                      <c:h val="0.138992485388255"/>
                    </c:manualLayout>
                  </c15:layout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'[CoPQ type analysis (1).xlsx]Current month'!$I$96</c:f>
              <c:strCache>
                <c:ptCount val="1"/>
                <c:pt idx="0">
                  <c:v>DOWN SHIFTER (Xcceleration)</c:v>
                </c:pt>
              </c:strCache>
            </c:strRef>
          </c:cat>
          <c:val>
            <c:numRef>
              <c:f>'[CoPQ type analysis (1).xlsx]Current month'!$L$96</c:f>
              <c:numCache>
                <c:formatCode>"$"#,##0.00</c:formatCode>
                <c:ptCount val="1"/>
                <c:pt idx="0">
                  <c:v>2280.95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1034062704"/>
        <c:axId val="-1034062160"/>
        <c:extLst>
          <c:ext xmlns:c15="http://schemas.microsoft.com/office/drawing/2012/chart" uri="{02D57815-91ED-43cb-92C2-25804820EDAC}">
            <c15:filteredBa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'[CoPQ type analysis (1).xlsx]Current month'!$J$95</c15:sqref>
                        </c15:formulaRef>
                      </c:ext>
                    </c:extLst>
                    <c:strCache>
                      <c:ptCount val="1"/>
                      <c:pt idx="0">
                        <c:v>Defective Qty(Pair)</c:v>
                      </c:pt>
                    </c:strCache>
                  </c:strRef>
                </c:tx>
                <c:spPr>
                  <a:solidFill>
                    <a:srgbClr val="33CCFF"/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0" vertOverflow="ellipsis" vert="horz" wrap="square" lIns="38100" tIns="19050" rIns="38100" bIns="19050" anchor="ctr" anchorCtr="1"/>
                    <a:lstStyle/>
                    <a:p>
                      <a:pPr>
                        <a:defRPr lang="en-US" sz="900" b="1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xmlns:c15="http://schemas.microsoft.com/office/drawing/2012/chart" uri="{CE6537A1-D6FC-4f65-9D91-7224C49458BB}">
                      <c15:layout/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ullRef>
                          <c15:sqref/>
                        </c15:fullRef>
                        <c15:formulaRef>
                          <c15:sqref>'[CoPQ type analysis (1).xlsx]Current month'!$I$96</c15:sqref>
                        </c15:formulaRef>
                      </c:ext>
                    </c:extLst>
                    <c:strCache>
                      <c:ptCount val="1"/>
                      <c:pt idx="0">
                        <c:v>DOWN SHIFTER (Xcceleration)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{17479}</c15:sqref>
                        </c15:formulaRef>
                      </c:ext>
                    </c:extLst>
                    <c:numCache>
                      <c:formatCode>#,##0</c:formatCode>
                      <c:ptCount val="1"/>
                      <c:pt idx="0">
                        <c:v>17479</c:v>
                      </c:pt>
                    </c:numCache>
                  </c:numRef>
                </c:val>
              </c15:ser>
            </c15:filteredBarSeries>
            <c15:filteredBarSeries>
              <c15:ser>
                <c:idx val="1"/>
                <c:order val="1"/>
                <c:tx>
                  <c:strRef>
                    <c:extLst>
                      <c:ext uri="{02D57815-91ED-43cb-92C2-25804820EDAC}">
                        <c15:formulaRef>
                          <c15:sqref>'[CoPQ type analysis (1).xlsx]Current month'!$K$95</c15:sqref>
                        </c15:formulaRef>
                      </c:ext>
                    </c:extLst>
                    <c:strCache>
                      <c:ptCount val="1"/>
                      <c:pt idx="0">
                        <c:v>Working hours</c:v>
                      </c:pt>
                    </c:strCache>
                  </c:strRef>
                </c:tx>
                <c:spPr>
                  <a:solidFill>
                    <a:srgbClr val="7030A0"/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lang="en-US" sz="900" b="1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xmlns:c15="http://schemas.microsoft.com/office/drawing/2012/chart" uri="{CE6537A1-D6FC-4f65-9D91-7224C49458BB}">
                      <c15:layout/>
                      <c15:showLeaderLines val="0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ullRef>
                          <c15:sqref/>
                        </c15:fullRef>
                        <c15:formulaRef>
                          <c15:sqref>'[CoPQ type analysis (1).xlsx]Current month'!$I$96</c15:sqref>
                        </c15:formulaRef>
                      </c:ext>
                    </c:extLst>
                    <c:strCache>
                      <c:ptCount val="1"/>
                      <c:pt idx="0">
                        <c:v>DOWN SHIFTER (Xcceleration)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{206}</c15:sqref>
                        </c15:formulaRef>
                      </c:ext>
                    </c:extLst>
                    <c:numCache>
                      <c:formatCode>General</c:formatCode>
                      <c:ptCount val="1"/>
                      <c:pt idx="0">
                        <c:v>206</c:v>
                      </c:pt>
                    </c:numCache>
                  </c:numRef>
                </c:val>
              </c15:ser>
            </c15:filteredBarSeries>
          </c:ext>
        </c:extLst>
      </c:barChart>
      <c:catAx>
        <c:axId val="-10340627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vert="horz" wrap="square" anchor="ctr" anchorCtr="1"/>
          <a:lstStyle/>
          <a:p>
            <a:pPr>
              <a:defRPr lang="en-US" sz="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1034062160"/>
        <c:crosses val="autoZero"/>
        <c:auto val="1"/>
        <c:lblAlgn val="ctr"/>
        <c:lblOffset val="100"/>
        <c:noMultiLvlLbl val="0"/>
      </c:catAx>
      <c:valAx>
        <c:axId val="-1034062160"/>
        <c:scaling>
          <c:orientation val="minMax"/>
          <c:max val="3000"/>
          <c:min val="0"/>
        </c:scaling>
        <c:delete val="0"/>
        <c:axPos val="l"/>
        <c:numFmt formatCode="&quot;$&quot;#,##0.00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-10340627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"/>
          <c:y val="0.00834724540901502"/>
          <c:w val="0.254606309945627"/>
          <c:h val="0.080486773275244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7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4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"/>
          <c:y val="0.206847084554175"/>
          <c:w val="1"/>
          <c:h val="0.480525343460929"/>
        </c:manualLayout>
      </c:layout>
      <c:barChart>
        <c:barDir val="col"/>
        <c:grouping val="clustered"/>
        <c:varyColors val="0"/>
        <c:ser>
          <c:idx val="2"/>
          <c:order val="2"/>
          <c:tx>
            <c:strRef>
              <c:f>'[CoPQ type analysis (1).xlsx]Current month'!$AJ$95</c:f>
              <c:strCache>
                <c:ptCount val="1"/>
                <c:pt idx="0">
                  <c:v>Ttl cost ($)</c:v>
                </c:pt>
              </c:strCache>
            </c:strRef>
          </c:tx>
          <c:spPr>
            <a:solidFill>
              <a:srgbClr val="33CCFF"/>
            </a:solidFill>
            <a:ln>
              <a:solidFill>
                <a:srgbClr val="33CCFF"/>
              </a:solidFill>
            </a:ln>
            <a:effectLst/>
          </c:spPr>
          <c:invertIfNegative val="0"/>
          <c:dLbls>
            <c:dLbl>
              <c:idx val="0"/>
              <c:layout/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lang="en-US" sz="9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611760775142"/>
                      <c:h val="0.101279910962716"/>
                    </c:manualLayout>
                  </c15:layout>
                </c:ext>
              </c:extLst>
            </c:dLbl>
            <c:dLbl>
              <c:idx val="1"/>
              <c:layout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74974941530237"/>
                      <c:h val="0.137451307735114"/>
                    </c:manualLayout>
                  </c15:layout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9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'[CoPQ type analysis (1).xlsx]Current month'!$AG$96:$AG$98</c:f>
              <c:strCache>
                <c:ptCount val="3"/>
                <c:pt idx="0">
                  <c:v>NIKE DUNK LOW RETRO</c:v>
                </c:pt>
                <c:pt idx="1">
                  <c:v>AIR JORDAN 1 MID GS</c:v>
                </c:pt>
                <c:pt idx="2">
                  <c:v>AIR JORDAN 1 MID MS</c:v>
                </c:pt>
              </c:strCache>
            </c:strRef>
          </c:cat>
          <c:val>
            <c:numRef>
              <c:f>'[CoPQ type analysis (1).xlsx]Current month'!$AJ$96:$AJ$98</c:f>
              <c:numCache>
                <c:formatCode>"$"#,##0.00</c:formatCode>
                <c:ptCount val="3"/>
                <c:pt idx="0">
                  <c:v>410</c:v>
                </c:pt>
                <c:pt idx="1">
                  <c:v>658.75</c:v>
                </c:pt>
                <c:pt idx="2">
                  <c:v>2540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1034019728"/>
        <c:axId val="-1034008848"/>
        <c:extLst>
          <c:ext xmlns:c15="http://schemas.microsoft.com/office/drawing/2012/chart" uri="{02D57815-91ED-43cb-92C2-25804820EDAC}">
            <c15:filteredBa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'[CoPQ type analysis (1).xlsx]Current month'!$AH$95</c15:sqref>
                        </c15:formulaRef>
                      </c:ext>
                    </c:extLst>
                    <c:strCache>
                      <c:ptCount val="1"/>
                      <c:pt idx="0">
                        <c:v>Defective Qty(Pair)</c:v>
                      </c:pt>
                    </c:strCache>
                  </c:strRef>
                </c:tx>
                <c:spPr>
                  <a:solidFill>
                    <a:srgbClr val="33CCFF"/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0" vertOverflow="ellipsis" vert="horz" wrap="square" lIns="38100" tIns="19050" rIns="38100" bIns="19050" anchor="ctr" anchorCtr="1"/>
                    <a:lstStyle/>
                    <a:p>
                      <a:pPr>
                        <a:defRPr lang="en-US" sz="900" b="1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</a:p>
                  </c:txPr>
                  <c:dLblPos val="ctr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xmlns:c15="http://schemas.microsoft.com/office/drawing/2012/chart" uri="{CE6537A1-D6FC-4f65-9D91-7224C49458BB}">
                      <c15:layout/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ullRef>
                          <c15:sqref/>
                        </c15:fullRef>
                        <c15:formulaRef>
                          <c15:sqref>'[CoPQ type analysis (1).xlsx]Current month'!$AG$96:$AG$98</c15:sqref>
                        </c15:formulaRef>
                      </c:ext>
                    </c:extLst>
                    <c:strCache>
                      <c:ptCount val="3"/>
                      <c:pt idx="0">
                        <c:v>NIKE DUNK LOW RETRO</c:v>
                      </c:pt>
                      <c:pt idx="1">
                        <c:v>AIR JORDAN 1 MID GS</c:v>
                      </c:pt>
                      <c:pt idx="2">
                        <c:v>AIR JORDAN 1 MID MS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{3408,5423,20884}</c15:sqref>
                        </c15:formulaRef>
                      </c:ext>
                    </c:extLst>
                    <c:numCache>
                      <c:formatCode>#,##0</c:formatCode>
                      <c:ptCount val="3"/>
                      <c:pt idx="0">
                        <c:v>3408</c:v>
                      </c:pt>
                      <c:pt idx="1">
                        <c:v>5423</c:v>
                      </c:pt>
                      <c:pt idx="2">
                        <c:v>20884</c:v>
                      </c:pt>
                    </c:numCache>
                  </c:numRef>
                </c:val>
              </c15:ser>
            </c15:filteredBarSeries>
            <c15:filteredBarSeries>
              <c15:ser>
                <c:idx val="1"/>
                <c:order val="1"/>
                <c:tx>
                  <c:strRef>
                    <c:extLst>
                      <c:ext uri="{02D57815-91ED-43cb-92C2-25804820EDAC}">
                        <c15:formulaRef>
                          <c15:sqref>'[CoPQ type analysis (1).xlsx]Current month'!$AI$95</c15:sqref>
                        </c15:formulaRef>
                      </c:ext>
                    </c:extLst>
                    <c:strCache>
                      <c:ptCount val="1"/>
                      <c:pt idx="0">
                        <c:v>Working hours</c:v>
                      </c:pt>
                    </c:strCache>
                  </c:strRef>
                </c:tx>
                <c:spPr>
                  <a:solidFill>
                    <a:srgbClr val="7030A0"/>
                  </a:solidFill>
                  <a:ln>
                    <a:noFill/>
                  </a:ln>
                  <a:effectLst/>
                </c:spPr>
                <c:invertIfNegative val="0"/>
                <c:dLbls>
                  <c:dLbl>
                    <c:idx val="0"/>
                    <c:layout>
                      <c:manualLayout>
                        <c:x val="0"/>
                        <c:y val="0.0200333889816361"/>
                      </c:manualLayout>
                    </c:layout>
                    <c:dLblPos val="inBase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xmlns:c15="http://schemas.microsoft.com/office/drawing/2012/chart" uri="{CE6537A1-D6FC-4f65-9D91-7224C49458BB}">
                        <c15:layout/>
                      </c:ext>
                    </c:extLst>
                  </c:dLbl>
                  <c:dLbl>
                    <c:idx val="1"/>
                    <c:layout>
                      <c:manualLayout>
                        <c:x val="-0.00198412698412698"/>
                        <c:y val="0.00890372843628269"/>
                      </c:manualLayout>
                    </c:layout>
                    <c:dLblPos val="inBase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xmlns:c15="http://schemas.microsoft.com/office/drawing/2012/chart" uri="{CE6537A1-D6FC-4f65-9D91-7224C49458BB}">
                        <c15:layout/>
                      </c:ext>
                    </c:extLst>
                  </c:dLbl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lang="en-US" sz="900" b="1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</a:p>
                  </c:txPr>
                  <c:dLblPos val="inBase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xmlns:c15="http://schemas.microsoft.com/office/drawing/2012/chart" uri="{CE6537A1-D6FC-4f65-9D91-7224C49458BB}">
                      <c15:layout/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ullRef>
                          <c15:sqref/>
                        </c15:fullRef>
                        <c15:formulaRef>
                          <c15:sqref>'[CoPQ type analysis (1).xlsx]Current month'!$AG$96:$AG$98</c15:sqref>
                        </c15:formulaRef>
                      </c:ext>
                    </c:extLst>
                    <c:strCache>
                      <c:ptCount val="3"/>
                      <c:pt idx="0">
                        <c:v>NIKE DUNK LOW RETRO</c:v>
                      </c:pt>
                      <c:pt idx="1">
                        <c:v>AIR JORDAN 1 MID GS</c:v>
                      </c:pt>
                      <c:pt idx="2">
                        <c:v>AIR JORDAN 1 MID MS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{65.6,105.4,406.4}</c15:sqref>
                        </c15:formulaRef>
                      </c:ext>
                    </c:extLst>
                    <c:numCache>
                      <c:formatCode>General</c:formatCode>
                      <c:ptCount val="3"/>
                      <c:pt idx="0">
                        <c:v>65.6</c:v>
                      </c:pt>
                      <c:pt idx="1">
                        <c:v>105.4</c:v>
                      </c:pt>
                      <c:pt idx="2">
                        <c:v>406.4</c:v>
                      </c:pt>
                    </c:numCache>
                  </c:numRef>
                </c:val>
              </c15:ser>
            </c15:filteredBarSeries>
          </c:ext>
        </c:extLst>
      </c:barChart>
      <c:catAx>
        <c:axId val="-10340197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vert="horz" wrap="square" anchor="ctr" anchorCtr="1"/>
          <a:lstStyle/>
          <a:p>
            <a:pPr>
              <a:defRPr lang="en-US" sz="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1034008848"/>
        <c:crosses val="autoZero"/>
        <c:auto val="1"/>
        <c:lblAlgn val="ctr"/>
        <c:lblOffset val="100"/>
        <c:noMultiLvlLbl val="0"/>
      </c:catAx>
      <c:valAx>
        <c:axId val="-1034008848"/>
        <c:scaling>
          <c:orientation val="minMax"/>
          <c:max val="3000"/>
          <c:min val="0"/>
        </c:scaling>
        <c:delete val="0"/>
        <c:axPos val="l"/>
        <c:numFmt formatCode="&quot;$&quot;#,##0.00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-10340197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"/>
          <c:y val="0.0139120756816917"/>
          <c:w val="0.25728926354367"/>
          <c:h val="0.079001416247786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7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4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0134486974921086"/>
          <c:y val="0.234679152607863"/>
          <c:w val="0.977602799650044"/>
          <c:h val="0.48072129441173"/>
        </c:manualLayout>
      </c:layout>
      <c:barChart>
        <c:barDir val="col"/>
        <c:grouping val="clustered"/>
        <c:varyColors val="0"/>
        <c:ser>
          <c:idx val="2"/>
          <c:order val="2"/>
          <c:tx>
            <c:strRef>
              <c:f>'[CoPQ type analysis (1).xlsx]Current month'!$R$95</c:f>
              <c:strCache>
                <c:ptCount val="1"/>
                <c:pt idx="0">
                  <c:v>Ttl cost ($)</c:v>
                </c:pt>
              </c:strCache>
            </c:strRef>
          </c:tx>
          <c:spPr>
            <a:solidFill>
              <a:srgbClr val="33CCFF"/>
            </a:solidFill>
            <a:ln>
              <a:solidFill>
                <a:srgbClr val="33CCFF"/>
              </a:solidFill>
            </a:ln>
            <a:effectLst/>
          </c:spPr>
          <c:invertIfNegative val="0"/>
          <c:dLbls>
            <c:dLbl>
              <c:idx val="0"/>
              <c:layout>
                <c:manualLayout>
                  <c:x val="0.000251862503536851"/>
                  <c:y val="-0.039984779696907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55317348722132"/>
                      <c:h val="0.142631421290254"/>
                    </c:manualLayout>
                  </c15:layout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900" b="1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'[CoPQ type analysis (1).xlsx]Current month'!$O$96</c:f>
              <c:strCache>
                <c:ptCount val="1"/>
                <c:pt idx="0">
                  <c:v>NSW AIR MAX 98 MW</c:v>
                </c:pt>
              </c:strCache>
            </c:strRef>
          </c:cat>
          <c:val>
            <c:numRef>
              <c:f>'[CoPQ type analysis (1).xlsx]Current month'!$R$96</c:f>
              <c:numCache>
                <c:formatCode>"$"#,##0.00</c:formatCode>
                <c:ptCount val="1"/>
                <c:pt idx="0">
                  <c:v>470.76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1034034960"/>
        <c:axId val="-1034023536"/>
        <c:extLst>
          <c:ext xmlns:c15="http://schemas.microsoft.com/office/drawing/2012/chart" uri="{02D57815-91ED-43cb-92C2-25804820EDAC}">
            <c15:filteredBa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'[CoPQ type analysis (1).xlsx]Current month'!$P$95</c15:sqref>
                        </c15:formulaRef>
                      </c:ext>
                    </c:extLst>
                    <c:strCache>
                      <c:ptCount val="1"/>
                      <c:pt idx="0">
                        <c:v>Defective Qty(Pair)</c:v>
                      </c:pt>
                    </c:strCache>
                  </c:strRef>
                </c:tx>
                <c:spPr>
                  <a:solidFill>
                    <a:srgbClr val="33CCFF"/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lang="en-US" sz="900" b="1" i="0" u="none" strike="noStrike" kern="1200" baseline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xmlns:c15="http://schemas.microsoft.com/office/drawing/2012/chart" uri="{CE6537A1-D6FC-4f65-9D91-7224C49458BB}">
                      <c15:layout/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ullRef>
                          <c15:sqref/>
                        </c15:fullRef>
                        <c15:formulaRef>
                          <c15:sqref>'[CoPQ type analysis (1).xlsx]Current month'!$O$96</c15:sqref>
                        </c15:formulaRef>
                      </c:ext>
                    </c:extLst>
                    <c:strCache>
                      <c:ptCount val="1"/>
                      <c:pt idx="0">
                        <c:v>NSW AIR MAX 98 MW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{1418}</c15:sqref>
                        </c15:formulaRef>
                      </c:ext>
                    </c:extLst>
                    <c:numCache>
                      <c:formatCode>#,##0</c:formatCode>
                      <c:ptCount val="1"/>
                      <c:pt idx="0">
                        <c:v>1418</c:v>
                      </c:pt>
                    </c:numCache>
                  </c:numRef>
                </c:val>
              </c15:ser>
            </c15:filteredBarSeries>
            <c15:filteredBarSeries>
              <c15:ser>
                <c:idx val="1"/>
                <c:order val="1"/>
                <c:tx>
                  <c:strRef>
                    <c:extLst>
                      <c:ext uri="{02D57815-91ED-43cb-92C2-25804820EDAC}">
                        <c15:formulaRef>
                          <c15:sqref>'[CoPQ type analysis (1).xlsx]Current month'!$Q$95</c15:sqref>
                        </c15:formulaRef>
                      </c:ext>
                    </c:extLst>
                    <c:strCache>
                      <c:ptCount val="1"/>
                      <c:pt idx="0">
                        <c:v>Working hours</c:v>
                      </c:pt>
                    </c:strCache>
                  </c:strRef>
                </c:tx>
                <c:spPr>
                  <a:solidFill>
                    <a:srgbClr val="7030A0"/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lang="en-US" sz="900" b="1" i="0" u="none" strike="noStrike" kern="1200" baseline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</a:p>
                  </c:txPr>
                  <c:dLblPos val="inBase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xmlns:c15="http://schemas.microsoft.com/office/drawing/2012/chart" uri="{CE6537A1-D6FC-4f65-9D91-7224C49458BB}">
                      <c15:layout/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ullRef>
                          <c15:sqref/>
                        </c15:fullRef>
                        <c15:formulaRef>
                          <c15:sqref>'[CoPQ type analysis (1).xlsx]Current month'!$O$96</c15:sqref>
                        </c15:formulaRef>
                      </c:ext>
                    </c:extLst>
                    <c:strCache>
                      <c:ptCount val="1"/>
                      <c:pt idx="0">
                        <c:v>NSW AIR MAX 98 MW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{37}</c15:sqref>
                        </c15:formulaRef>
                      </c:ext>
                    </c:extLst>
                    <c:numCache>
                      <c:formatCode>General</c:formatCode>
                      <c:ptCount val="1"/>
                      <c:pt idx="0">
                        <c:v>37</c:v>
                      </c:pt>
                    </c:numCache>
                  </c:numRef>
                </c:val>
              </c15:ser>
            </c15:filteredBarSeries>
          </c:ext>
        </c:extLst>
      </c:barChart>
      <c:catAx>
        <c:axId val="-10340349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vert="horz" wrap="square" anchor="ctr" anchorCtr="1"/>
          <a:lstStyle/>
          <a:p>
            <a:pPr>
              <a:defRPr lang="en-US" sz="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1034023536"/>
        <c:crosses val="autoZero"/>
        <c:auto val="1"/>
        <c:lblAlgn val="ctr"/>
        <c:lblOffset val="100"/>
        <c:noMultiLvlLbl val="0"/>
      </c:catAx>
      <c:valAx>
        <c:axId val="-1034023536"/>
        <c:scaling>
          <c:orientation val="minMax"/>
          <c:max val="3000"/>
          <c:min val="0"/>
        </c:scaling>
        <c:delete val="0"/>
        <c:axPos val="l"/>
        <c:numFmt formatCode="&quot;$&quot;#,##0.00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-103403496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"/>
          <c:y val="0.00834724540901502"/>
          <c:w val="0.258375903999458"/>
          <c:h val="0.082593982223189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7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5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156166196905995"/>
          <c:y val="0.189297899598727"/>
          <c:w val="0.706622342359296"/>
          <c:h val="0.573802311956541"/>
        </c:manualLayout>
      </c:layout>
      <c:pieChart>
        <c:varyColors val="1"/>
        <c:ser>
          <c:idx val="0"/>
          <c:order val="0"/>
          <c:tx>
            <c:strRef>
              <c:f>'[CoPQ type analysis (1).xlsx]Current month'!$AJ$87</c:f>
              <c:strCache>
                <c:ptCount val="1"/>
                <c:pt idx="0">
                  <c:v>Ttl cost ($)</c:v>
                </c:pt>
              </c:strCache>
            </c:strRef>
          </c:tx>
          <c:spPr>
            <a:ln w="19050">
              <a:noFill/>
            </a:ln>
          </c:spPr>
          <c:explosion val="0"/>
          <c:dPt>
            <c:idx val="0"/>
            <c:bubble3D val="0"/>
            <c:spPr>
              <a:solidFill>
                <a:srgbClr val="3366FF"/>
              </a:solidFill>
              <a:ln w="19050">
                <a:noFill/>
              </a:ln>
              <a:effectLst/>
            </c:spPr>
          </c:dPt>
          <c:dLbls>
            <c:dLbl>
              <c:idx val="0"/>
              <c:layout>
                <c:manualLayout>
                  <c:x val="0.0210528989479032"/>
                  <c:y val="-0.424593327819134"/>
                </c:manualLayout>
              </c:layout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lang="en-US" sz="10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8471986417657"/>
                      <c:h val="0.2191894127378"/>
                    </c:manualLayout>
                  </c15:layout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bestFit"/>
            <c:showLegendKey val="0"/>
            <c:showVal val="1"/>
            <c:showCatName val="1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'[CoPQ type analysis (1).xlsx]Current month'!$AG$88</c:f>
              <c:strCache>
                <c:ptCount val="1"/>
                <c:pt idx="0">
                  <c:v>OS</c:v>
                </c:pt>
              </c:strCache>
            </c:strRef>
          </c:cat>
          <c:val>
            <c:numRef>
              <c:f>'[CoPQ type analysis (1).xlsx]Current month'!$AJ$88</c:f>
              <c:numCache>
                <c:formatCode>"$"#,##0.00</c:formatCode>
                <c:ptCount val="1"/>
                <c:pt idx="0">
                  <c:v>3608.75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5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156166196905995"/>
          <c:y val="0.189297899598727"/>
          <c:w val="0.706622342359296"/>
          <c:h val="0.573802311956541"/>
        </c:manualLayout>
      </c:layout>
      <c:pieChart>
        <c:varyColors val="1"/>
        <c:ser>
          <c:idx val="0"/>
          <c:order val="0"/>
          <c:tx>
            <c:strRef>
              <c:f>'[CoPQ type analysis (1).xlsx]Current month'!$R$87</c:f>
              <c:strCache>
                <c:ptCount val="1"/>
                <c:pt idx="0">
                  <c:v>Ttl cost ($)</c:v>
                </c:pt>
              </c:strCache>
            </c:strRef>
          </c:tx>
          <c:spPr>
            <a:ln w="19050">
              <a:noFill/>
            </a:ln>
          </c:spPr>
          <c:explosion val="0"/>
          <c:dPt>
            <c:idx val="0"/>
            <c:bubble3D val="0"/>
            <c:spPr>
              <a:solidFill>
                <a:schemeClr val="accent5">
                  <a:lumMod val="60000"/>
                  <a:lumOff val="40000"/>
                </a:schemeClr>
              </a:solidFill>
              <a:ln w="19050">
                <a:noFill/>
              </a:ln>
              <a:effectLst/>
            </c:spPr>
          </c:dPt>
          <c:dLbls>
            <c:dLbl>
              <c:idx val="0"/>
              <c:layout>
                <c:manualLayout>
                  <c:x val="0.017142220118517"/>
                  <c:y val="-0.418617010408797"/>
                </c:manualLayout>
              </c:layout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lang="en-US" sz="10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8471986417657"/>
                      <c:h val="0.2191894127378"/>
                    </c:manualLayout>
                  </c15:layout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bestFit"/>
            <c:showLegendKey val="0"/>
            <c:showVal val="1"/>
            <c:showCatName val="1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'[CoPQ type analysis (1).xlsx]Current month'!$O$88</c:f>
              <c:strCache>
                <c:ptCount val="1"/>
                <c:pt idx="0">
                  <c:v>Stockfitting</c:v>
                </c:pt>
              </c:strCache>
            </c:strRef>
          </c:cat>
          <c:val>
            <c:numRef>
              <c:f>'[CoPQ type analysis (1).xlsx]Current month'!$R$88</c:f>
              <c:numCache>
                <c:formatCode>"$"#,##0.00</c:formatCode>
                <c:ptCount val="1"/>
                <c:pt idx="0">
                  <c:v>1708.56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8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9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0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5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8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9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0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7331D6-73D7-47DA-9DC0-C7A32C4BC610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6F4DAB-0167-44C8-84B1-92705B8AA6C5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6F4DAB-0167-44C8-84B1-92705B8AA6C5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6F4DAB-0167-44C8-84B1-92705B8AA6C5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6F4DAB-0167-44C8-84B1-92705B8AA6C5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36F16-72B3-42E5-BD72-4A5F866C1D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8B596-8DAD-4D54-BDBE-4CA30A54879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36F16-72B3-42E5-BD72-4A5F866C1D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8B596-8DAD-4D54-BDBE-4CA30A54879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36F16-72B3-42E5-BD72-4A5F866C1D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8B596-8DAD-4D54-BDBE-4CA30A54879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36F16-72B3-42E5-BD72-4A5F866C1D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8B596-8DAD-4D54-BDBE-4CA30A54879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36F16-72B3-42E5-BD72-4A5F866C1D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8B596-8DAD-4D54-BDBE-4CA30A54879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36F16-72B3-42E5-BD72-4A5F866C1D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8B596-8DAD-4D54-BDBE-4CA30A54879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36F16-72B3-42E5-BD72-4A5F866C1D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8B596-8DAD-4D54-BDBE-4CA30A54879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36F16-72B3-42E5-BD72-4A5F866C1D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8B596-8DAD-4D54-BDBE-4CA30A54879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36F16-72B3-42E5-BD72-4A5F866C1D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8B596-8DAD-4D54-BDBE-4CA30A54879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36F16-72B3-42E5-BD72-4A5F866C1D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8B596-8DAD-4D54-BDBE-4CA30A54879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36F16-72B3-42E5-BD72-4A5F866C1D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8B596-8DAD-4D54-BDBE-4CA30A54879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04416" cy="6858000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46042" y="6398132"/>
            <a:ext cx="2743200" cy="365125"/>
          </a:xfrm>
          <a:prstGeom prst="rect">
            <a:avLst/>
          </a:prstGeom>
        </p:spPr>
        <p:txBody>
          <a:bodyPr/>
          <a:lstStyle/>
          <a:p>
            <a:fld id="{865E283A-E5DF-404F-88FE-649AD4D2791B}" type="slidenum">
              <a:rPr lang="en-ID" smtClean="0"/>
            </a:fld>
            <a:endParaRPr lang="en-ID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40030" y="6287770"/>
            <a:ext cx="33832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spc="300">
                <a:solidFill>
                  <a:schemeClr val="bg1"/>
                </a:solidFill>
                <a:latin typeface="Neo Sans Pro" panose="020B0504030504040204" pitchFamily="34" charset="0"/>
              </a:defRPr>
            </a:lvl1pPr>
          </a:lstStyle>
          <a:p>
            <a:r>
              <a:rPr lang="en-ID">
                <a:solidFill>
                  <a:prstClr val="white"/>
                </a:solidFill>
              </a:rPr>
              <a:t>MAKE IT RIGHT </a:t>
            </a:r>
            <a:endParaRPr lang="en-ID" sz="1200" dirty="0">
              <a:solidFill>
                <a:prstClr val="white"/>
              </a:solidFill>
            </a:endParaRPr>
          </a:p>
        </p:txBody>
      </p:sp>
      <p:sp>
        <p:nvSpPr>
          <p:cNvPr id="2" name="Title 6"/>
          <p:cNvSpPr>
            <a:spLocks noGrp="1"/>
          </p:cNvSpPr>
          <p:nvPr>
            <p:ph type="title"/>
          </p:nvPr>
        </p:nvSpPr>
        <p:spPr>
          <a:xfrm>
            <a:off x="1919312" y="317663"/>
            <a:ext cx="7211834" cy="58154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algn="l">
              <a:lnSpc>
                <a:spcPct val="100000"/>
              </a:lnSpc>
              <a:defRPr sz="2800" b="1" cap="none" spc="50" baseline="0">
                <a:solidFill>
                  <a:srgbClr val="3C4DA0"/>
                </a:solidFill>
                <a:latin typeface="Neo Sans Std" panose="020B05040305040B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6"/>
          </p:nvPr>
        </p:nvSpPr>
        <p:spPr>
          <a:xfrm>
            <a:off x="1919312" y="913517"/>
            <a:ext cx="7211834" cy="22225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l">
              <a:lnSpc>
                <a:spcPct val="100000"/>
              </a:lnSpc>
              <a:buFontTx/>
              <a:buNone/>
              <a:defRPr sz="1600">
                <a:solidFill>
                  <a:srgbClr val="3C4DA0"/>
                </a:solidFill>
                <a:latin typeface="Helvetica" pitchFamily="2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marL="457200" indent="0" algn="ctr">
              <a:lnSpc>
                <a:spcPct val="100000"/>
              </a:lnSpc>
              <a:buFontTx/>
              <a:buNone/>
              <a:defRPr sz="130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 algn="ctr">
              <a:lnSpc>
                <a:spcPct val="100000"/>
              </a:lnSpc>
              <a:buFontTx/>
              <a:buNone/>
              <a:defRPr sz="13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 algn="ctr">
              <a:lnSpc>
                <a:spcPct val="100000"/>
              </a:lnSpc>
              <a:buFontTx/>
              <a:buNone/>
              <a:defRPr sz="13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 algn="ctr">
              <a:lnSpc>
                <a:spcPct val="100000"/>
              </a:lnSpc>
              <a:buFontTx/>
              <a:buNone/>
              <a:defRPr sz="130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919312" y="1453399"/>
            <a:ext cx="7211834" cy="1500187"/>
          </a:xfrm>
        </p:spPr>
        <p:txBody>
          <a:bodyPr>
            <a:normAutofit/>
          </a:bodyPr>
          <a:lstStyle>
            <a:lvl1pPr marL="0" indent="0"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Duis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dolore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 </a:t>
            </a:r>
            <a:r>
              <a:rPr lang="en-US" dirty="0" err="1"/>
              <a:t>Excepteur</a:t>
            </a:r>
            <a:r>
              <a:rPr lang="en-US" dirty="0"/>
              <a:t> </a:t>
            </a:r>
            <a:r>
              <a:rPr lang="en-US" dirty="0" err="1"/>
              <a:t>sint</a:t>
            </a:r>
            <a:r>
              <a:rPr lang="en-US" dirty="0"/>
              <a:t> </a:t>
            </a:r>
            <a:r>
              <a:rPr lang="en-US" dirty="0" err="1"/>
              <a:t>occaecat</a:t>
            </a:r>
            <a:r>
              <a:rPr lang="en-US" dirty="0"/>
              <a:t> </a:t>
            </a:r>
            <a:r>
              <a:rPr lang="en-US" dirty="0" err="1"/>
              <a:t>cupidatat</a:t>
            </a:r>
            <a:r>
              <a:rPr lang="en-US" dirty="0"/>
              <a:t> non </a:t>
            </a:r>
            <a:r>
              <a:rPr lang="en-US" dirty="0" err="1"/>
              <a:t>proident</a:t>
            </a:r>
            <a:r>
              <a:rPr lang="en-US" dirty="0"/>
              <a:t>, sunt in culpa qui </a:t>
            </a:r>
            <a:r>
              <a:rPr lang="en-US" dirty="0" err="1"/>
              <a:t>officia</a:t>
            </a:r>
            <a:r>
              <a:rPr lang="en-US" dirty="0"/>
              <a:t> </a:t>
            </a:r>
            <a:r>
              <a:rPr lang="en-US" dirty="0" err="1"/>
              <a:t>deserunt</a:t>
            </a:r>
            <a:r>
              <a:rPr lang="en-US" dirty="0"/>
              <a:t> </a:t>
            </a:r>
            <a:r>
              <a:rPr lang="en-US" dirty="0" err="1"/>
              <a:t>mollit</a:t>
            </a:r>
            <a:r>
              <a:rPr lang="en-US" dirty="0"/>
              <a:t> </a:t>
            </a:r>
            <a:r>
              <a:rPr lang="en-US" dirty="0" err="1"/>
              <a:t>anim</a:t>
            </a:r>
            <a:r>
              <a:rPr lang="en-US" dirty="0"/>
              <a:t> id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laborum</a:t>
            </a:r>
            <a:r>
              <a:rPr lang="en-US" dirty="0"/>
              <a:t>.</a:t>
            </a:r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3C4DA0"/>
                </a:solidFill>
              </a:defRPr>
            </a:lvl1pPr>
          </a:lstStyle>
          <a:p>
            <a:r>
              <a:rPr lang="en-ID" dirty="0"/>
              <a:t>MAKE IT RIGHT    </a:t>
            </a:r>
            <a:endParaRPr lang="en-ID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46042" y="6398132"/>
            <a:ext cx="2743200" cy="365125"/>
          </a:xfrm>
          <a:prstGeom prst="rect">
            <a:avLst/>
          </a:prstGeom>
        </p:spPr>
        <p:txBody>
          <a:bodyPr/>
          <a:lstStyle/>
          <a:p>
            <a:fld id="{865E283A-E5DF-404F-88FE-649AD4D2791B}" type="slidenum">
              <a:rPr lang="en-ID" smtClean="0"/>
            </a:fld>
            <a:endParaRPr lang="en-ID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838200" y="335877"/>
            <a:ext cx="7211834" cy="58154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algn="l">
              <a:lnSpc>
                <a:spcPct val="100000"/>
              </a:lnSpc>
              <a:defRPr sz="2800" b="1" cap="none" spc="50" baseline="0">
                <a:solidFill>
                  <a:srgbClr val="3C4DA0"/>
                </a:solidFill>
                <a:latin typeface="Neo Sans Std" panose="020B05040305040B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6"/>
          </p:nvPr>
        </p:nvSpPr>
        <p:spPr>
          <a:xfrm>
            <a:off x="838200" y="940286"/>
            <a:ext cx="7211834" cy="365125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l">
              <a:lnSpc>
                <a:spcPct val="100000"/>
              </a:lnSpc>
              <a:buFontTx/>
              <a:buNone/>
              <a:defRPr sz="1600" baseline="0">
                <a:solidFill>
                  <a:srgbClr val="3C4DA0"/>
                </a:solidFill>
                <a:latin typeface="Helvetica" pitchFamily="2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marL="457200" indent="0" algn="ctr">
              <a:lnSpc>
                <a:spcPct val="100000"/>
              </a:lnSpc>
              <a:buFontTx/>
              <a:buNone/>
              <a:defRPr sz="130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 algn="ctr">
              <a:lnSpc>
                <a:spcPct val="100000"/>
              </a:lnSpc>
              <a:buFontTx/>
              <a:buNone/>
              <a:defRPr sz="13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 algn="ctr">
              <a:lnSpc>
                <a:spcPct val="100000"/>
              </a:lnSpc>
              <a:buFontTx/>
              <a:buNone/>
              <a:defRPr sz="13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 algn="ctr">
              <a:lnSpc>
                <a:spcPct val="100000"/>
              </a:lnSpc>
              <a:buFontTx/>
              <a:buNone/>
              <a:defRPr sz="130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3495" y="308884"/>
            <a:ext cx="1565591" cy="304872"/>
          </a:xfrm>
          <a:prstGeom prst="rect">
            <a:avLst/>
          </a:prstGeom>
        </p:spPr>
      </p:pic>
      <p:sp>
        <p:nvSpPr>
          <p:cNvPr id="9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8200" y="1546310"/>
            <a:ext cx="7211834" cy="1500187"/>
          </a:xfrm>
        </p:spPr>
        <p:txBody>
          <a:bodyPr>
            <a:normAutofit/>
          </a:bodyPr>
          <a:lstStyle>
            <a:lvl1pPr marL="0" indent="0"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Duis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dolore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 </a:t>
            </a:r>
            <a:r>
              <a:rPr lang="en-US" dirty="0" err="1"/>
              <a:t>Excepteur</a:t>
            </a:r>
            <a:r>
              <a:rPr lang="en-US" dirty="0"/>
              <a:t> </a:t>
            </a:r>
            <a:r>
              <a:rPr lang="en-US" dirty="0" err="1"/>
              <a:t>sint</a:t>
            </a:r>
            <a:r>
              <a:rPr lang="en-US" dirty="0"/>
              <a:t> </a:t>
            </a:r>
            <a:r>
              <a:rPr lang="en-US" dirty="0" err="1"/>
              <a:t>occaecat</a:t>
            </a:r>
            <a:r>
              <a:rPr lang="en-US" dirty="0"/>
              <a:t> </a:t>
            </a:r>
            <a:r>
              <a:rPr lang="en-US" dirty="0" err="1"/>
              <a:t>cupidatat</a:t>
            </a:r>
            <a:r>
              <a:rPr lang="en-US" dirty="0"/>
              <a:t> non </a:t>
            </a:r>
            <a:r>
              <a:rPr lang="en-US" dirty="0" err="1"/>
              <a:t>proident</a:t>
            </a:r>
            <a:r>
              <a:rPr lang="en-US" dirty="0"/>
              <a:t>, sunt in culpa qui </a:t>
            </a:r>
            <a:r>
              <a:rPr lang="en-US" dirty="0" err="1"/>
              <a:t>officia</a:t>
            </a:r>
            <a:r>
              <a:rPr lang="en-US" dirty="0"/>
              <a:t> </a:t>
            </a:r>
            <a:r>
              <a:rPr lang="en-US" dirty="0" err="1"/>
              <a:t>deserunt</a:t>
            </a:r>
            <a:r>
              <a:rPr lang="en-US" dirty="0"/>
              <a:t> </a:t>
            </a:r>
            <a:r>
              <a:rPr lang="en-US" dirty="0" err="1"/>
              <a:t>mollit</a:t>
            </a:r>
            <a:r>
              <a:rPr lang="en-US" dirty="0"/>
              <a:t> </a:t>
            </a:r>
            <a:r>
              <a:rPr lang="en-US" dirty="0" err="1"/>
              <a:t>anim</a:t>
            </a:r>
            <a:r>
              <a:rPr lang="en-US" dirty="0"/>
              <a:t> id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laborum</a:t>
            </a:r>
            <a:r>
              <a:rPr lang="en-US" dirty="0"/>
              <a:t>.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036F16-72B3-42E5-BD72-4A5F866C1D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08B596-8DAD-4D54-BDBE-4CA30A548796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chart" Target="../charts/chart9.xml"/><Relationship Id="rId8" Type="http://schemas.openxmlformats.org/officeDocument/2006/relationships/chart" Target="../charts/chart8.xml"/><Relationship Id="rId7" Type="http://schemas.openxmlformats.org/officeDocument/2006/relationships/chart" Target="../charts/chart7.xml"/><Relationship Id="rId6" Type="http://schemas.openxmlformats.org/officeDocument/2006/relationships/chart" Target="../charts/chart6.xml"/><Relationship Id="rId5" Type="http://schemas.openxmlformats.org/officeDocument/2006/relationships/chart" Target="../charts/chart5.xml"/><Relationship Id="rId4" Type="http://schemas.openxmlformats.org/officeDocument/2006/relationships/chart" Target="../charts/chart4.xml"/><Relationship Id="rId3" Type="http://schemas.openxmlformats.org/officeDocument/2006/relationships/chart" Target="../charts/chart3.xml"/><Relationship Id="rId20" Type="http://schemas.openxmlformats.org/officeDocument/2006/relationships/slideLayout" Target="../slideLayouts/slideLayout12.xml"/><Relationship Id="rId2" Type="http://schemas.openxmlformats.org/officeDocument/2006/relationships/chart" Target="../charts/chart2.xml"/><Relationship Id="rId19" Type="http://schemas.openxmlformats.org/officeDocument/2006/relationships/image" Target="../media/image7.png"/><Relationship Id="rId18" Type="http://schemas.openxmlformats.org/officeDocument/2006/relationships/image" Target="../media/image6.png"/><Relationship Id="rId17" Type="http://schemas.microsoft.com/office/2007/relationships/hdphoto" Target="../media/image5.wdp"/><Relationship Id="rId16" Type="http://schemas.openxmlformats.org/officeDocument/2006/relationships/image" Target="../media/image4.png"/><Relationship Id="rId15" Type="http://schemas.openxmlformats.org/officeDocument/2006/relationships/chart" Target="../charts/chart15.xml"/><Relationship Id="rId14" Type="http://schemas.openxmlformats.org/officeDocument/2006/relationships/chart" Target="../charts/chart14.xml"/><Relationship Id="rId13" Type="http://schemas.openxmlformats.org/officeDocument/2006/relationships/chart" Target="../charts/chart13.xml"/><Relationship Id="rId12" Type="http://schemas.openxmlformats.org/officeDocument/2006/relationships/chart" Target="../charts/chart12.xml"/><Relationship Id="rId11" Type="http://schemas.openxmlformats.org/officeDocument/2006/relationships/chart" Target="../charts/chart11.xml"/><Relationship Id="rId10" Type="http://schemas.openxmlformats.org/officeDocument/2006/relationships/chart" Target="../charts/chart10.xml"/><Relationship Id="rId1" Type="http://schemas.openxmlformats.org/officeDocument/2006/relationships/chart" Target="../charts/char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chart" Target="../charts/chart24.xml"/><Relationship Id="rId8" Type="http://schemas.openxmlformats.org/officeDocument/2006/relationships/chart" Target="../charts/chart23.xml"/><Relationship Id="rId7" Type="http://schemas.openxmlformats.org/officeDocument/2006/relationships/chart" Target="../charts/chart22.xml"/><Relationship Id="rId6" Type="http://schemas.openxmlformats.org/officeDocument/2006/relationships/chart" Target="../charts/chart21.xml"/><Relationship Id="rId5" Type="http://schemas.openxmlformats.org/officeDocument/2006/relationships/chart" Target="../charts/chart20.xml"/><Relationship Id="rId4" Type="http://schemas.openxmlformats.org/officeDocument/2006/relationships/chart" Target="../charts/chart19.xml"/><Relationship Id="rId3" Type="http://schemas.openxmlformats.org/officeDocument/2006/relationships/chart" Target="../charts/chart18.xml"/><Relationship Id="rId22" Type="http://schemas.openxmlformats.org/officeDocument/2006/relationships/notesSlide" Target="../notesSlides/notesSlide1.xml"/><Relationship Id="rId21" Type="http://schemas.openxmlformats.org/officeDocument/2006/relationships/slideLayout" Target="../slideLayouts/slideLayout2.xml"/><Relationship Id="rId20" Type="http://schemas.openxmlformats.org/officeDocument/2006/relationships/image" Target="../media/image11.emf"/><Relationship Id="rId2" Type="http://schemas.openxmlformats.org/officeDocument/2006/relationships/chart" Target="../charts/chart17.xml"/><Relationship Id="rId19" Type="http://schemas.openxmlformats.org/officeDocument/2006/relationships/image" Target="../media/image10.emf"/><Relationship Id="rId18" Type="http://schemas.openxmlformats.org/officeDocument/2006/relationships/image" Target="../media/image9.emf"/><Relationship Id="rId17" Type="http://schemas.openxmlformats.org/officeDocument/2006/relationships/image" Target="../media/image8.emf"/><Relationship Id="rId16" Type="http://schemas.openxmlformats.org/officeDocument/2006/relationships/chart" Target="../charts/chart31.xml"/><Relationship Id="rId15" Type="http://schemas.openxmlformats.org/officeDocument/2006/relationships/chart" Target="../charts/chart30.xml"/><Relationship Id="rId14" Type="http://schemas.openxmlformats.org/officeDocument/2006/relationships/chart" Target="../charts/chart29.xml"/><Relationship Id="rId13" Type="http://schemas.openxmlformats.org/officeDocument/2006/relationships/chart" Target="../charts/chart28.xml"/><Relationship Id="rId12" Type="http://schemas.openxmlformats.org/officeDocument/2006/relationships/chart" Target="../charts/chart27.xml"/><Relationship Id="rId11" Type="http://schemas.openxmlformats.org/officeDocument/2006/relationships/chart" Target="../charts/chart26.xml"/><Relationship Id="rId10" Type="http://schemas.openxmlformats.org/officeDocument/2006/relationships/chart" Target="../charts/chart25.xml"/><Relationship Id="rId1" Type="http://schemas.openxmlformats.org/officeDocument/2006/relationships/chart" Target="../charts/chart16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chart" Target="../charts/chart40.xml"/><Relationship Id="rId8" Type="http://schemas.openxmlformats.org/officeDocument/2006/relationships/chart" Target="../charts/chart39.xml"/><Relationship Id="rId7" Type="http://schemas.openxmlformats.org/officeDocument/2006/relationships/chart" Target="../charts/chart38.xml"/><Relationship Id="rId6" Type="http://schemas.openxmlformats.org/officeDocument/2006/relationships/chart" Target="../charts/chart37.xml"/><Relationship Id="rId5" Type="http://schemas.openxmlformats.org/officeDocument/2006/relationships/chart" Target="../charts/chart36.xml"/><Relationship Id="rId4" Type="http://schemas.openxmlformats.org/officeDocument/2006/relationships/chart" Target="../charts/chart35.xml"/><Relationship Id="rId3" Type="http://schemas.openxmlformats.org/officeDocument/2006/relationships/chart" Target="../charts/chart34.xml"/><Relationship Id="rId2" Type="http://schemas.openxmlformats.org/officeDocument/2006/relationships/chart" Target="../charts/chart33.xml"/><Relationship Id="rId14" Type="http://schemas.openxmlformats.org/officeDocument/2006/relationships/notesSlide" Target="../notesSlides/notesSlide2.xml"/><Relationship Id="rId13" Type="http://schemas.openxmlformats.org/officeDocument/2006/relationships/slideLayout" Target="../slideLayouts/slideLayout13.xml"/><Relationship Id="rId12" Type="http://schemas.openxmlformats.org/officeDocument/2006/relationships/chart" Target="../charts/chart43.xml"/><Relationship Id="rId11" Type="http://schemas.openxmlformats.org/officeDocument/2006/relationships/chart" Target="../charts/chart42.xml"/><Relationship Id="rId10" Type="http://schemas.openxmlformats.org/officeDocument/2006/relationships/chart" Target="../charts/chart41.xml"/><Relationship Id="rId1" Type="http://schemas.openxmlformats.org/officeDocument/2006/relationships/chart" Target="../charts/chart32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.xml"/><Relationship Id="rId8" Type="http://schemas.openxmlformats.org/officeDocument/2006/relationships/chart" Target="../charts/chart51.xml"/><Relationship Id="rId7" Type="http://schemas.openxmlformats.org/officeDocument/2006/relationships/chart" Target="../charts/chart50.xml"/><Relationship Id="rId6" Type="http://schemas.openxmlformats.org/officeDocument/2006/relationships/chart" Target="../charts/chart49.xml"/><Relationship Id="rId5" Type="http://schemas.openxmlformats.org/officeDocument/2006/relationships/chart" Target="../charts/chart48.xml"/><Relationship Id="rId4" Type="http://schemas.openxmlformats.org/officeDocument/2006/relationships/chart" Target="../charts/chart47.xml"/><Relationship Id="rId3" Type="http://schemas.openxmlformats.org/officeDocument/2006/relationships/chart" Target="../charts/chart46.xml"/><Relationship Id="rId2" Type="http://schemas.openxmlformats.org/officeDocument/2006/relationships/chart" Target="../charts/chart45.xml"/><Relationship Id="rId10" Type="http://schemas.openxmlformats.org/officeDocument/2006/relationships/notesSlide" Target="../notesSlides/notesSlide3.xml"/><Relationship Id="rId1" Type="http://schemas.openxmlformats.org/officeDocument/2006/relationships/chart" Target="../charts/chart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3" name="Table 102"/>
          <p:cNvGraphicFramePr>
            <a:graphicFrameLocks noGrp="1"/>
          </p:cNvGraphicFramePr>
          <p:nvPr/>
        </p:nvGraphicFramePr>
        <p:xfrm>
          <a:off x="1950720" y="2266079"/>
          <a:ext cx="10038525" cy="2407920"/>
        </p:xfrm>
        <a:graphic>
          <a:graphicData uri="http://schemas.openxmlformats.org/drawingml/2006/table">
            <a:tbl>
              <a:tblPr firstRow="1" bandRow="1"/>
              <a:tblGrid>
                <a:gridCol w="608629"/>
                <a:gridCol w="1347128"/>
                <a:gridCol w="1347128"/>
                <a:gridCol w="1347128"/>
                <a:gridCol w="1347128"/>
                <a:gridCol w="1347128"/>
                <a:gridCol w="1347128"/>
                <a:gridCol w="1347128"/>
              </a:tblGrid>
              <a:tr h="48768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900" b="1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45711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sz="120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VH </a:t>
                      </a:r>
                      <a:endParaRPr lang="en-US" sz="1200">
                        <a:solidFill>
                          <a:schemeClr val="bg2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n-US" sz="120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$6,892.66</a:t>
                      </a:r>
                      <a:endParaRPr lang="en-US" sz="1200">
                        <a:solidFill>
                          <a:schemeClr val="bg2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marL="121897" marR="121897" marT="60948" marB="60948"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sz="120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VH2 </a:t>
                      </a:r>
                      <a:endParaRPr lang="en-US" sz="1200">
                        <a:solidFill>
                          <a:schemeClr val="bg2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n-US" sz="120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$3,368.27</a:t>
                      </a:r>
                      <a:endParaRPr lang="en-US" sz="1200">
                        <a:solidFill>
                          <a:schemeClr val="bg2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marL="121897" marR="121897" marT="60948" marB="60948"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20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VH3 </a:t>
                      </a:r>
                      <a:endParaRPr lang="en-US" sz="1200">
                        <a:solidFill>
                          <a:schemeClr val="bg2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en-US" sz="120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$91.92</a:t>
                      </a:r>
                      <a:endParaRPr lang="en-US" sz="1200">
                        <a:solidFill>
                          <a:schemeClr val="bg2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23" marR="91423" marT="45711" marB="45711"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sz="120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VH4 </a:t>
                      </a:r>
                      <a:endParaRPr lang="en-US" sz="1200">
                        <a:solidFill>
                          <a:schemeClr val="bg2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n-US" sz="120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$3,608.75</a:t>
                      </a:r>
                      <a:endParaRPr lang="en-US" sz="1200">
                        <a:solidFill>
                          <a:schemeClr val="bg2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23" marR="91423" marT="45711" marB="45711"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JV </a:t>
                      </a:r>
                      <a:endParaRPr kumimoji="0" lang="en-US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$8,134.38</a:t>
                      </a:r>
                      <a:endParaRPr kumimoji="0" lang="en-US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23" marR="91423" marT="45711" marB="45711"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JV2 </a:t>
                      </a:r>
                      <a:endParaRPr kumimoji="0" lang="en-US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$3,440.94</a:t>
                      </a:r>
                      <a:endParaRPr kumimoji="0" lang="en-US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23" marR="91423" marT="45711" marB="45711"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JVB </a:t>
                      </a:r>
                      <a:endParaRPr kumimoji="0" lang="en-US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$601.63</a:t>
                      </a:r>
                      <a:endParaRPr kumimoji="0" lang="en-US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23" marR="91423" marT="45711" marB="45711"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4008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BC Grade</a:t>
                      </a:r>
                      <a:endParaRPr lang="en-US" sz="900" b="1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45711" marB="0"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1900"/>
                    </a:p>
                  </a:txBody>
                  <a:tcPr marL="121897" marR="121897" marT="60948" marB="60948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1900"/>
                    </a:p>
                  </a:txBody>
                  <a:tcPr marL="121897" marR="121897" marT="60948" marB="60948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>
                        <a:buNone/>
                      </a:pPr>
                      <a:endParaRPr lang="en-US" sz="1900"/>
                    </a:p>
                  </a:txBody>
                  <a:tcPr marL="121897" marR="121897" marT="60948" marB="60948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1900"/>
                    </a:p>
                  </a:txBody>
                  <a:tcPr marL="121897" marR="121897" marT="60948" marB="60948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1900"/>
                    </a:p>
                  </a:txBody>
                  <a:tcPr marL="121897" marR="121897" marT="60948" marB="60948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1900"/>
                    </a:p>
                  </a:txBody>
                  <a:tcPr marL="121897" marR="121897" marT="60948" marB="60948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1900"/>
                    </a:p>
                  </a:txBody>
                  <a:tcPr marL="121897" marR="121897" marT="60948" marB="60948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4008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Re-Inspect</a:t>
                      </a:r>
                      <a:endParaRPr lang="en-US" sz="900" b="1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45711" marB="0"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1900"/>
                    </a:p>
                  </a:txBody>
                  <a:tcPr marL="121897" marR="121897" marT="60948" marB="60948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1900"/>
                    </a:p>
                  </a:txBody>
                  <a:tcPr marL="121897" marR="121897" marT="60948" marB="60948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>
                        <a:buNone/>
                      </a:pPr>
                      <a:endParaRPr lang="en-US" sz="1900"/>
                    </a:p>
                  </a:txBody>
                  <a:tcPr marL="121897" marR="121897" marT="60948" marB="60948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1900"/>
                    </a:p>
                  </a:txBody>
                  <a:tcPr marL="121897" marR="121897" marT="60948" marB="60948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1900"/>
                    </a:p>
                  </a:txBody>
                  <a:tcPr marL="121897" marR="121897" marT="60948" marB="60948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1900"/>
                    </a:p>
                  </a:txBody>
                  <a:tcPr marL="121897" marR="121897" marT="60948" marB="60948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1900"/>
                    </a:p>
                  </a:txBody>
                  <a:tcPr marL="121897" marR="121897" marT="60948" marB="60948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4008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Bottom touch-up paint</a:t>
                      </a:r>
                      <a:endParaRPr lang="en-US" sz="900" b="1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1900"/>
                    </a:p>
                  </a:txBody>
                  <a:tcPr marL="121897" marR="121897" marT="60948" marB="60948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1900"/>
                    </a:p>
                  </a:txBody>
                  <a:tcPr marL="121897" marR="121897" marT="60948" marB="60948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>
                        <a:buNone/>
                      </a:pPr>
                      <a:endParaRPr lang="en-US" sz="1900"/>
                    </a:p>
                  </a:txBody>
                  <a:tcPr marL="121897" marR="121897" marT="60948" marB="60948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1900"/>
                    </a:p>
                  </a:txBody>
                  <a:tcPr marL="121897" marR="121897" marT="60948" marB="60948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1900"/>
                    </a:p>
                  </a:txBody>
                  <a:tcPr marL="121897" marR="121897" marT="60948" marB="60948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1900"/>
                    </a:p>
                  </a:txBody>
                  <a:tcPr marL="121897" marR="121897" marT="60948" marB="60948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1900"/>
                    </a:p>
                  </a:txBody>
                  <a:tcPr marL="121897" marR="121897" marT="60948" marB="60948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5" name="Rounded Rectangle 64"/>
          <p:cNvSpPr/>
          <p:nvPr/>
        </p:nvSpPr>
        <p:spPr>
          <a:xfrm rot="16200000">
            <a:off x="8744696" y="-1106186"/>
            <a:ext cx="1435342" cy="4988016"/>
          </a:xfrm>
          <a:prstGeom prst="roundRect">
            <a:avLst>
              <a:gd name="adj" fmla="val 18487"/>
            </a:avLst>
          </a:prstGeom>
          <a:gradFill flip="none" rotWithShape="1">
            <a:gsLst>
              <a:gs pos="39000">
                <a:srgbClr val="5B9BD5">
                  <a:lumMod val="5000"/>
                  <a:lumOff val="95000"/>
                  <a:alpha val="0"/>
                </a:srgbClr>
              </a:gs>
              <a:gs pos="78000">
                <a:srgbClr val="CFCFCF"/>
              </a:gs>
              <a:gs pos="100000">
                <a:srgbClr val="E7E6E6">
                  <a:lumMod val="100000"/>
                </a:srgbClr>
              </a:gs>
            </a:gsLst>
            <a:lin ang="162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60" name="Chart 59"/>
          <p:cNvGraphicFramePr/>
          <p:nvPr/>
        </p:nvGraphicFramePr>
        <p:xfrm>
          <a:off x="8147982" y="573147"/>
          <a:ext cx="3211235" cy="15916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58" name="Chart 57"/>
          <p:cNvGraphicFramePr/>
          <p:nvPr/>
        </p:nvGraphicFramePr>
        <p:xfrm>
          <a:off x="2304290" y="503985"/>
          <a:ext cx="3211115" cy="15618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4" name="Rounded Rectangle 63"/>
          <p:cNvSpPr/>
          <p:nvPr/>
        </p:nvSpPr>
        <p:spPr>
          <a:xfrm rot="5400000">
            <a:off x="3885627" y="-1455408"/>
            <a:ext cx="1371346" cy="5635583"/>
          </a:xfrm>
          <a:prstGeom prst="roundRect">
            <a:avLst>
              <a:gd name="adj" fmla="val 12703"/>
            </a:avLst>
          </a:prstGeom>
          <a:gradFill flip="none" rotWithShape="1">
            <a:gsLst>
              <a:gs pos="38000">
                <a:srgbClr val="5B9BD5">
                  <a:lumMod val="5000"/>
                  <a:lumOff val="95000"/>
                  <a:alpha val="0"/>
                </a:srgbClr>
              </a:gs>
              <a:gs pos="58000">
                <a:srgbClr val="106EF8">
                  <a:alpha val="10000"/>
                </a:srgbClr>
              </a:gs>
              <a:gs pos="100000">
                <a:srgbClr val="5B9BD5">
                  <a:lumMod val="20000"/>
                  <a:lumOff val="80000"/>
                </a:srgbClr>
              </a:gs>
            </a:gsLst>
            <a:lin ang="162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11764850" y="6492875"/>
            <a:ext cx="427149" cy="365125"/>
          </a:xfrm>
        </p:spPr>
        <p:txBody>
          <a:bodyPr/>
          <a:lstStyle/>
          <a:p>
            <a:fld id="{865E283A-E5DF-404F-88FE-649AD4D2791B}" type="slidenum">
              <a:rPr lang="en-ID" smtClean="0"/>
            </a:fld>
            <a:endParaRPr lang="en-ID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>
          <a:xfrm>
            <a:off x="201930" y="6287770"/>
            <a:ext cx="1738019" cy="365125"/>
          </a:xfrm>
        </p:spPr>
        <p:txBody>
          <a:bodyPr/>
          <a:lstStyle/>
          <a:p>
            <a:r>
              <a:rPr lang="en-ID">
                <a:solidFill>
                  <a:prstClr val="white"/>
                </a:solidFill>
              </a:rPr>
              <a:t>MAKE IT RIGHT</a:t>
            </a:r>
            <a:endParaRPr lang="en-ID" dirty="0">
              <a:solidFill>
                <a:prstClr val="white"/>
              </a:solidFill>
            </a:endParaRPr>
          </a:p>
        </p:txBody>
      </p:sp>
      <p:pic>
        <p:nvPicPr>
          <p:cNvPr id="68" name="Picture 4" descr="Dollar symbol Good Ware Lineal icon"/>
          <p:cNvPicPr>
            <a:picLocks noChangeAspect="1" noChangeArrowheads="1"/>
          </p:cNvPicPr>
          <p:nvPr/>
        </p:nvPicPr>
        <p:blipFill>
          <a:blip r:embed="rId16" cstate="print">
            <a:grayscl/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artisticPhotocopy trans="30000" detail="2"/>
                    </a14:imgEffect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9411" y="953420"/>
            <a:ext cx="895269" cy="886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9" name="Rectangle 68"/>
          <p:cNvSpPr/>
          <p:nvPr/>
        </p:nvSpPr>
        <p:spPr>
          <a:xfrm>
            <a:off x="1165377" y="347443"/>
            <a:ext cx="5548922" cy="1828461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3350754" y="1252728"/>
            <a:ext cx="1021526" cy="2832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250" b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$13,961.60</a:t>
            </a:r>
            <a:endParaRPr lang="en-US" sz="1250" b="1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1" name="Picture 2" descr="Home Pin Icons - Free SVG &amp; PNG Home Pin Images - Noun Project"/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2160" y="2241228"/>
            <a:ext cx="457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4" name="Rectangle 73"/>
          <p:cNvSpPr/>
          <p:nvPr/>
        </p:nvSpPr>
        <p:spPr>
          <a:xfrm>
            <a:off x="8436164" y="5297455"/>
            <a:ext cx="389811" cy="1094539"/>
          </a:xfrm>
          <a:prstGeom prst="rect">
            <a:avLst/>
          </a:prstGeom>
        </p:spPr>
        <p:txBody>
          <a:bodyPr vert="vert270" wrap="non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00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kumimoji="0" lang="en-US" sz="1335" b="1" i="0" u="none" strike="noStrike" kern="1200" cap="none" spc="0" normalizeH="0" baseline="0" noProof="0">
                <a:ln>
                  <a:noFill/>
                </a:ln>
                <a:solidFill>
                  <a:srgbClr val="70AD47">
                    <a:lumMod val="50000"/>
                  </a:srgbClr>
                </a:solidFill>
                <a:effectLst/>
                <a:uLnTx/>
                <a:uFillTx/>
                <a:latin typeface="Arial Black" panose="020B0A04020102020204" pitchFamily="34" charset="0"/>
              </a:rPr>
              <a:t>TOUCH-UP</a:t>
            </a:r>
            <a:endParaRPr kumimoji="0" lang="en-US" sz="1335" b="1" i="0" u="none" strike="noStrike" kern="1200" cap="none" spc="0" normalizeH="0" baseline="0" noProof="0">
              <a:ln>
                <a:noFill/>
              </a:ln>
              <a:solidFill>
                <a:srgbClr val="70AD47">
                  <a:lumMod val="50000"/>
                </a:srgbClr>
              </a:solidFill>
              <a:effectLst/>
              <a:uLnTx/>
              <a:uFillTx/>
              <a:latin typeface="Arial Black" panose="020B0A04020102020204" pitchFamily="34" charset="0"/>
            </a:endParaRPr>
          </a:p>
        </p:txBody>
      </p:sp>
      <p:sp>
        <p:nvSpPr>
          <p:cNvPr id="78" name="Rectangle 77"/>
          <p:cNvSpPr/>
          <p:nvPr/>
        </p:nvSpPr>
        <p:spPr>
          <a:xfrm>
            <a:off x="4376031" y="5251574"/>
            <a:ext cx="390084" cy="1243360"/>
          </a:xfrm>
          <a:prstGeom prst="rect">
            <a:avLst/>
          </a:prstGeom>
        </p:spPr>
        <p:txBody>
          <a:bodyPr vert="vert270" wrap="non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00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kumimoji="0" lang="en-US" sz="1335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 Black" panose="020B0A04020102020204" pitchFamily="34" charset="0"/>
              </a:rPr>
              <a:t>RE-INSPECT</a:t>
            </a:r>
            <a:endParaRPr kumimoji="0" lang="en-US" sz="1335" b="1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rial Black" panose="020B0A04020102020204" pitchFamily="34" charset="0"/>
            </a:endParaRPr>
          </a:p>
        </p:txBody>
      </p:sp>
      <p:pic>
        <p:nvPicPr>
          <p:cNvPr id="80" name="Picture 2" descr="Note Svg Png Icon Free Download (#408946) - OnlineWebFonts.COM"/>
          <p:cNvPicPr>
            <a:picLocks noChangeAspect="1" noChangeArrowheads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6021" y="4805429"/>
            <a:ext cx="258893" cy="2587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1" name="Group 80"/>
          <p:cNvGrpSpPr/>
          <p:nvPr/>
        </p:nvGrpSpPr>
        <p:grpSpPr>
          <a:xfrm>
            <a:off x="2009792" y="4805421"/>
            <a:ext cx="4451497" cy="1799259"/>
            <a:chOff x="2669473" y="4337325"/>
            <a:chExt cx="4452468" cy="1800948"/>
          </a:xfrm>
        </p:grpSpPr>
        <p:cxnSp>
          <p:nvCxnSpPr>
            <p:cNvPr id="82" name="Straight Connector 81"/>
            <p:cNvCxnSpPr/>
            <p:nvPr/>
          </p:nvCxnSpPr>
          <p:spPr>
            <a:xfrm>
              <a:off x="4828646" y="4674047"/>
              <a:ext cx="0" cy="1464226"/>
            </a:xfrm>
            <a:prstGeom prst="line">
              <a:avLst/>
            </a:prstGeom>
            <a:noFill/>
            <a:ln w="3175" cap="flat" cmpd="sng" algn="ctr">
              <a:solidFill>
                <a:sysClr val="window" lastClr="FFFFFF">
                  <a:lumMod val="75000"/>
                </a:sysClr>
              </a:solidFill>
              <a:prstDash val="solid"/>
              <a:miter lim="800000"/>
            </a:ln>
            <a:effectLst/>
          </p:spPr>
        </p:cxnSp>
        <p:grpSp>
          <p:nvGrpSpPr>
            <p:cNvPr id="83" name="Group 82"/>
            <p:cNvGrpSpPr/>
            <p:nvPr/>
          </p:nvGrpSpPr>
          <p:grpSpPr>
            <a:xfrm>
              <a:off x="2669473" y="4337325"/>
              <a:ext cx="4452468" cy="1574912"/>
              <a:chOff x="2669473" y="4337325"/>
              <a:chExt cx="4452468" cy="1574912"/>
            </a:xfrm>
          </p:grpSpPr>
          <p:sp>
            <p:nvSpPr>
              <p:cNvPr id="84" name="Rectangle 83"/>
              <p:cNvSpPr/>
              <p:nvPr/>
            </p:nvSpPr>
            <p:spPr>
              <a:xfrm>
                <a:off x="2669473" y="4829775"/>
                <a:ext cx="390169" cy="1082462"/>
              </a:xfrm>
              <a:prstGeom prst="rect">
                <a:avLst/>
              </a:prstGeom>
            </p:spPr>
            <p:txBody>
              <a:bodyPr vert="vert270" wrap="none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1400" b="0" i="0" u="none" strike="noStrike" kern="1200" spc="0" baseline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kumimoji="0" lang="en-US" sz="1335" b="1" i="0" u="none" strike="noStrike" kern="1200" cap="none" spc="0" normalizeH="0" baseline="0" noProof="0">
                    <a:ln>
                      <a:noFill/>
                    </a:ln>
                    <a:solidFill>
                      <a:srgbClr val="4472C4">
                        <a:lumMod val="50000"/>
                      </a:srgbClr>
                    </a:solidFill>
                    <a:effectLst/>
                    <a:uLnTx/>
                    <a:uFillTx/>
                    <a:latin typeface="Arial Black" panose="020B0A04020102020204" pitchFamily="34" charset="0"/>
                  </a:rPr>
                  <a:t>BC GRADE</a:t>
                </a:r>
                <a:endParaRPr kumimoji="0" lang="en-US" sz="1335" b="1" i="0" u="none" strike="noStrike" kern="1200" cap="none" spc="0" normalizeH="0" baseline="0" noProof="0">
                  <a:ln>
                    <a:noFill/>
                  </a:ln>
                  <a:solidFill>
                    <a:srgbClr val="4472C4">
                      <a:lumMod val="50000"/>
                    </a:srgbClr>
                  </a:solidFill>
                  <a:effectLst/>
                  <a:uLnTx/>
                  <a:uFillTx/>
                  <a:latin typeface="Arial Black" panose="020B0A04020102020204" pitchFamily="34" charset="0"/>
                </a:endParaRPr>
              </a:p>
            </p:txBody>
          </p:sp>
          <p:sp>
            <p:nvSpPr>
              <p:cNvPr id="85" name="Rectangle 84"/>
              <p:cNvSpPr/>
              <p:nvPr/>
            </p:nvSpPr>
            <p:spPr>
              <a:xfrm>
                <a:off x="2943148" y="4337325"/>
                <a:ext cx="4178793" cy="2772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2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 Black" panose="020B0A04020102020204" pitchFamily="34" charset="0"/>
                  </a:rPr>
                  <a:t>ANALYZE KEY ELEMENTS OF EACH CATEGORY</a:t>
                </a:r>
                <a:endPara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Black" panose="020B0A04020102020204" pitchFamily="34" charset="0"/>
                </a:endParaRPr>
              </a:p>
            </p:txBody>
          </p:sp>
        </p:grpSp>
      </p:grpSp>
      <p:cxnSp>
        <p:nvCxnSpPr>
          <p:cNvPr id="77" name="Straight Connector 76"/>
          <p:cNvCxnSpPr/>
          <p:nvPr/>
        </p:nvCxnSpPr>
        <p:spPr>
          <a:xfrm>
            <a:off x="8404420" y="5222928"/>
            <a:ext cx="0" cy="1278959"/>
          </a:xfrm>
          <a:prstGeom prst="line">
            <a:avLst/>
          </a:prstGeom>
          <a:noFill/>
          <a:ln w="3175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pic>
        <p:nvPicPr>
          <p:cNvPr id="86" name="Picture 4" descr="Dollar symbol Good Ware Lineal icon"/>
          <p:cNvPicPr>
            <a:picLocks noChangeAspect="1" noChangeArrowheads="1"/>
          </p:cNvPicPr>
          <p:nvPr/>
        </p:nvPicPr>
        <p:blipFill>
          <a:blip r:embed="rId16" cstate="print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artisticPhotocopy trans="30000" detail="2"/>
                    </a14:imgEffect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4857" y="897844"/>
            <a:ext cx="1035446" cy="980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7" name="Rectangle 86"/>
          <p:cNvSpPr/>
          <p:nvPr/>
        </p:nvSpPr>
        <p:spPr>
          <a:xfrm>
            <a:off x="6369309" y="1248190"/>
            <a:ext cx="1040130" cy="2990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350" b="1" ker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$26,138.55</a:t>
            </a:r>
            <a:endParaRPr lang="en-US" sz="1350" b="1" kern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8" name="Picture 4" descr="Dollar symbol Good Ware Lineal icon"/>
          <p:cNvPicPr>
            <a:picLocks noChangeAspect="1" noChangeArrowheads="1"/>
          </p:cNvPicPr>
          <p:nvPr/>
        </p:nvPicPr>
        <p:blipFill>
          <a:blip r:embed="rId16" cstate="print">
            <a:grayscl/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artisticPhotocopy trans="30000" detail="2"/>
                    </a14:imgEffect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34965" y="940568"/>
            <a:ext cx="895269" cy="886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9" name="Rectangle 88"/>
          <p:cNvSpPr/>
          <p:nvPr/>
        </p:nvSpPr>
        <p:spPr>
          <a:xfrm>
            <a:off x="9172626" y="1246013"/>
            <a:ext cx="1041207" cy="2832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250" b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$12,176.95</a:t>
            </a:r>
            <a:endParaRPr lang="en-US" sz="1250" b="1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0" name="Rectangle 64"/>
          <p:cNvSpPr/>
          <p:nvPr/>
        </p:nvSpPr>
        <p:spPr>
          <a:xfrm>
            <a:off x="10677954" y="4264605"/>
            <a:ext cx="383540" cy="245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00" b="1">
                <a:solidFill>
                  <a:prstClr val="white">
                    <a:lumMod val="85000"/>
                  </a:prstClr>
                </a:solidFill>
                <a:latin typeface="Calibri Light" panose="020F0302020204030204"/>
                <a:cs typeface="Arial" panose="020B0604020202020204" pitchFamily="34" charset="0"/>
              </a:rPr>
              <a:t>N/A</a:t>
            </a:r>
            <a:endParaRPr lang="en-US" sz="1000" b="1">
              <a:solidFill>
                <a:prstClr val="white">
                  <a:lumMod val="85000"/>
                </a:prstClr>
              </a:solidFill>
              <a:latin typeface="Calibri Light" panose="020F0302020204030204"/>
              <a:cs typeface="Arial" panose="020B0604020202020204" pitchFamily="34" charset="0"/>
            </a:endParaRPr>
          </a:p>
        </p:txBody>
      </p:sp>
      <p:sp>
        <p:nvSpPr>
          <p:cNvPr id="91" name="Rectangle 64"/>
          <p:cNvSpPr/>
          <p:nvPr/>
        </p:nvSpPr>
        <p:spPr>
          <a:xfrm>
            <a:off x="5271379" y="4264605"/>
            <a:ext cx="383540" cy="245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00" b="1">
                <a:solidFill>
                  <a:prstClr val="white">
                    <a:lumMod val="85000"/>
                  </a:prstClr>
                </a:solidFill>
                <a:latin typeface="Calibri Light" panose="020F0302020204030204"/>
                <a:cs typeface="Arial" panose="020B0604020202020204" pitchFamily="34" charset="0"/>
              </a:rPr>
              <a:t>N/A</a:t>
            </a:r>
            <a:endParaRPr lang="en-US" sz="1000" b="1">
              <a:solidFill>
                <a:prstClr val="white">
                  <a:lumMod val="85000"/>
                </a:prstClr>
              </a:solidFill>
              <a:latin typeface="Calibri Light" panose="020F0302020204030204"/>
              <a:cs typeface="Arial" panose="020B0604020202020204" pitchFamily="34" charset="0"/>
            </a:endParaRPr>
          </a:p>
        </p:txBody>
      </p:sp>
      <p:sp>
        <p:nvSpPr>
          <p:cNvPr id="92" name="Rectangle 64"/>
          <p:cNvSpPr/>
          <p:nvPr/>
        </p:nvSpPr>
        <p:spPr>
          <a:xfrm>
            <a:off x="5271379" y="2919675"/>
            <a:ext cx="383540" cy="245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00" b="1">
                <a:solidFill>
                  <a:prstClr val="white">
                    <a:lumMod val="85000"/>
                  </a:prstClr>
                </a:solidFill>
                <a:latin typeface="Calibri Light" panose="020F0302020204030204"/>
                <a:cs typeface="Arial" panose="020B0604020202020204" pitchFamily="34" charset="0"/>
              </a:rPr>
              <a:t>N/A</a:t>
            </a:r>
            <a:endParaRPr lang="en-US" sz="1000" b="1">
              <a:solidFill>
                <a:prstClr val="white">
                  <a:lumMod val="85000"/>
                </a:prstClr>
              </a:solidFill>
              <a:latin typeface="Calibri Light" panose="020F0302020204030204"/>
              <a:cs typeface="Arial" panose="020B0604020202020204" pitchFamily="34" charset="0"/>
            </a:endParaRPr>
          </a:p>
        </p:txBody>
      </p:sp>
      <p:sp>
        <p:nvSpPr>
          <p:cNvPr id="93" name="Rectangle 64"/>
          <p:cNvSpPr/>
          <p:nvPr/>
        </p:nvSpPr>
        <p:spPr>
          <a:xfrm>
            <a:off x="6634370" y="2919675"/>
            <a:ext cx="383540" cy="245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00" b="1">
                <a:solidFill>
                  <a:prstClr val="white">
                    <a:lumMod val="85000"/>
                  </a:prstClr>
                </a:solidFill>
                <a:latin typeface="Calibri Light" panose="020F0302020204030204"/>
                <a:cs typeface="Arial" panose="020B0604020202020204" pitchFamily="34" charset="0"/>
              </a:rPr>
              <a:t>N/A</a:t>
            </a:r>
            <a:endParaRPr lang="en-US" sz="1000" b="1">
              <a:solidFill>
                <a:prstClr val="white">
                  <a:lumMod val="85000"/>
                </a:prstClr>
              </a:solidFill>
              <a:latin typeface="Calibri Light" panose="020F0302020204030204"/>
              <a:cs typeface="Arial" panose="020B0604020202020204" pitchFamily="34" charset="0"/>
            </a:endParaRPr>
          </a:p>
        </p:txBody>
      </p:sp>
      <p:sp>
        <p:nvSpPr>
          <p:cNvPr id="94" name="Rectangle 64"/>
          <p:cNvSpPr/>
          <p:nvPr/>
        </p:nvSpPr>
        <p:spPr>
          <a:xfrm>
            <a:off x="6634370" y="3622620"/>
            <a:ext cx="383540" cy="245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00" b="1">
                <a:solidFill>
                  <a:prstClr val="white">
                    <a:lumMod val="85000"/>
                  </a:prstClr>
                </a:solidFill>
                <a:latin typeface="Calibri Light" panose="020F0302020204030204"/>
                <a:cs typeface="Arial" panose="020B0604020202020204" pitchFamily="34" charset="0"/>
              </a:rPr>
              <a:t>N/A</a:t>
            </a:r>
            <a:endParaRPr lang="en-US" sz="1000" b="1">
              <a:solidFill>
                <a:prstClr val="white">
                  <a:lumMod val="85000"/>
                </a:prstClr>
              </a:solidFill>
              <a:latin typeface="Calibri Light" panose="020F0302020204030204"/>
              <a:cs typeface="Arial" panose="020B0604020202020204" pitchFamily="34" charset="0"/>
            </a:endParaRPr>
          </a:p>
        </p:txBody>
      </p:sp>
      <p:sp>
        <p:nvSpPr>
          <p:cNvPr id="95" name="Rectangle 64"/>
          <p:cNvSpPr/>
          <p:nvPr/>
        </p:nvSpPr>
        <p:spPr>
          <a:xfrm>
            <a:off x="9305106" y="4264605"/>
            <a:ext cx="383540" cy="245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00" b="1">
                <a:solidFill>
                  <a:prstClr val="white">
                    <a:lumMod val="85000"/>
                  </a:prstClr>
                </a:solidFill>
                <a:latin typeface="Calibri Light" panose="020F0302020204030204"/>
                <a:cs typeface="Arial" panose="020B0604020202020204" pitchFamily="34" charset="0"/>
              </a:rPr>
              <a:t>N/A</a:t>
            </a:r>
            <a:endParaRPr lang="en-US" sz="1000" b="1">
              <a:solidFill>
                <a:prstClr val="white">
                  <a:lumMod val="85000"/>
                </a:prstClr>
              </a:solidFill>
              <a:latin typeface="Calibri Light" panose="020F0302020204030204"/>
              <a:cs typeface="Arial" panose="020B0604020202020204" pitchFamily="34" charset="0"/>
            </a:endParaRPr>
          </a:p>
        </p:txBody>
      </p:sp>
      <p:sp>
        <p:nvSpPr>
          <p:cNvPr id="96" name="Rectangle 64"/>
          <p:cNvSpPr/>
          <p:nvPr/>
        </p:nvSpPr>
        <p:spPr>
          <a:xfrm>
            <a:off x="10677954" y="2919675"/>
            <a:ext cx="383540" cy="245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00" b="1">
                <a:solidFill>
                  <a:prstClr val="white">
                    <a:lumMod val="85000"/>
                  </a:prstClr>
                </a:solidFill>
                <a:latin typeface="Calibri Light" panose="020F0302020204030204"/>
                <a:cs typeface="Arial" panose="020B0604020202020204" pitchFamily="34" charset="0"/>
              </a:rPr>
              <a:t>N/A</a:t>
            </a:r>
            <a:endParaRPr lang="en-US" sz="1000" b="1">
              <a:solidFill>
                <a:prstClr val="white">
                  <a:lumMod val="85000"/>
                </a:prstClr>
              </a:solidFill>
              <a:latin typeface="Calibri Light" panose="020F0302020204030204"/>
              <a:cs typeface="Arial" panose="020B06040202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782720" y="62361"/>
            <a:ext cx="6028870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2000" b="1" spc="50">
                <a:solidFill>
                  <a:srgbClr val="3C4DA0"/>
                </a:solidFill>
                <a:latin typeface="Neo Sans Std" panose="020B05040305040B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Cost of Poor Quality (CoPQ)_</a:t>
            </a:r>
            <a:r>
              <a:rPr lang="en-US" sz="1400" b="1" spc="50">
                <a:solidFill>
                  <a:srgbClr val="3C4DA0"/>
                </a:solidFill>
                <a:latin typeface="Neo Sans Std" panose="020B05040305040B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Jul</a:t>
            </a:r>
            <a:r>
              <a:rPr lang="en-US" sz="1400" b="1" spc="50">
                <a:solidFill>
                  <a:srgbClr val="3C4DA0"/>
                </a:solidFill>
                <a:latin typeface="Neo Sans Std" panose="020B05040305040B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, 2026</a:t>
            </a:r>
            <a:endParaRPr lang="en-US" sz="1400" b="1" spc="50">
              <a:solidFill>
                <a:srgbClr val="3C4DA0"/>
              </a:solidFill>
              <a:latin typeface="Neo Sans Std" panose="020B05040305040B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graphicFrame>
        <p:nvGraphicFramePr>
          <p:cNvPr id="59" name="Chart 58"/>
          <p:cNvGraphicFramePr/>
          <p:nvPr/>
        </p:nvGraphicFramePr>
        <p:xfrm>
          <a:off x="5884625" y="363525"/>
          <a:ext cx="2263305" cy="18439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9" name="Chart 18"/>
          <p:cNvGraphicFramePr/>
          <p:nvPr/>
        </p:nvGraphicFramePr>
        <p:xfrm>
          <a:off x="2614930" y="2734310"/>
          <a:ext cx="1273810" cy="19011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1" name="Chart 20"/>
          <p:cNvGraphicFramePr/>
          <p:nvPr/>
        </p:nvGraphicFramePr>
        <p:xfrm>
          <a:off x="3904933" y="2785745"/>
          <a:ext cx="1331595" cy="19189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23" name="Chart 22"/>
          <p:cNvGraphicFramePr/>
          <p:nvPr/>
        </p:nvGraphicFramePr>
        <p:xfrm>
          <a:off x="5300028" y="2747963"/>
          <a:ext cx="1334135" cy="19107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25" name="Chart 24"/>
          <p:cNvGraphicFramePr/>
          <p:nvPr/>
        </p:nvGraphicFramePr>
        <p:xfrm>
          <a:off x="6634163" y="2753995"/>
          <a:ext cx="1334135" cy="1920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27" name="Chart 26"/>
          <p:cNvGraphicFramePr/>
          <p:nvPr/>
        </p:nvGraphicFramePr>
        <p:xfrm>
          <a:off x="7976235" y="2785745"/>
          <a:ext cx="1309370" cy="1920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29" name="Chart 28"/>
          <p:cNvGraphicFramePr/>
          <p:nvPr/>
        </p:nvGraphicFramePr>
        <p:xfrm>
          <a:off x="9343390" y="2785745"/>
          <a:ext cx="1280160" cy="1920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31" name="Chart 30"/>
          <p:cNvGraphicFramePr/>
          <p:nvPr/>
        </p:nvGraphicFramePr>
        <p:xfrm>
          <a:off x="10678160" y="2781935"/>
          <a:ext cx="1311275" cy="18923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graphicFrame>
        <p:nvGraphicFramePr>
          <p:cNvPr id="33" name="Chart 32"/>
          <p:cNvGraphicFramePr/>
          <p:nvPr/>
        </p:nvGraphicFramePr>
        <p:xfrm>
          <a:off x="2351723" y="5172075"/>
          <a:ext cx="1800225" cy="14808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  <p:graphicFrame>
        <p:nvGraphicFramePr>
          <p:cNvPr id="35" name="Chart 34"/>
          <p:cNvGraphicFramePr/>
          <p:nvPr/>
        </p:nvGraphicFramePr>
        <p:xfrm>
          <a:off x="4765993" y="5123815"/>
          <a:ext cx="1726565" cy="14808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"/>
          </a:graphicData>
        </a:graphic>
      </p:graphicFrame>
      <p:graphicFrame>
        <p:nvGraphicFramePr>
          <p:cNvPr id="37" name="Chart 36"/>
          <p:cNvGraphicFramePr/>
          <p:nvPr/>
        </p:nvGraphicFramePr>
        <p:xfrm>
          <a:off x="6460808" y="5121910"/>
          <a:ext cx="1828165" cy="14808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3"/>
          </a:graphicData>
        </a:graphic>
      </p:graphicFrame>
      <p:graphicFrame>
        <p:nvGraphicFramePr>
          <p:cNvPr id="39" name="Chart 38"/>
          <p:cNvGraphicFramePr/>
          <p:nvPr/>
        </p:nvGraphicFramePr>
        <p:xfrm>
          <a:off x="8898890" y="5064125"/>
          <a:ext cx="1567180" cy="14808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4"/>
          </a:graphicData>
        </a:graphic>
      </p:graphicFrame>
      <p:graphicFrame>
        <p:nvGraphicFramePr>
          <p:cNvPr id="41" name="Chart 40"/>
          <p:cNvGraphicFramePr/>
          <p:nvPr/>
        </p:nvGraphicFramePr>
        <p:xfrm>
          <a:off x="10364470" y="5020945"/>
          <a:ext cx="1752600" cy="14808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5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E283A-E5DF-404F-88FE-649AD4D2791B}" type="slidenum">
              <a:rPr lang="en-ID" smtClean="0"/>
            </a:fld>
            <a:endParaRPr lang="en-ID"/>
          </a:p>
        </p:txBody>
      </p:sp>
      <p:sp>
        <p:nvSpPr>
          <p:cNvPr id="11" name="Rectangle 10"/>
          <p:cNvSpPr/>
          <p:nvPr/>
        </p:nvSpPr>
        <p:spPr>
          <a:xfrm>
            <a:off x="3691125" y="263230"/>
            <a:ext cx="1287709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740000"/>
                </a:solidFill>
                <a:effectLst/>
                <a:uLnTx/>
                <a:uFillTx/>
                <a:latin typeface="Arial Black" panose="020B0A04020102020204" pitchFamily="34" charset="0"/>
              </a:rPr>
              <a:t>BC GRADE </a:t>
            </a: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740000"/>
              </a:solidFill>
              <a:effectLst/>
              <a:uLnTx/>
              <a:uFillTx/>
            </a:endParaRPr>
          </a:p>
        </p:txBody>
      </p:sp>
      <p:sp>
        <p:nvSpPr>
          <p:cNvPr id="12" name="Isosceles Triangle 11"/>
          <p:cNvSpPr/>
          <p:nvPr/>
        </p:nvSpPr>
        <p:spPr>
          <a:xfrm rot="5400000">
            <a:off x="3523180" y="319960"/>
            <a:ext cx="200260" cy="193244"/>
          </a:xfrm>
          <a:prstGeom prst="triangle">
            <a:avLst/>
          </a:prstGeom>
          <a:solidFill>
            <a:srgbClr val="003366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3" name="Group 12"/>
          <p:cNvGrpSpPr/>
          <p:nvPr/>
        </p:nvGrpSpPr>
        <p:grpSpPr>
          <a:xfrm>
            <a:off x="4060145" y="1499309"/>
            <a:ext cx="255987" cy="4654174"/>
            <a:chOff x="3281478" y="1206600"/>
            <a:chExt cx="224810" cy="4655034"/>
          </a:xfrm>
        </p:grpSpPr>
        <p:sp>
          <p:nvSpPr>
            <p:cNvPr id="14" name="Isosceles Triangle 13"/>
            <p:cNvSpPr/>
            <p:nvPr/>
          </p:nvSpPr>
          <p:spPr>
            <a:xfrm rot="5400000">
              <a:off x="3256723" y="1231356"/>
              <a:ext cx="274320" cy="224808"/>
            </a:xfrm>
            <a:prstGeom prst="triangle">
              <a:avLst/>
            </a:prstGeom>
            <a:solidFill>
              <a:srgbClr val="A5A5A5">
                <a:lumMod val="5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Isosceles Triangle 14"/>
            <p:cNvSpPr/>
            <p:nvPr/>
          </p:nvSpPr>
          <p:spPr>
            <a:xfrm rot="5400000">
              <a:off x="3256723" y="2731750"/>
              <a:ext cx="274320" cy="224808"/>
            </a:xfrm>
            <a:prstGeom prst="triangle">
              <a:avLst/>
            </a:prstGeom>
            <a:solidFill>
              <a:srgbClr val="A5A5A5">
                <a:lumMod val="5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Isosceles Triangle 15"/>
            <p:cNvSpPr/>
            <p:nvPr/>
          </p:nvSpPr>
          <p:spPr>
            <a:xfrm rot="5400000">
              <a:off x="3256724" y="4198041"/>
              <a:ext cx="274320" cy="224808"/>
            </a:xfrm>
            <a:prstGeom prst="triangle">
              <a:avLst/>
            </a:prstGeom>
            <a:solidFill>
              <a:srgbClr val="A5A5A5">
                <a:lumMod val="5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Isosceles Triangle 16"/>
            <p:cNvSpPr/>
            <p:nvPr/>
          </p:nvSpPr>
          <p:spPr>
            <a:xfrm rot="5400000">
              <a:off x="3256722" y="5612070"/>
              <a:ext cx="274320" cy="224808"/>
            </a:xfrm>
            <a:prstGeom prst="triangle">
              <a:avLst/>
            </a:prstGeom>
            <a:solidFill>
              <a:srgbClr val="A5A5A5">
                <a:lumMod val="5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8" name="Rectangle 17"/>
          <p:cNvSpPr/>
          <p:nvPr/>
        </p:nvSpPr>
        <p:spPr>
          <a:xfrm>
            <a:off x="6980833" y="89584"/>
            <a:ext cx="3111749" cy="292388"/>
          </a:xfrm>
          <a:prstGeom prst="rect">
            <a:avLst/>
          </a:prstGeom>
          <a:solidFill>
            <a:srgbClr val="0070C0"/>
          </a:solidFill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Black" panose="020B0A04020102020204" pitchFamily="34" charset="0"/>
              </a:rPr>
              <a:t>THIS MONTH DETAIL ANALYSIS</a:t>
            </a:r>
            <a:endParaRPr kumimoji="0" lang="en-US" sz="13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013253" y="674722"/>
            <a:ext cx="967105" cy="245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 sz="1000" b="0" i="0" u="none" strike="noStrike" kern="1200" spc="0" baseline="0">
                <a:solidFill>
                  <a:prstClr val="black"/>
                </a:solidFill>
                <a:latin typeface="Arial Black" panose="020B0A04020102020204" pitchFamily="34" charset="0"/>
                <a:ea typeface="+mn-ea"/>
                <a:cs typeface="+mn-cs"/>
              </a:defRPr>
            </a:pPr>
            <a:r>
              <a:rPr lang="en-US" sz="1000">
                <a:solidFill>
                  <a:prstClr val="black"/>
                </a:solidFill>
                <a:latin typeface="Arial Black" panose="020B0A04020102020204" pitchFamily="34" charset="0"/>
              </a:rPr>
              <a:t>BY MODEL </a:t>
            </a:r>
            <a:endParaRPr lang="en-US" sz="1000">
              <a:solidFill>
                <a:prstClr val="black"/>
              </a:solidFill>
              <a:latin typeface="Arial Black" panose="020B0A04020102020204" pitchFamily="34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0109695" y="665197"/>
            <a:ext cx="1292860" cy="245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 sz="1000" b="0" i="0" u="none" strike="noStrike" kern="1200" spc="0" baseline="0">
                <a:solidFill>
                  <a:prstClr val="black"/>
                </a:solidFill>
                <a:latin typeface="Arial Black" panose="020B0A04020102020204" pitchFamily="34" charset="0"/>
                <a:ea typeface="+mn-ea"/>
                <a:cs typeface="+mn-cs"/>
              </a:defRPr>
            </a:pPr>
            <a:r>
              <a:rPr lang="en-US" sz="1000">
                <a:solidFill>
                  <a:prstClr val="black"/>
                </a:solidFill>
                <a:latin typeface="Arial Black" panose="020B0A04020102020204" pitchFamily="34" charset="0"/>
              </a:rPr>
              <a:t>BY WORK AREA</a:t>
            </a:r>
            <a:endParaRPr lang="en-US" sz="1000">
              <a:solidFill>
                <a:prstClr val="black"/>
              </a:solidFill>
              <a:latin typeface="Arial Black" panose="020B0A04020102020204" pitchFamily="34" charset="0"/>
            </a:endParaRPr>
          </a:p>
        </p:txBody>
      </p:sp>
      <p:cxnSp>
        <p:nvCxnSpPr>
          <p:cNvPr id="21" name="Elbow Connector 20"/>
          <p:cNvCxnSpPr>
            <a:stCxn id="18" idx="1"/>
            <a:endCxn id="19" idx="0"/>
          </p:cNvCxnSpPr>
          <p:nvPr/>
        </p:nvCxnSpPr>
        <p:spPr>
          <a:xfrm rot="10800000" flipV="1">
            <a:off x="6497320" y="235585"/>
            <a:ext cx="483235" cy="439420"/>
          </a:xfrm>
          <a:prstGeom prst="bentConnector2">
            <a:avLst/>
          </a:prstGeom>
          <a:noFill/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</p:cxnSp>
      <p:cxnSp>
        <p:nvCxnSpPr>
          <p:cNvPr id="22" name="Elbow Connector 21"/>
          <p:cNvCxnSpPr>
            <a:stCxn id="18" idx="3"/>
            <a:endCxn id="20" idx="0"/>
          </p:cNvCxnSpPr>
          <p:nvPr/>
        </p:nvCxnSpPr>
        <p:spPr>
          <a:xfrm>
            <a:off x="10092582" y="235778"/>
            <a:ext cx="663543" cy="429419"/>
          </a:xfrm>
          <a:prstGeom prst="bentConnector2">
            <a:avLst/>
          </a:prstGeom>
          <a:noFill/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</p:cxnSp>
      <p:sp>
        <p:nvSpPr>
          <p:cNvPr id="23" name="Rectangle 3"/>
          <p:cNvSpPr/>
          <p:nvPr/>
        </p:nvSpPr>
        <p:spPr>
          <a:xfrm>
            <a:off x="9854" y="263230"/>
            <a:ext cx="3382653" cy="306705"/>
          </a:xfrm>
          <a:prstGeom prst="rect">
            <a:avLst/>
          </a:prstGeom>
          <a:solidFill>
            <a:srgbClr val="003366"/>
          </a:solidFill>
        </p:spPr>
        <p:txBody>
          <a:bodyPr wrap="square" anchor="ctr" anchorCtr="0">
            <a:spAutoFit/>
          </a:bodyPr>
          <a:lstStyle/>
          <a:p>
            <a:pPr algn="ctr"/>
            <a:r>
              <a:rPr lang="en-US" sz="1400">
                <a:solidFill>
                  <a:prstClr val="white"/>
                </a:solidFill>
                <a:latin typeface="Arial Black" panose="020B0A04020102020204" pitchFamily="34" charset="0"/>
              </a:rPr>
              <a:t>CoPQ Analysis</a:t>
            </a:r>
            <a:endParaRPr lang="en-US" sz="1400">
              <a:solidFill>
                <a:prstClr val="white"/>
              </a:solidFill>
              <a:latin typeface="Arial Black" panose="020B0A04020102020204" pitchFamily="34" charset="0"/>
            </a:endParaRPr>
          </a:p>
        </p:txBody>
      </p:sp>
      <p:graphicFrame>
        <p:nvGraphicFramePr>
          <p:cNvPr id="2" name="Chart 1"/>
          <p:cNvGraphicFramePr/>
          <p:nvPr/>
        </p:nvGraphicFramePr>
        <p:xfrm>
          <a:off x="74613" y="910590"/>
          <a:ext cx="3745865" cy="13589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7" name="Chart 6"/>
          <p:cNvGraphicFramePr/>
          <p:nvPr/>
        </p:nvGraphicFramePr>
        <p:xfrm>
          <a:off x="74930" y="2367280"/>
          <a:ext cx="3747770" cy="1371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0" name="Chart 9"/>
          <p:cNvGraphicFramePr/>
          <p:nvPr/>
        </p:nvGraphicFramePr>
        <p:xfrm>
          <a:off x="74930" y="3863975"/>
          <a:ext cx="3747770" cy="1371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Chart 8"/>
          <p:cNvGraphicFramePr/>
          <p:nvPr/>
        </p:nvGraphicFramePr>
        <p:xfrm>
          <a:off x="74930" y="5360670"/>
          <a:ext cx="3747770" cy="1371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5" name="Chart 24"/>
          <p:cNvGraphicFramePr/>
          <p:nvPr/>
        </p:nvGraphicFramePr>
        <p:xfrm>
          <a:off x="4389755" y="911860"/>
          <a:ext cx="4650740" cy="1371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27" name="Chart 26"/>
          <p:cNvGraphicFramePr/>
          <p:nvPr/>
        </p:nvGraphicFramePr>
        <p:xfrm>
          <a:off x="8961120" y="915035"/>
          <a:ext cx="3218180" cy="13436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29" name="Chart 28"/>
          <p:cNvGraphicFramePr/>
          <p:nvPr/>
        </p:nvGraphicFramePr>
        <p:xfrm>
          <a:off x="8973820" y="2303780"/>
          <a:ext cx="3218180" cy="13436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31" name="Chart 30"/>
          <p:cNvGraphicFramePr/>
          <p:nvPr/>
        </p:nvGraphicFramePr>
        <p:xfrm>
          <a:off x="8973820" y="3667443"/>
          <a:ext cx="3218180" cy="13938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34" name="Chart 33"/>
          <p:cNvGraphicFramePr/>
          <p:nvPr/>
        </p:nvGraphicFramePr>
        <p:xfrm>
          <a:off x="8973820" y="5248910"/>
          <a:ext cx="3218180" cy="13436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36" name="Chart 35"/>
          <p:cNvGraphicFramePr/>
          <p:nvPr/>
        </p:nvGraphicFramePr>
        <p:xfrm>
          <a:off x="4389755" y="2450465"/>
          <a:ext cx="4650740" cy="1371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graphicFrame>
        <p:nvGraphicFramePr>
          <p:cNvPr id="39" name="Chart 38"/>
          <p:cNvGraphicFramePr/>
          <p:nvPr/>
        </p:nvGraphicFramePr>
        <p:xfrm>
          <a:off x="4388803" y="3870960"/>
          <a:ext cx="4651375" cy="1371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  <p:graphicFrame>
        <p:nvGraphicFramePr>
          <p:cNvPr id="41" name="Chart 40"/>
          <p:cNvGraphicFramePr/>
          <p:nvPr/>
        </p:nvGraphicFramePr>
        <p:xfrm>
          <a:off x="4389755" y="5387340"/>
          <a:ext cx="4650740" cy="1371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"/>
          </a:graphicData>
        </a:graphic>
      </p:graphicFrame>
      <p:pic>
        <p:nvPicPr>
          <p:cNvPr id="66" name="Content Placeholder 65"/>
          <p:cNvPicPr>
            <a:picLocks noChangeAspect="1"/>
          </p:cNvPicPr>
          <p:nvPr>
            <p:ph idx="1"/>
          </p:nvPr>
        </p:nvPicPr>
        <p:blipFill>
          <a:blip r:embed="rId17"/>
          <a:stretch>
            <a:fillRect/>
          </a:stretch>
        </p:blipFill>
        <p:spPr>
          <a:xfrm>
            <a:off x="8154035" y="910590"/>
            <a:ext cx="886460" cy="532130"/>
          </a:xfrm>
          <a:prstGeom prst="rect">
            <a:avLst/>
          </a:prstGeom>
        </p:spPr>
      </p:pic>
      <p:graphicFrame>
        <p:nvGraphicFramePr>
          <p:cNvPr id="79" name="Chart 78"/>
          <p:cNvGraphicFramePr/>
          <p:nvPr/>
        </p:nvGraphicFramePr>
        <p:xfrm>
          <a:off x="6303010" y="920115"/>
          <a:ext cx="3023870" cy="14154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3"/>
          </a:graphicData>
        </a:graphic>
      </p:graphicFrame>
      <p:graphicFrame>
        <p:nvGraphicFramePr>
          <p:cNvPr id="81" name="Chart 80"/>
          <p:cNvGraphicFramePr/>
          <p:nvPr/>
        </p:nvGraphicFramePr>
        <p:xfrm>
          <a:off x="6314440" y="2418715"/>
          <a:ext cx="2646680" cy="14084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4"/>
          </a:graphicData>
        </a:graphic>
      </p:graphicFrame>
      <p:pic>
        <p:nvPicPr>
          <p:cNvPr id="89" name="Picture 88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368030" y="2460625"/>
            <a:ext cx="672465" cy="438785"/>
          </a:xfrm>
          <a:prstGeom prst="rect">
            <a:avLst/>
          </a:prstGeom>
        </p:spPr>
      </p:pic>
      <p:graphicFrame>
        <p:nvGraphicFramePr>
          <p:cNvPr id="93" name="Chart 92"/>
          <p:cNvGraphicFramePr/>
          <p:nvPr/>
        </p:nvGraphicFramePr>
        <p:xfrm>
          <a:off x="6314440" y="3910330"/>
          <a:ext cx="2726055" cy="13843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5"/>
          </a:graphicData>
        </a:graphic>
      </p:graphicFrame>
      <p:pic>
        <p:nvPicPr>
          <p:cNvPr id="95" name="Picture 94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081645" y="3910330"/>
            <a:ext cx="959485" cy="391160"/>
          </a:xfrm>
          <a:prstGeom prst="rect">
            <a:avLst/>
          </a:prstGeom>
        </p:spPr>
      </p:pic>
      <p:graphicFrame>
        <p:nvGraphicFramePr>
          <p:cNvPr id="97" name="Chart 96"/>
          <p:cNvGraphicFramePr/>
          <p:nvPr/>
        </p:nvGraphicFramePr>
        <p:xfrm>
          <a:off x="6438900" y="5377815"/>
          <a:ext cx="2534920" cy="1488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6"/>
          </a:graphicData>
        </a:graphic>
      </p:graphicFrame>
      <p:pic>
        <p:nvPicPr>
          <p:cNvPr id="99" name="Picture 98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270875" y="5377815"/>
            <a:ext cx="804545" cy="4889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Isosceles Triangle 38"/>
          <p:cNvSpPr/>
          <p:nvPr/>
        </p:nvSpPr>
        <p:spPr>
          <a:xfrm rot="5400000">
            <a:off x="3495927" y="138107"/>
            <a:ext cx="200260" cy="193244"/>
          </a:xfrm>
          <a:prstGeom prst="triangle">
            <a:avLst/>
          </a:prstGeom>
          <a:solidFill>
            <a:srgbClr val="003366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3693391" y="90960"/>
            <a:ext cx="1910305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463500"/>
                </a:solidFill>
                <a:effectLst/>
                <a:uLnTx/>
                <a:uFillTx/>
                <a:latin typeface="Arial Black" panose="020B0A04020102020204" pitchFamily="34" charset="0"/>
              </a:rPr>
              <a:t>RE-INSPECTION</a:t>
            </a: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463500"/>
              </a:solidFill>
              <a:effectLst/>
              <a:uLnTx/>
              <a:uFillTx/>
            </a:endParaRPr>
          </a:p>
        </p:txBody>
      </p:sp>
      <p:sp>
        <p:nvSpPr>
          <p:cNvPr id="41" name="Rectangle 3"/>
          <p:cNvSpPr/>
          <p:nvPr/>
        </p:nvSpPr>
        <p:spPr>
          <a:xfrm>
            <a:off x="1351" y="70909"/>
            <a:ext cx="3382653" cy="306705"/>
          </a:xfrm>
          <a:prstGeom prst="rect">
            <a:avLst/>
          </a:prstGeom>
          <a:solidFill>
            <a:srgbClr val="003366"/>
          </a:solidFill>
        </p:spPr>
        <p:txBody>
          <a:bodyPr wrap="square" anchor="ctr" anchorCtr="0">
            <a:spAutoFit/>
          </a:bodyPr>
          <a:lstStyle/>
          <a:p>
            <a:pPr algn="ctr"/>
            <a:r>
              <a:rPr lang="en-US" sz="1400">
                <a:solidFill>
                  <a:prstClr val="white"/>
                </a:solidFill>
                <a:latin typeface="Arial Black" panose="020B0A04020102020204" pitchFamily="34" charset="0"/>
              </a:rPr>
              <a:t>CoPQ Analysis</a:t>
            </a:r>
            <a:endParaRPr lang="en-US" sz="1400">
              <a:solidFill>
                <a:prstClr val="white"/>
              </a:solidFill>
              <a:latin typeface="Arial Black" panose="020B0A04020102020204" pitchFamily="34" charset="0"/>
            </a:endParaRPr>
          </a:p>
        </p:txBody>
      </p:sp>
      <p:grpSp>
        <p:nvGrpSpPr>
          <p:cNvPr id="42" name="Group 41"/>
          <p:cNvGrpSpPr/>
          <p:nvPr/>
        </p:nvGrpSpPr>
        <p:grpSpPr>
          <a:xfrm>
            <a:off x="100014" y="685799"/>
            <a:ext cx="1920575" cy="6035040"/>
            <a:chOff x="114" y="918"/>
            <a:chExt cx="2867" cy="9593"/>
          </a:xfrm>
        </p:grpSpPr>
        <p:sp>
          <p:nvSpPr>
            <p:cNvPr id="43" name="Rounded Rectangle 42"/>
            <p:cNvSpPr/>
            <p:nvPr/>
          </p:nvSpPr>
          <p:spPr>
            <a:xfrm>
              <a:off x="114" y="918"/>
              <a:ext cx="2867" cy="9593"/>
            </a:xfrm>
            <a:prstGeom prst="round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" lastClr="FFFFFF">
                  <a:lumMod val="95000"/>
                </a:sysClr>
              </a:solidFill>
              <a:prstDash val="solid"/>
              <a:miter lim="800000"/>
            </a:ln>
            <a:effectLst>
              <a:glow rad="63500">
                <a:srgbClr val="A5A5A5">
                  <a:satMod val="175000"/>
                  <a:alpha val="40000"/>
                </a:srgbClr>
              </a:glow>
            </a:effectLst>
          </p:spPr>
          <p:txBody>
            <a:bodyPr rot="0" spcFirstLastPara="0" vertOverflow="overflow" horzOverflow="overflow" vert="horz" wrap="square" lIns="91423" tIns="45711" rIns="91423" bIns="45711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" name="Rectangle 43"/>
            <p:cNvSpPr/>
            <p:nvPr/>
          </p:nvSpPr>
          <p:spPr>
            <a:xfrm>
              <a:off x="1134" y="932"/>
              <a:ext cx="831" cy="58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Black" panose="020B0A04020102020204" pitchFamily="34" charset="0"/>
                </a:rPr>
                <a:t>VH</a:t>
              </a: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45" name="Rectangle 44"/>
            <p:cNvSpPr/>
            <p:nvPr/>
          </p:nvSpPr>
          <p:spPr>
            <a:xfrm>
              <a:off x="420" y="1678"/>
              <a:ext cx="2297" cy="7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$1,749.91</a:t>
              </a:r>
              <a:endParaRPr kumimoji="0" lang="en-US" sz="2400" b="1" i="0" u="none" strike="noStrike" kern="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46" name="Group 45"/>
          <p:cNvGrpSpPr/>
          <p:nvPr/>
        </p:nvGrpSpPr>
        <p:grpSpPr>
          <a:xfrm>
            <a:off x="2107510" y="685800"/>
            <a:ext cx="1920180" cy="6035040"/>
            <a:chOff x="3329" y="912"/>
            <a:chExt cx="2896" cy="9627"/>
          </a:xfrm>
        </p:grpSpPr>
        <p:sp>
          <p:nvSpPr>
            <p:cNvPr id="47" name="Rounded Rectangle 46"/>
            <p:cNvSpPr/>
            <p:nvPr/>
          </p:nvSpPr>
          <p:spPr>
            <a:xfrm>
              <a:off x="3329" y="912"/>
              <a:ext cx="2896" cy="9627"/>
            </a:xfrm>
            <a:prstGeom prst="round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" lastClr="FFFFFF">
                  <a:lumMod val="95000"/>
                </a:sysClr>
              </a:solidFill>
              <a:prstDash val="solid"/>
              <a:miter lim="800000"/>
            </a:ln>
            <a:effectLst>
              <a:glow rad="63500">
                <a:srgbClr val="A5A5A5">
                  <a:satMod val="175000"/>
                  <a:alpha val="40000"/>
                </a:srgbClr>
              </a:glow>
            </a:effectLst>
          </p:spPr>
          <p:txBody>
            <a:bodyPr rot="0" spcFirstLastPara="0" vertOverflow="overflow" horzOverflow="overflow" vert="horz" wrap="square" lIns="91423" tIns="45711" rIns="91423" bIns="45711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4196" y="929"/>
              <a:ext cx="1071" cy="58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Black" panose="020B0A04020102020204" pitchFamily="34" charset="0"/>
                </a:rPr>
                <a:t>VH2</a:t>
              </a: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3816" y="1625"/>
              <a:ext cx="1937" cy="73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$830.41</a:t>
              </a:r>
              <a:endParaRPr kumimoji="0" lang="en-US" sz="2400" b="1" i="0" u="none" strike="noStrike" kern="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50" name="Group 49"/>
          <p:cNvGrpSpPr/>
          <p:nvPr/>
        </p:nvGrpSpPr>
        <p:grpSpPr>
          <a:xfrm>
            <a:off x="4147678" y="685800"/>
            <a:ext cx="1919997" cy="6035040"/>
            <a:chOff x="6596" y="896"/>
            <a:chExt cx="2869" cy="9627"/>
          </a:xfrm>
        </p:grpSpPr>
        <p:sp>
          <p:nvSpPr>
            <p:cNvPr id="51" name="Rounded Rectangle 50"/>
            <p:cNvSpPr/>
            <p:nvPr/>
          </p:nvSpPr>
          <p:spPr>
            <a:xfrm>
              <a:off x="6596" y="912"/>
              <a:ext cx="2869" cy="9611"/>
            </a:xfrm>
            <a:prstGeom prst="round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" lastClr="FFFFFF">
                  <a:lumMod val="95000"/>
                </a:sysClr>
              </a:solidFill>
              <a:prstDash val="solid"/>
              <a:miter lim="800000"/>
            </a:ln>
            <a:effectLst>
              <a:glow rad="63500">
                <a:srgbClr val="A5A5A5">
                  <a:satMod val="175000"/>
                  <a:alpha val="40000"/>
                </a:srgbClr>
              </a:glow>
            </a:effectLst>
          </p:spPr>
          <p:txBody>
            <a:bodyPr rot="0" spcFirstLastPara="0" vertOverflow="overflow" horzOverflow="overflow" vert="horz" wrap="square" lIns="91423" tIns="45711" rIns="91423" bIns="45711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ss</a:t>
              </a: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2" name="Rectangle 51"/>
            <p:cNvSpPr/>
            <p:nvPr/>
          </p:nvSpPr>
          <p:spPr>
            <a:xfrm>
              <a:off x="7483" y="896"/>
              <a:ext cx="1062" cy="58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Black" panose="020B0A04020102020204" pitchFamily="34" charset="0"/>
                </a:rPr>
                <a:t>VH3</a:t>
              </a: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53" name="Rectangle 52"/>
            <p:cNvSpPr/>
            <p:nvPr/>
          </p:nvSpPr>
          <p:spPr>
            <a:xfrm>
              <a:off x="7256" y="1612"/>
              <a:ext cx="1666" cy="73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$91.92</a:t>
              </a:r>
              <a:endParaRPr kumimoji="0" lang="en-US" sz="2400" b="1" i="0" u="none" strike="noStrike" kern="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54" name="Group 53"/>
          <p:cNvGrpSpPr/>
          <p:nvPr/>
        </p:nvGrpSpPr>
        <p:grpSpPr>
          <a:xfrm>
            <a:off x="8207743" y="685800"/>
            <a:ext cx="1920450" cy="6035040"/>
            <a:chOff x="13066" y="937"/>
            <a:chExt cx="2905" cy="9578"/>
          </a:xfrm>
        </p:grpSpPr>
        <p:sp>
          <p:nvSpPr>
            <p:cNvPr id="55" name="Rounded Rectangle 54"/>
            <p:cNvSpPr/>
            <p:nvPr/>
          </p:nvSpPr>
          <p:spPr>
            <a:xfrm>
              <a:off x="13066" y="944"/>
              <a:ext cx="2905" cy="9571"/>
            </a:xfrm>
            <a:prstGeom prst="round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" lastClr="FFFFFF">
                  <a:lumMod val="95000"/>
                </a:sysClr>
              </a:solidFill>
              <a:prstDash val="solid"/>
              <a:miter lim="800000"/>
            </a:ln>
            <a:effectLst>
              <a:glow rad="63500">
                <a:srgbClr val="A5A5A5">
                  <a:satMod val="175000"/>
                  <a:alpha val="40000"/>
                </a:srgbClr>
              </a:glow>
            </a:effectLst>
          </p:spPr>
          <p:txBody>
            <a:bodyPr rot="0" spcFirstLastPara="0" vertOverflow="overflow" horzOverflow="overflow" vert="horz" wrap="square" lIns="91423" tIns="45711" rIns="91423" bIns="45711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6" name="Rectangle 55"/>
            <p:cNvSpPr/>
            <p:nvPr/>
          </p:nvSpPr>
          <p:spPr>
            <a:xfrm>
              <a:off x="13992" y="937"/>
              <a:ext cx="1016" cy="5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Black" panose="020B0A04020102020204" pitchFamily="34" charset="0"/>
                </a:rPr>
                <a:t>JV2</a:t>
              </a: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57" name="Rectangle 56"/>
            <p:cNvSpPr/>
            <p:nvPr/>
          </p:nvSpPr>
          <p:spPr>
            <a:xfrm>
              <a:off x="13355" y="1699"/>
              <a:ext cx="2327" cy="7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$2,776.88</a:t>
              </a:r>
              <a:endParaRPr kumimoji="0" lang="en-US" sz="2400" b="1" i="0" u="none" strike="noStrike" kern="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58" name="Group 57"/>
          <p:cNvGrpSpPr/>
          <p:nvPr/>
        </p:nvGrpSpPr>
        <p:grpSpPr>
          <a:xfrm>
            <a:off x="10184449" y="658367"/>
            <a:ext cx="1920575" cy="6035040"/>
            <a:chOff x="16212" y="944"/>
            <a:chExt cx="2867" cy="9564"/>
          </a:xfrm>
        </p:grpSpPr>
        <p:sp>
          <p:nvSpPr>
            <p:cNvPr id="59" name="Rounded Rectangle 58"/>
            <p:cNvSpPr/>
            <p:nvPr/>
          </p:nvSpPr>
          <p:spPr>
            <a:xfrm>
              <a:off x="16212" y="944"/>
              <a:ext cx="2867" cy="9564"/>
            </a:xfrm>
            <a:prstGeom prst="round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" lastClr="FFFFFF">
                  <a:lumMod val="95000"/>
                </a:sysClr>
              </a:solidFill>
              <a:prstDash val="solid"/>
              <a:miter lim="800000"/>
            </a:ln>
            <a:effectLst>
              <a:glow rad="63500">
                <a:srgbClr val="A5A5A5">
                  <a:satMod val="175000"/>
                  <a:alpha val="40000"/>
                </a:srgbClr>
              </a:glow>
            </a:effectLst>
          </p:spPr>
          <p:txBody>
            <a:bodyPr rot="0" spcFirstLastPara="0" vertOverflow="overflow" horzOverflow="overflow" vert="horz" wrap="square" lIns="91423" tIns="45711" rIns="91423" bIns="45711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0" name="Rectangle 59"/>
            <p:cNvSpPr/>
            <p:nvPr/>
          </p:nvSpPr>
          <p:spPr>
            <a:xfrm>
              <a:off x="17123" y="990"/>
              <a:ext cx="1041" cy="58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Black" panose="020B0A04020102020204" pitchFamily="34" charset="0"/>
                </a:rPr>
                <a:t>JVB</a:t>
              </a: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61" name="Rectangle 60"/>
            <p:cNvSpPr/>
            <p:nvPr/>
          </p:nvSpPr>
          <p:spPr>
            <a:xfrm>
              <a:off x="16732" y="1741"/>
              <a:ext cx="1918" cy="73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$601.63</a:t>
              </a:r>
              <a:endParaRPr kumimoji="0" lang="en-US" sz="2400" b="1" i="0" u="none" strike="noStrike" kern="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62" name="Rectangle 58"/>
          <p:cNvSpPr/>
          <p:nvPr/>
        </p:nvSpPr>
        <p:spPr>
          <a:xfrm>
            <a:off x="101600" y="4408331"/>
            <a:ext cx="26670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marR="0" lvl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Arial Black" panose="020B0A04020102020204" pitchFamily="34" charset="0"/>
              </a:rPr>
              <a:t>ANALYZE BY SHOPFLOOR</a:t>
            </a: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</a:endParaRPr>
          </a:p>
        </p:txBody>
      </p:sp>
      <p:sp>
        <p:nvSpPr>
          <p:cNvPr id="63" name="Rectangle 2"/>
          <p:cNvSpPr/>
          <p:nvPr/>
        </p:nvSpPr>
        <p:spPr>
          <a:xfrm>
            <a:off x="58942" y="1668725"/>
            <a:ext cx="266252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71450" marR="0" lvl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Arial Black" panose="020B0A04020102020204" pitchFamily="34" charset="0"/>
              </a:rPr>
              <a:t>ANALYZE BY MODEL NAME</a:t>
            </a: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</a:endParaRPr>
          </a:p>
        </p:txBody>
      </p:sp>
      <p:grpSp>
        <p:nvGrpSpPr>
          <p:cNvPr id="64" name="Group 63"/>
          <p:cNvGrpSpPr/>
          <p:nvPr/>
        </p:nvGrpSpPr>
        <p:grpSpPr>
          <a:xfrm>
            <a:off x="6146793" y="685800"/>
            <a:ext cx="1920450" cy="6035040"/>
            <a:chOff x="13064" y="934"/>
            <a:chExt cx="2905" cy="9581"/>
          </a:xfrm>
        </p:grpSpPr>
        <p:sp>
          <p:nvSpPr>
            <p:cNvPr id="65" name="Rounded Rectangle 64"/>
            <p:cNvSpPr/>
            <p:nvPr/>
          </p:nvSpPr>
          <p:spPr>
            <a:xfrm>
              <a:off x="13064" y="944"/>
              <a:ext cx="2905" cy="9571"/>
            </a:xfrm>
            <a:prstGeom prst="round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" lastClr="FFFFFF">
                  <a:lumMod val="95000"/>
                </a:sysClr>
              </a:solidFill>
              <a:prstDash val="solid"/>
              <a:miter lim="800000"/>
            </a:ln>
            <a:effectLst>
              <a:glow rad="63500">
                <a:srgbClr val="A5A5A5">
                  <a:satMod val="175000"/>
                  <a:alpha val="40000"/>
                </a:srgbClr>
              </a:glow>
            </a:effectLst>
          </p:spPr>
          <p:txBody>
            <a:bodyPr rot="0" spcFirstLastPara="0" vertOverflow="overflow" horzOverflow="overflow" vert="horz" wrap="square" lIns="91423" tIns="45711" rIns="91423" bIns="45711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" name="Rectangle 20"/>
            <p:cNvSpPr/>
            <p:nvPr/>
          </p:nvSpPr>
          <p:spPr>
            <a:xfrm>
              <a:off x="14080" y="934"/>
              <a:ext cx="784" cy="5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Black" panose="020B0A04020102020204" pitchFamily="34" charset="0"/>
                </a:rPr>
                <a:t>JV</a:t>
              </a: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67" name="Rectangle 56"/>
            <p:cNvSpPr/>
            <p:nvPr/>
          </p:nvSpPr>
          <p:spPr>
            <a:xfrm>
              <a:off x="13364" y="1689"/>
              <a:ext cx="2327" cy="7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$1,776.43</a:t>
              </a:r>
              <a:endParaRPr kumimoji="0" lang="en-US" sz="2400" b="1" i="0" u="none" strike="noStrike" kern="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93" name="Group 92"/>
          <p:cNvGrpSpPr/>
          <p:nvPr/>
        </p:nvGrpSpPr>
        <p:grpSpPr>
          <a:xfrm>
            <a:off x="9402409" y="947651"/>
            <a:ext cx="768985" cy="245110"/>
            <a:chOff x="2042" y="1433"/>
            <a:chExt cx="1211" cy="386"/>
          </a:xfrm>
        </p:grpSpPr>
        <p:sp>
          <p:nvSpPr>
            <p:cNvPr id="94" name="Rectangle 48"/>
            <p:cNvSpPr/>
            <p:nvPr/>
          </p:nvSpPr>
          <p:spPr>
            <a:xfrm>
              <a:off x="2243" y="1433"/>
              <a:ext cx="1010" cy="3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000" b="1" i="0" u="none" strike="noStrike" kern="0" cap="none" spc="0" normalizeH="0" baseline="0" noProof="0">
                  <a:ln>
                    <a:noFill/>
                  </a:ln>
                  <a:solidFill>
                    <a:srgbClr val="FF0066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$700.19</a:t>
              </a:r>
              <a:endParaRPr kumimoji="0" lang="en-US" sz="1000" b="1" i="0" u="none" strike="noStrike" kern="0" cap="none" spc="0" normalizeH="0" baseline="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5" name="Isosceles Triangle 94"/>
            <p:cNvSpPr/>
            <p:nvPr/>
          </p:nvSpPr>
          <p:spPr>
            <a:xfrm rot="10800000" flipV="1">
              <a:off x="2042" y="1540"/>
              <a:ext cx="216" cy="144"/>
            </a:xfrm>
            <a:prstGeom prst="triangle">
              <a:avLst/>
            </a:prstGeom>
            <a:solidFill>
              <a:srgbClr val="FF0066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68" name="Group 67"/>
          <p:cNvGrpSpPr/>
          <p:nvPr/>
        </p:nvGrpSpPr>
        <p:grpSpPr>
          <a:xfrm>
            <a:off x="11400235" y="967047"/>
            <a:ext cx="734695" cy="245110"/>
            <a:chOff x="2042" y="1433"/>
            <a:chExt cx="1157" cy="386"/>
          </a:xfrm>
        </p:grpSpPr>
        <p:sp>
          <p:nvSpPr>
            <p:cNvPr id="72" name="Rectangle 48"/>
            <p:cNvSpPr/>
            <p:nvPr/>
          </p:nvSpPr>
          <p:spPr>
            <a:xfrm>
              <a:off x="2300" y="1433"/>
              <a:ext cx="899" cy="3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000" b="1" i="0" u="none" strike="noStrike" kern="0" cap="none" spc="0" normalizeH="0" baseline="0" noProof="0">
                  <a:ln>
                    <a:noFill/>
                  </a:ln>
                  <a:solidFill>
                    <a:srgbClr val="FF0066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$95.35</a:t>
              </a:r>
              <a:endParaRPr kumimoji="0" lang="en-US" sz="1000" b="1" i="0" u="none" strike="noStrike" kern="0" cap="none" spc="0" normalizeH="0" baseline="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3" name="Isosceles Triangle 72"/>
            <p:cNvSpPr/>
            <p:nvPr/>
          </p:nvSpPr>
          <p:spPr>
            <a:xfrm rot="10800000" flipV="1">
              <a:off x="2042" y="1540"/>
              <a:ext cx="216" cy="144"/>
            </a:xfrm>
            <a:prstGeom prst="triangle">
              <a:avLst/>
            </a:prstGeom>
            <a:solidFill>
              <a:srgbClr val="FF0066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74" name="Group 73"/>
          <p:cNvGrpSpPr/>
          <p:nvPr/>
        </p:nvGrpSpPr>
        <p:grpSpPr>
          <a:xfrm>
            <a:off x="1170869" y="967047"/>
            <a:ext cx="734695" cy="245110"/>
            <a:chOff x="2042" y="1433"/>
            <a:chExt cx="1157" cy="386"/>
          </a:xfrm>
        </p:grpSpPr>
        <p:sp>
          <p:nvSpPr>
            <p:cNvPr id="78" name="Rectangle 48"/>
            <p:cNvSpPr/>
            <p:nvPr/>
          </p:nvSpPr>
          <p:spPr>
            <a:xfrm>
              <a:off x="2300" y="1433"/>
              <a:ext cx="899" cy="3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000" b="1" i="0" u="none" strike="noStrike" kern="0" cap="none" spc="0" normalizeH="0" baseline="0" noProof="0">
                  <a:ln>
                    <a:noFill/>
                  </a:ln>
                  <a:solidFill>
                    <a:srgbClr val="FF0066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$84.44</a:t>
              </a:r>
              <a:endParaRPr kumimoji="0" lang="en-US" sz="1000" b="1" i="0" u="none" strike="noStrike" kern="0" cap="none" spc="0" normalizeH="0" baseline="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9" name="Isosceles Triangle 78"/>
            <p:cNvSpPr/>
            <p:nvPr/>
          </p:nvSpPr>
          <p:spPr>
            <a:xfrm rot="10800000" flipV="1">
              <a:off x="2042" y="1540"/>
              <a:ext cx="216" cy="144"/>
            </a:xfrm>
            <a:prstGeom prst="triangle">
              <a:avLst/>
            </a:prstGeom>
            <a:solidFill>
              <a:srgbClr val="FF0066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80" name="Group 79"/>
          <p:cNvGrpSpPr/>
          <p:nvPr/>
        </p:nvGrpSpPr>
        <p:grpSpPr>
          <a:xfrm>
            <a:off x="5280127" y="953193"/>
            <a:ext cx="734060" cy="245110"/>
            <a:chOff x="2042" y="1433"/>
            <a:chExt cx="1156" cy="386"/>
          </a:xfrm>
        </p:grpSpPr>
        <p:sp>
          <p:nvSpPr>
            <p:cNvPr id="81" name="Rectangle 48"/>
            <p:cNvSpPr/>
            <p:nvPr/>
          </p:nvSpPr>
          <p:spPr>
            <a:xfrm>
              <a:off x="2299" y="1433"/>
              <a:ext cx="899" cy="3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000" b="1" i="0" u="none" strike="noStrike" kern="0" cap="none" spc="0" normalizeH="0" baseline="0" noProof="0">
                  <a:ln>
                    <a:noFill/>
                  </a:ln>
                  <a:solidFill>
                    <a:srgbClr val="FF0066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$65.22</a:t>
              </a:r>
              <a:endParaRPr kumimoji="0" lang="en-US" sz="1000" b="1" i="0" u="none" strike="noStrike" kern="0" cap="none" spc="0" normalizeH="0" baseline="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2" name="Isosceles Triangle 81"/>
            <p:cNvSpPr/>
            <p:nvPr/>
          </p:nvSpPr>
          <p:spPr>
            <a:xfrm rot="10800000" flipV="1">
              <a:off x="2042" y="1540"/>
              <a:ext cx="216" cy="144"/>
            </a:xfrm>
            <a:prstGeom prst="triangle">
              <a:avLst/>
            </a:prstGeom>
            <a:solidFill>
              <a:srgbClr val="FF0066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aphicFrame>
        <p:nvGraphicFramePr>
          <p:cNvPr id="23" name="Chart 22"/>
          <p:cNvGraphicFramePr/>
          <p:nvPr/>
        </p:nvGraphicFramePr>
        <p:xfrm>
          <a:off x="114935" y="4681855"/>
          <a:ext cx="1920240" cy="2011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24" name="Chart 23"/>
          <p:cNvGraphicFramePr/>
          <p:nvPr/>
        </p:nvGraphicFramePr>
        <p:xfrm>
          <a:off x="100330" y="2011045"/>
          <a:ext cx="192024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pSp>
        <p:nvGrpSpPr>
          <p:cNvPr id="6" name="Group 5"/>
          <p:cNvGrpSpPr/>
          <p:nvPr/>
        </p:nvGrpSpPr>
        <p:grpSpPr>
          <a:xfrm>
            <a:off x="3303557" y="947246"/>
            <a:ext cx="724535" cy="245110"/>
            <a:chOff x="8491" y="1442"/>
            <a:chExt cx="1141" cy="386"/>
          </a:xfrm>
        </p:grpSpPr>
        <p:sp>
          <p:nvSpPr>
            <p:cNvPr id="7" name="Rectangle 48"/>
            <p:cNvSpPr/>
            <p:nvPr/>
          </p:nvSpPr>
          <p:spPr>
            <a:xfrm>
              <a:off x="8622" y="1442"/>
              <a:ext cx="1010" cy="386"/>
            </a:xfrm>
            <a:prstGeom prst="rect">
              <a:avLst/>
            </a:prstGeom>
          </p:spPr>
          <p:txBody>
            <a:bodyPr wrap="none">
              <a:spAutoFit/>
            </a:bodyPr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000" b="1" i="0" u="none" strike="noStrike" kern="0" cap="none" spc="0" normalizeH="0" baseline="0" noProof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$537.81</a:t>
              </a:r>
              <a:endParaRPr kumimoji="0" lang="en-US" sz="1000" b="1" i="0" u="none" strike="noStrike" kern="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" name="Isosceles Triangle 7"/>
            <p:cNvSpPr/>
            <p:nvPr/>
          </p:nvSpPr>
          <p:spPr>
            <a:xfrm rot="10800000">
              <a:off x="8491" y="1563"/>
              <a:ext cx="216" cy="144"/>
            </a:xfrm>
            <a:prstGeom prst="triangle">
              <a:avLst/>
            </a:prstGeom>
            <a:solidFill>
              <a:srgbClr val="00B05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7317069" y="967336"/>
            <a:ext cx="770255" cy="245110"/>
            <a:chOff x="2042" y="1433"/>
            <a:chExt cx="1213" cy="386"/>
          </a:xfrm>
        </p:grpSpPr>
        <p:sp>
          <p:nvSpPr>
            <p:cNvPr id="10" name="Rectangle 48"/>
            <p:cNvSpPr/>
            <p:nvPr/>
          </p:nvSpPr>
          <p:spPr>
            <a:xfrm>
              <a:off x="2245" y="1433"/>
              <a:ext cx="1010" cy="386"/>
            </a:xfrm>
            <a:prstGeom prst="rect">
              <a:avLst/>
            </a:prstGeom>
          </p:spPr>
          <p:txBody>
            <a:bodyPr wrap="none">
              <a:spAutoFit/>
            </a:bodyPr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000" b="1" i="0" u="none" strike="noStrike" kern="0" cap="none" spc="0" normalizeH="0" baseline="0" noProof="0">
                  <a:ln>
                    <a:noFill/>
                  </a:ln>
                  <a:solidFill>
                    <a:srgbClr val="FF0066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$231.47</a:t>
              </a:r>
              <a:endParaRPr kumimoji="0" lang="en-US" sz="1000" b="1" i="0" u="none" strike="noStrike" kern="0" cap="none" spc="0" normalizeH="0" baseline="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Isosceles Triangle 10"/>
            <p:cNvSpPr/>
            <p:nvPr/>
          </p:nvSpPr>
          <p:spPr>
            <a:xfrm rot="10800000" flipV="1">
              <a:off x="2042" y="1540"/>
              <a:ext cx="216" cy="144"/>
            </a:xfrm>
            <a:prstGeom prst="triangle">
              <a:avLst/>
            </a:prstGeom>
            <a:solidFill>
              <a:srgbClr val="FF0066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aphicFrame>
        <p:nvGraphicFramePr>
          <p:cNvPr id="32" name="Chart 31"/>
          <p:cNvGraphicFramePr/>
          <p:nvPr/>
        </p:nvGraphicFramePr>
        <p:xfrm>
          <a:off x="2112645" y="2011680"/>
          <a:ext cx="192024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3" name="Chart 32"/>
          <p:cNvGraphicFramePr/>
          <p:nvPr/>
        </p:nvGraphicFramePr>
        <p:xfrm>
          <a:off x="2077403" y="4681538"/>
          <a:ext cx="1919605" cy="20110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34" name="Chart 33"/>
          <p:cNvGraphicFramePr/>
          <p:nvPr/>
        </p:nvGraphicFramePr>
        <p:xfrm>
          <a:off x="4136708" y="4681220"/>
          <a:ext cx="1919605" cy="2011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35" name="Chart 34"/>
          <p:cNvGraphicFramePr/>
          <p:nvPr/>
        </p:nvGraphicFramePr>
        <p:xfrm>
          <a:off x="4208145" y="2011045"/>
          <a:ext cx="192024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37" name="Chart 36"/>
          <p:cNvGraphicFramePr/>
          <p:nvPr/>
        </p:nvGraphicFramePr>
        <p:xfrm>
          <a:off x="6164898" y="2011998"/>
          <a:ext cx="1922145" cy="22853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38" name="Chart 37"/>
          <p:cNvGraphicFramePr/>
          <p:nvPr/>
        </p:nvGraphicFramePr>
        <p:xfrm>
          <a:off x="6153785" y="4685030"/>
          <a:ext cx="1920240" cy="2011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18" name="Chart 17"/>
          <p:cNvGraphicFramePr/>
          <p:nvPr/>
        </p:nvGraphicFramePr>
        <p:xfrm>
          <a:off x="8194358" y="2011998"/>
          <a:ext cx="1922145" cy="22853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20" name="Chart 19"/>
          <p:cNvGraphicFramePr/>
          <p:nvPr/>
        </p:nvGraphicFramePr>
        <p:xfrm>
          <a:off x="8194675" y="4685348"/>
          <a:ext cx="1920240" cy="20110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graphicFrame>
        <p:nvGraphicFramePr>
          <p:cNvPr id="22" name="Chart 21"/>
          <p:cNvGraphicFramePr/>
          <p:nvPr/>
        </p:nvGraphicFramePr>
        <p:xfrm>
          <a:off x="10171430" y="4700270"/>
          <a:ext cx="1918970" cy="19824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  <p:graphicFrame>
        <p:nvGraphicFramePr>
          <p:cNvPr id="28" name="Chart 27"/>
          <p:cNvGraphicFramePr/>
          <p:nvPr/>
        </p:nvGraphicFramePr>
        <p:xfrm>
          <a:off x="10214610" y="2012315"/>
          <a:ext cx="192024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Rounded Rectangle 88"/>
          <p:cNvSpPr/>
          <p:nvPr/>
        </p:nvSpPr>
        <p:spPr>
          <a:xfrm>
            <a:off x="123486" y="777240"/>
            <a:ext cx="2559845" cy="5989320"/>
          </a:xfrm>
          <a:prstGeom prst="roundRect">
            <a:avLst>
              <a:gd name="adj" fmla="val 11905"/>
            </a:avLst>
          </a:prstGeom>
          <a:solidFill>
            <a:sysClr val="window" lastClr="FFFFFF"/>
          </a:solidFill>
          <a:ln w="12700" cap="flat" cmpd="sng" algn="ctr">
            <a:solidFill>
              <a:sysClr val="window" lastClr="FFFFFF">
                <a:lumMod val="95000"/>
              </a:sysClr>
            </a:solidFill>
            <a:prstDash val="solid"/>
            <a:miter lim="800000"/>
          </a:ln>
          <a:effectLst>
            <a:glow rad="63500">
              <a:srgbClr val="A5A5A5">
                <a:satMod val="175000"/>
                <a:alpha val="40000"/>
              </a:srgbClr>
            </a:glow>
          </a:effectLst>
        </p:spPr>
        <p:txBody>
          <a:bodyPr rot="0" spcFirstLastPara="0" vertOverflow="overflow" horzOverflow="overflow" vert="horz" wrap="square" lIns="91423" tIns="45711" rIns="91423" bIns="45711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8" name="Isosceles Triangle 97"/>
          <p:cNvSpPr/>
          <p:nvPr/>
        </p:nvSpPr>
        <p:spPr>
          <a:xfrm rot="5400000">
            <a:off x="3513342" y="199075"/>
            <a:ext cx="200260" cy="193244"/>
          </a:xfrm>
          <a:prstGeom prst="triangle">
            <a:avLst/>
          </a:prstGeom>
          <a:solidFill>
            <a:srgbClr val="003366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0" name="Rectangle 99"/>
          <p:cNvSpPr/>
          <p:nvPr/>
        </p:nvSpPr>
        <p:spPr>
          <a:xfrm>
            <a:off x="1059360" y="802425"/>
            <a:ext cx="551180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anose="020B0A04020102020204" pitchFamily="34" charset="0"/>
              </a:rPr>
              <a:t>VH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01" name="Rounded Rectangle 100"/>
          <p:cNvSpPr/>
          <p:nvPr/>
        </p:nvSpPr>
        <p:spPr>
          <a:xfrm>
            <a:off x="3195737" y="777240"/>
            <a:ext cx="2559845" cy="5989320"/>
          </a:xfrm>
          <a:prstGeom prst="roundRect">
            <a:avLst>
              <a:gd name="adj" fmla="val 11012"/>
            </a:avLst>
          </a:prstGeom>
          <a:solidFill>
            <a:sysClr val="window" lastClr="FFFFFF"/>
          </a:solidFill>
          <a:ln w="12700" cap="flat" cmpd="sng" algn="ctr">
            <a:solidFill>
              <a:sysClr val="window" lastClr="FFFFFF">
                <a:lumMod val="95000"/>
              </a:sysClr>
            </a:solidFill>
            <a:prstDash val="solid"/>
            <a:miter lim="800000"/>
          </a:ln>
          <a:effectLst>
            <a:glow rad="63500">
              <a:srgbClr val="A5A5A5">
                <a:satMod val="175000"/>
                <a:alpha val="40000"/>
              </a:srgbClr>
            </a:glow>
          </a:effectLst>
        </p:spPr>
        <p:txBody>
          <a:bodyPr rot="0" spcFirstLastPara="0" vertOverflow="overflow" horzOverflow="overflow" vert="horz" wrap="square" lIns="91423" tIns="45711" rIns="91423" bIns="45711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2" name="Rounded Rectangle 101"/>
          <p:cNvSpPr/>
          <p:nvPr/>
        </p:nvSpPr>
        <p:spPr>
          <a:xfrm>
            <a:off x="6207223" y="777240"/>
            <a:ext cx="2559845" cy="5989320"/>
          </a:xfrm>
          <a:prstGeom prst="roundRect">
            <a:avLst>
              <a:gd name="adj" fmla="val 11608"/>
            </a:avLst>
          </a:prstGeom>
          <a:solidFill>
            <a:sysClr val="window" lastClr="FFFFFF"/>
          </a:solidFill>
          <a:ln w="12700" cap="flat" cmpd="sng" algn="ctr">
            <a:solidFill>
              <a:sysClr val="window" lastClr="FFFFFF">
                <a:lumMod val="95000"/>
              </a:sysClr>
            </a:solidFill>
            <a:prstDash val="solid"/>
            <a:miter lim="800000"/>
          </a:ln>
          <a:effectLst>
            <a:glow rad="63500">
              <a:srgbClr val="A5A5A5">
                <a:satMod val="175000"/>
                <a:alpha val="40000"/>
              </a:srgbClr>
            </a:glow>
          </a:effectLst>
        </p:spPr>
        <p:txBody>
          <a:bodyPr rot="0" spcFirstLastPara="0" vertOverflow="overflow" horzOverflow="overflow" vert="horz" wrap="square" lIns="91423" tIns="45711" rIns="91423" bIns="45711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3" name="Rounded Rectangle 102"/>
          <p:cNvSpPr/>
          <p:nvPr/>
        </p:nvSpPr>
        <p:spPr>
          <a:xfrm>
            <a:off x="9191247" y="777240"/>
            <a:ext cx="2559845" cy="5989320"/>
          </a:xfrm>
          <a:prstGeom prst="roundRect">
            <a:avLst>
              <a:gd name="adj" fmla="val 11608"/>
            </a:avLst>
          </a:prstGeom>
          <a:solidFill>
            <a:sysClr val="window" lastClr="FFFFFF"/>
          </a:solidFill>
          <a:ln w="12700" cap="flat" cmpd="sng" algn="ctr">
            <a:solidFill>
              <a:sysClr val="window" lastClr="FFFFFF">
                <a:lumMod val="95000"/>
              </a:sysClr>
            </a:solidFill>
            <a:prstDash val="solid"/>
            <a:miter lim="800000"/>
          </a:ln>
          <a:effectLst>
            <a:glow rad="63500">
              <a:srgbClr val="A5A5A5">
                <a:satMod val="175000"/>
                <a:alpha val="40000"/>
              </a:srgbClr>
            </a:glow>
          </a:effectLst>
        </p:spPr>
        <p:txBody>
          <a:bodyPr rot="0" spcFirstLastPara="0" vertOverflow="overflow" horzOverflow="overflow" vert="horz" wrap="square" lIns="91423" tIns="45711" rIns="91423" bIns="45711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4" name="Rectangle 103"/>
          <p:cNvSpPr/>
          <p:nvPr/>
        </p:nvSpPr>
        <p:spPr>
          <a:xfrm>
            <a:off x="4106052" y="797796"/>
            <a:ext cx="703580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anose="020B0A04020102020204" pitchFamily="34" charset="0"/>
              </a:rPr>
              <a:t>VH2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05" name="Rectangle 104"/>
          <p:cNvSpPr/>
          <p:nvPr/>
        </p:nvSpPr>
        <p:spPr>
          <a:xfrm>
            <a:off x="7121053" y="791024"/>
            <a:ext cx="703580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anose="020B0A04020102020204" pitchFamily="34" charset="0"/>
              </a:rPr>
              <a:t>VH4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06" name="Rectangle 105"/>
          <p:cNvSpPr/>
          <p:nvPr/>
        </p:nvSpPr>
        <p:spPr>
          <a:xfrm>
            <a:off x="10235622" y="800247"/>
            <a:ext cx="513080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anose="020B0A04020102020204" pitchFamily="34" charset="0"/>
              </a:rPr>
              <a:t>JV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07" name="Rectangle 106"/>
          <p:cNvSpPr/>
          <p:nvPr/>
        </p:nvSpPr>
        <p:spPr>
          <a:xfrm>
            <a:off x="0" y="1703293"/>
            <a:ext cx="263835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71450" marR="0" lvl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Arial Black" panose="020B0A04020102020204" pitchFamily="34" charset="0"/>
              </a:rPr>
              <a:t>ANALYZE BY MODEL CODE</a:t>
            </a: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</a:endParaRPr>
          </a:p>
        </p:txBody>
      </p:sp>
      <p:sp>
        <p:nvSpPr>
          <p:cNvPr id="108" name="Rectangle 107"/>
          <p:cNvSpPr/>
          <p:nvPr/>
        </p:nvSpPr>
        <p:spPr>
          <a:xfrm>
            <a:off x="0" y="4573820"/>
            <a:ext cx="255717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71450" marR="0" lvl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Arial Black" panose="020B0A04020102020204" pitchFamily="34" charset="0"/>
              </a:rPr>
              <a:t>ANALYZE BY SHOPFLOOR</a:t>
            </a: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</a:endParaRPr>
          </a:p>
        </p:txBody>
      </p:sp>
      <p:sp>
        <p:nvSpPr>
          <p:cNvPr id="109" name="Rectangle 108"/>
          <p:cNvSpPr/>
          <p:nvPr/>
        </p:nvSpPr>
        <p:spPr>
          <a:xfrm>
            <a:off x="3691123" y="150021"/>
            <a:ext cx="2057056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A5A5A5">
                    <a:lumMod val="50000"/>
                  </a:srgbClr>
                </a:solidFill>
                <a:effectLst/>
                <a:uLnTx/>
                <a:uFillTx/>
                <a:latin typeface="Arial Black" panose="020B0A04020102020204" pitchFamily="34" charset="0"/>
              </a:rPr>
              <a:t>TOUCH-UP PAINT</a:t>
            </a: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A5A5A5">
                  <a:lumMod val="50000"/>
                </a:srgbClr>
              </a:solidFill>
              <a:effectLst/>
              <a:uLnTx/>
              <a:uFillTx/>
            </a:endParaRPr>
          </a:p>
        </p:txBody>
      </p:sp>
      <p:sp>
        <p:nvSpPr>
          <p:cNvPr id="110" name="Rectangle 3"/>
          <p:cNvSpPr/>
          <p:nvPr/>
        </p:nvSpPr>
        <p:spPr>
          <a:xfrm>
            <a:off x="1589" y="146877"/>
            <a:ext cx="3382653" cy="306705"/>
          </a:xfrm>
          <a:prstGeom prst="rect">
            <a:avLst/>
          </a:prstGeom>
          <a:solidFill>
            <a:srgbClr val="003366"/>
          </a:solidFill>
        </p:spPr>
        <p:txBody>
          <a:bodyPr wrap="square" anchor="ctr" anchorCtr="0">
            <a:spAutoFit/>
          </a:bodyPr>
          <a:lstStyle/>
          <a:p>
            <a:pPr algn="ctr"/>
            <a:r>
              <a:rPr lang="en-US" sz="1400">
                <a:solidFill>
                  <a:prstClr val="white"/>
                </a:solidFill>
                <a:latin typeface="Arial Black" panose="020B0A04020102020204" pitchFamily="34" charset="0"/>
              </a:rPr>
              <a:t>CoPQ Analysis</a:t>
            </a:r>
            <a:endParaRPr lang="en-US" sz="1400">
              <a:solidFill>
                <a:prstClr val="white"/>
              </a:solidFill>
              <a:latin typeface="Arial Black" panose="020B0A04020102020204" pitchFamily="34" charset="0"/>
            </a:endParaRPr>
          </a:p>
        </p:txBody>
      </p:sp>
      <p:sp>
        <p:nvSpPr>
          <p:cNvPr id="111" name="Rectangle 110"/>
          <p:cNvSpPr/>
          <p:nvPr/>
        </p:nvSpPr>
        <p:spPr>
          <a:xfrm>
            <a:off x="3717391" y="1157261"/>
            <a:ext cx="1538605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2400" b="1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$2,280.95</a:t>
            </a:r>
            <a:endParaRPr lang="en-US" sz="2400" b="1">
              <a:solidFill>
                <a:srgbClr val="0000C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2" name="Rectangle 111"/>
          <p:cNvSpPr/>
          <p:nvPr/>
        </p:nvSpPr>
        <p:spPr>
          <a:xfrm>
            <a:off x="9718259" y="1165746"/>
            <a:ext cx="1538605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2400" b="1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$1,708.56</a:t>
            </a:r>
            <a:endParaRPr lang="en-US" sz="2400" b="1">
              <a:solidFill>
                <a:srgbClr val="0000C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3" name="Rectangle 23"/>
          <p:cNvSpPr/>
          <p:nvPr/>
        </p:nvSpPr>
        <p:spPr>
          <a:xfrm>
            <a:off x="729631" y="1158124"/>
            <a:ext cx="1538605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2400" b="1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$3,070.46</a:t>
            </a:r>
            <a:endParaRPr lang="en-US" sz="2400" b="1">
              <a:solidFill>
                <a:srgbClr val="0000C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4" name="Rectangle 60"/>
          <p:cNvSpPr/>
          <p:nvPr/>
        </p:nvSpPr>
        <p:spPr>
          <a:xfrm>
            <a:off x="6850059" y="1157491"/>
            <a:ext cx="1538605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2400" b="1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$3,608.75</a:t>
            </a:r>
            <a:endParaRPr lang="en-US" sz="2400" b="1">
              <a:solidFill>
                <a:srgbClr val="0000C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21" name="Group 120"/>
          <p:cNvGrpSpPr/>
          <p:nvPr/>
        </p:nvGrpSpPr>
        <p:grpSpPr>
          <a:xfrm>
            <a:off x="7966283" y="914400"/>
            <a:ext cx="751205" cy="245110"/>
            <a:chOff x="1990" y="1419"/>
            <a:chExt cx="1183" cy="386"/>
          </a:xfrm>
        </p:grpSpPr>
        <p:sp>
          <p:nvSpPr>
            <p:cNvPr id="122" name="Rectangle 48"/>
            <p:cNvSpPr/>
            <p:nvPr/>
          </p:nvSpPr>
          <p:spPr>
            <a:xfrm>
              <a:off x="2163" y="1419"/>
              <a:ext cx="1010" cy="3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000" b="1" i="0" u="none" strike="noStrike" kern="0" cap="none" spc="0" normalizeH="0" baseline="0" noProof="0">
                  <a:ln>
                    <a:noFill/>
                  </a:ln>
                  <a:solidFill>
                    <a:srgbClr val="FF0066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$108.75</a:t>
              </a:r>
              <a:endParaRPr kumimoji="0" lang="en-US" sz="1000" b="1" i="0" u="none" strike="noStrike" kern="0" cap="none" spc="0" normalizeH="0" baseline="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3" name="Isosceles Triangle 122"/>
            <p:cNvSpPr/>
            <p:nvPr/>
          </p:nvSpPr>
          <p:spPr>
            <a:xfrm rot="10800000" flipV="1">
              <a:off x="1990" y="1524"/>
              <a:ext cx="216" cy="144"/>
            </a:xfrm>
            <a:prstGeom prst="triangle">
              <a:avLst/>
            </a:prstGeom>
            <a:solidFill>
              <a:srgbClr val="FF0066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42" name="Group 41"/>
          <p:cNvGrpSpPr/>
          <p:nvPr/>
        </p:nvGrpSpPr>
        <p:grpSpPr>
          <a:xfrm>
            <a:off x="10908527" y="950422"/>
            <a:ext cx="753110" cy="245110"/>
            <a:chOff x="1990" y="1419"/>
            <a:chExt cx="1186" cy="386"/>
          </a:xfrm>
        </p:grpSpPr>
        <p:sp>
          <p:nvSpPr>
            <p:cNvPr id="48" name="Rectangle 48"/>
            <p:cNvSpPr/>
            <p:nvPr/>
          </p:nvSpPr>
          <p:spPr>
            <a:xfrm>
              <a:off x="2166" y="1419"/>
              <a:ext cx="1010" cy="3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000" b="1" i="0" u="none" strike="noStrike" kern="0" cap="none" spc="0" normalizeH="0" baseline="0" noProof="0">
                  <a:ln>
                    <a:noFill/>
                  </a:ln>
                  <a:solidFill>
                    <a:srgbClr val="FF0066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$663.57</a:t>
              </a:r>
              <a:endParaRPr kumimoji="0" lang="en-US" sz="1000" b="1" i="0" u="none" strike="noStrike" kern="0" cap="none" spc="0" normalizeH="0" baseline="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" name="Isosceles Triangle 51"/>
            <p:cNvSpPr/>
            <p:nvPr/>
          </p:nvSpPr>
          <p:spPr>
            <a:xfrm rot="10800000" flipV="1">
              <a:off x="1990" y="1524"/>
              <a:ext cx="216" cy="144"/>
            </a:xfrm>
            <a:prstGeom prst="triangle">
              <a:avLst/>
            </a:prstGeom>
            <a:solidFill>
              <a:srgbClr val="FF0066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" name="Group 1"/>
          <p:cNvGrpSpPr/>
          <p:nvPr/>
        </p:nvGrpSpPr>
        <p:grpSpPr>
          <a:xfrm>
            <a:off x="1814483" y="955213"/>
            <a:ext cx="780415" cy="245110"/>
            <a:chOff x="1943" y="1419"/>
            <a:chExt cx="1229" cy="386"/>
          </a:xfrm>
        </p:grpSpPr>
        <p:sp>
          <p:nvSpPr>
            <p:cNvPr id="3" name="Rectangle 48"/>
            <p:cNvSpPr/>
            <p:nvPr/>
          </p:nvSpPr>
          <p:spPr>
            <a:xfrm>
              <a:off x="2162" y="1419"/>
              <a:ext cx="1010" cy="386"/>
            </a:xfrm>
            <a:prstGeom prst="rect">
              <a:avLst/>
            </a:prstGeom>
          </p:spPr>
          <p:txBody>
            <a:bodyPr wrap="none">
              <a:spAutoFit/>
            </a:bodyPr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000" b="1" i="0" u="none" strike="noStrike" kern="0" cap="none" spc="0" normalizeH="0" baseline="0" noProof="0">
                  <a:ln>
                    <a:noFill/>
                  </a:ln>
                  <a:solidFill>
                    <a:srgbClr val="FF0066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$130.52</a:t>
              </a:r>
              <a:endParaRPr kumimoji="0" lang="en-US" sz="1000" b="1" i="0" u="none" strike="noStrike" kern="0" cap="none" spc="0" normalizeH="0" baseline="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" name="Isosceles Triangle 3"/>
            <p:cNvSpPr/>
            <p:nvPr/>
          </p:nvSpPr>
          <p:spPr>
            <a:xfrm rot="10800000" flipV="1">
              <a:off x="1943" y="1540"/>
              <a:ext cx="216" cy="144"/>
            </a:xfrm>
            <a:prstGeom prst="triangle">
              <a:avLst/>
            </a:prstGeom>
            <a:solidFill>
              <a:srgbClr val="FF0066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4917092" y="951691"/>
            <a:ext cx="727710" cy="245110"/>
            <a:chOff x="8491" y="1442"/>
            <a:chExt cx="1146" cy="386"/>
          </a:xfrm>
        </p:grpSpPr>
        <p:sp>
          <p:nvSpPr>
            <p:cNvPr id="7" name="Rectangle 48"/>
            <p:cNvSpPr/>
            <p:nvPr/>
          </p:nvSpPr>
          <p:spPr>
            <a:xfrm>
              <a:off x="8627" y="1442"/>
              <a:ext cx="1010" cy="386"/>
            </a:xfrm>
            <a:prstGeom prst="rect">
              <a:avLst/>
            </a:prstGeom>
          </p:spPr>
          <p:txBody>
            <a:bodyPr wrap="none">
              <a:spAutoFit/>
            </a:bodyPr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000" b="1" i="0" u="none" strike="noStrike" kern="0" cap="none" spc="0" normalizeH="0" baseline="0" noProof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$198.57</a:t>
              </a:r>
              <a:endParaRPr kumimoji="0" lang="en-US" sz="1000" b="1" i="0" u="none" strike="noStrike" kern="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" name="Isosceles Triangle 7"/>
            <p:cNvSpPr/>
            <p:nvPr/>
          </p:nvSpPr>
          <p:spPr>
            <a:xfrm rot="10800000">
              <a:off x="8491" y="1563"/>
              <a:ext cx="216" cy="144"/>
            </a:xfrm>
            <a:prstGeom prst="triangle">
              <a:avLst/>
            </a:prstGeom>
            <a:solidFill>
              <a:srgbClr val="00B05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aphicFrame>
        <p:nvGraphicFramePr>
          <p:cNvPr id="5" name="Chart 4"/>
          <p:cNvGraphicFramePr/>
          <p:nvPr/>
        </p:nvGraphicFramePr>
        <p:xfrm>
          <a:off x="118110" y="2136775"/>
          <a:ext cx="2598420" cy="2280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10" name="Chart 9"/>
          <p:cNvGraphicFramePr/>
          <p:nvPr/>
        </p:nvGraphicFramePr>
        <p:xfrm>
          <a:off x="483870" y="4480560"/>
          <a:ext cx="182880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2" name="Chart 11"/>
          <p:cNvGraphicFramePr/>
          <p:nvPr/>
        </p:nvGraphicFramePr>
        <p:xfrm>
          <a:off x="3574415" y="4427855"/>
          <a:ext cx="182880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4" name="Chart 13"/>
          <p:cNvGraphicFramePr/>
          <p:nvPr/>
        </p:nvGraphicFramePr>
        <p:xfrm>
          <a:off x="3204845" y="2145983"/>
          <a:ext cx="2578100" cy="22815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6" name="Chart 15"/>
          <p:cNvGraphicFramePr/>
          <p:nvPr/>
        </p:nvGraphicFramePr>
        <p:xfrm>
          <a:off x="6197600" y="1980565"/>
          <a:ext cx="2551430" cy="2324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8" name="Chart 17"/>
          <p:cNvGraphicFramePr/>
          <p:nvPr/>
        </p:nvGraphicFramePr>
        <p:xfrm>
          <a:off x="9190673" y="2031048"/>
          <a:ext cx="2540635" cy="22231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20" name="Chart 19"/>
          <p:cNvGraphicFramePr/>
          <p:nvPr/>
        </p:nvGraphicFramePr>
        <p:xfrm>
          <a:off x="6572250" y="4427855"/>
          <a:ext cx="182880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22" name="Chart 21"/>
          <p:cNvGraphicFramePr/>
          <p:nvPr/>
        </p:nvGraphicFramePr>
        <p:xfrm>
          <a:off x="9523095" y="4480560"/>
          <a:ext cx="1869440" cy="23025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671</Words>
  <Application>WPS Presentation</Application>
  <PresentationFormat>Widescreen</PresentationFormat>
  <Paragraphs>151</Paragraphs>
  <Slides>4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25" baseType="lpstr">
      <vt:lpstr>Arial</vt:lpstr>
      <vt:lpstr>SimSun</vt:lpstr>
      <vt:lpstr>Wingdings</vt:lpstr>
      <vt:lpstr>Neo Sans Pro</vt:lpstr>
      <vt:lpstr>Raavi</vt:lpstr>
      <vt:lpstr>Neo Sans Std</vt:lpstr>
      <vt:lpstr>Open Sans Light</vt:lpstr>
      <vt:lpstr>Yu Gothic UI Light</vt:lpstr>
      <vt:lpstr>Helvetica</vt:lpstr>
      <vt:lpstr>Roboto</vt:lpstr>
      <vt:lpstr>Wide Latin</vt:lpstr>
      <vt:lpstr>Calibri</vt:lpstr>
      <vt:lpstr>Arial Black</vt:lpstr>
      <vt:lpstr>Calibri Light</vt:lpstr>
      <vt:lpstr>Microsoft YaHei</vt:lpstr>
      <vt:lpstr>Arial Unicode MS</vt:lpstr>
      <vt:lpstr>PMingLiU</vt:lpstr>
      <vt:lpstr>Calibri</vt:lpstr>
      <vt:lpstr>Calibri Light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Le, Thanh-Truc</dc:creator>
  <cp:lastModifiedBy>thinhphat.nguyen</cp:lastModifiedBy>
  <cp:revision>141</cp:revision>
  <dcterms:created xsi:type="dcterms:W3CDTF">2026-03-27T01:47:00Z</dcterms:created>
  <dcterms:modified xsi:type="dcterms:W3CDTF">2026-08-08T01:13:06Z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A319F994F0EC4668A0E641D73E8B8153</vt:lpwstr>
  </property>
  <property fmtid="{D5CDD505-2E9C-101B-9397-08002B2CF9AE}" pid="3" name="KSOProductBuildVer">
    <vt:lpwstr>1033-11.2.0.11440</vt:lpwstr>
  </property>
</Properties>
</file>